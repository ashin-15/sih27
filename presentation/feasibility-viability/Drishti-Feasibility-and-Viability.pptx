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Feasibility &amp; Viability - speaker notes
30-second script
"Drishti already works as a replay prototype: it finds the ground, labels every LiDAR point and builds an adaptive map, all on one laptop with no internet. On 4,071 real driving scans the labelling scores 67.55 percent mIoU. It costs little to keep developing, and it is built in separate blocks so a live vehicle sensor can be plugged in through ROS 2. What is not proven yet: field conditions, real-time speed on vehicle hardware, deployment cost and licences. Those are our next tests."
Plain-language glossary
- LiDAR: a laser sensor that measures distance to millions of points around the vehicle.
- mIoU (mean intersection over union): for each class, the overlap between predicted and true points divided by their union, averaged over 19 classes. Higher is better.
- ROS 2: the standard open-source software framework robots use to pass sensor data between programs.
- Checkpoint hash: a fingerprint of the exact model file, so anyone can confirm they use the same model.
Colour cues: green = Proven/Measured, blue = Proposed, orange = Test/Validate. Every cue also carries a text label.
B. Evidence behind the claims
1. The core technologies exist and are integrated.
Patchwork++ has published ground-segmentation research and Python/C++ implementations. FRNet provides published LiDAR semantic-segmentation research and public code. Drishti's own evaluation records the 67.55% result, which measures point semantics, not navigation safety.
Sources: Patchwork++ paper (IROS 2022) https://arxiv.org/abs/2207.11919 and https://github.com/url-kaist/patchwork-plusplus ; FRNet authors' repository https://github.com/Xiangxu-0103/FRNet ; Drishti evaluation docs/research/experiments/0025-t003-full-sequence08.md (E-051, official mIoU 0.6754690443, 4,071 scans, 19 classes).
2. Local execution is demonstrated; field operation remains unverified.
Drishti loads local model files and processes recorded scans without a mandatory remote inference service. SemanticKITTI supplies annotated driving sequences, but benchmark success does not establish performance in defence terrain, adverse weather or live sensor conditions.
Sources: local inference implementation Drishti-2.5/src/drishti/learned.py ; official dataset description https://semantic-kitti.org/dataset.html
3. Prototyping has a practical resource basis; deployment economics remain open.
The existing laptop executes CPU inference. However, the recorded model-stage median is 7,177 ms per scan, so this does not establish real-time embedded deployment. FRNet declares an Apache-2.0 code license; SemanticKITTI declares noncommercial dataset terms. Neither establishes permission for every checkpoint or downstream use.
Sources: CPU measurements docs/research/experiments/0026-t003-cpu-semantic-verification.md (E-052) ; FRNet licensing https://github.com/Xiangxu-0103/FRNet ; dataset terms https://semantic-kitti.org/dataset.html
4. Vehicle integration has an identifiable engineering route.
ROS 2's PointCloud2 message carries point fields, acquisition time and coordinate-frame information. This supports the proposed adapter approach. Drishti still needs live ingestion, calibration, synchronization and target-hardware validation.
Sources: official ROS 2 message definition https://raw.githubusercontent.com/ros2/common_interfaces/rolling/sensor_msgs/msg/PointCloud2.msg ; current interface boundaries docs/interfaces.md
5. Maintenance mechanisms exist; sustained ownership needs definition.
The repository contains dependency locks, source/checkpoint checks and automated validation. These support traceable upgrades. Maintainer ownership, release procedures and support funding remain unresolved.
Sources: verification record docs/research/experiments/0026-t003-cpu-semantic-verification.md ; open items docs/open-items.md
Defence relevance: DRDO explicitly lists AI perception, autonomous navigation and algorithm-validation simulation among UGV technology tasks. This establishes application relevance, not endorsement or procurement commitment.
Source: DRDO UGV technology foresight https://drdo.gov.in/drdo/en/offerings/technology-foresight/ugv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slideLayout" Target="../slideLayouts/slideLayout1.xml"/><Relationship Id="rId10"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4F2"/>
        </a:solidFill>
      </p:bgPr>
    </p:bg>
    <p:spTree>
      <p:nvGrpSpPr>
        <p:cNvPr id="1" name=""/>
        <p:cNvGrpSpPr/>
        <p:nvPr/>
      </p:nvGrpSpPr>
      <p:grpSpPr>
        <a:xfrm>
          <a:off x="0" y="0"/>
          <a:ext cx="0" cy="0"/>
          <a:chOff x="0" y="0"/>
          <a:chExt cx="0" cy="0"/>
        </a:xfrm>
      </p:grpSpPr>
      <p:sp>
        <p:nvSpPr>
          <p:cNvPr id="2" name="Text 0"/>
          <p:cNvSpPr/>
          <p:nvPr/>
        </p:nvSpPr>
        <p:spPr>
          <a:xfrm>
            <a:off x="365760" y="256032"/>
            <a:ext cx="1828800" cy="274320"/>
          </a:xfrm>
          <a:prstGeom prst="rect">
            <a:avLst/>
          </a:prstGeom>
          <a:noFill/>
          <a:ln/>
        </p:spPr>
        <p:txBody>
          <a:bodyPr wrap="square" lIns="0" tIns="0" rIns="0" bIns="0" rtlCol="0" anchor="t"/>
          <a:lstStyle/>
          <a:p>
            <a:pPr indent="0" marL="0">
              <a:buNone/>
            </a:pPr>
            <a:r>
              <a:rPr lang="en-US" sz="1300" dirty="0">
                <a:solidFill>
                  <a:srgbClr val="243B53"/>
                </a:solidFill>
                <a:latin typeface="Comic Sans MS" pitchFamily="34" charset="0"/>
                <a:ea typeface="Comic Sans MS" pitchFamily="34" charset="-122"/>
                <a:cs typeface="Comic Sans MS" pitchFamily="34" charset="-120"/>
              </a:rPr>
              <a:t>AstroNex</a:t>
            </a:r>
            <a:endParaRPr lang="en-US" sz="1300" dirty="0"/>
          </a:p>
        </p:txBody>
      </p:sp>
      <p:sp>
        <p:nvSpPr>
          <p:cNvPr id="3" name="Text 1"/>
          <p:cNvSpPr/>
          <p:nvPr/>
        </p:nvSpPr>
        <p:spPr>
          <a:xfrm>
            <a:off x="2194560" y="128016"/>
            <a:ext cx="7799832" cy="566928"/>
          </a:xfrm>
          <a:prstGeom prst="rect">
            <a:avLst/>
          </a:prstGeom>
          <a:noFill/>
          <a:ln/>
        </p:spPr>
        <p:txBody>
          <a:bodyPr wrap="square" lIns="0" tIns="0" rIns="0" bIns="0" rtlCol="0" anchor="ctr"/>
          <a:lstStyle/>
          <a:p>
            <a:pPr algn="ctr" indent="0" marL="0">
              <a:buNone/>
            </a:pPr>
            <a:r>
              <a:rPr lang="en-US" sz="3200" b="1" dirty="0">
                <a:solidFill>
                  <a:srgbClr val="243B53"/>
                </a:solidFill>
                <a:latin typeface="Comic Sans MS" pitchFamily="34" charset="0"/>
                <a:ea typeface="Comic Sans MS" pitchFamily="34" charset="-122"/>
                <a:cs typeface="Comic Sans MS" pitchFamily="34" charset="-120"/>
              </a:rPr>
              <a:t>FEASIBILITY AND VIABILITY</a:t>
            </a:r>
            <a:endParaRPr lang="en-US" sz="3200" dirty="0"/>
          </a:p>
        </p:txBody>
      </p:sp>
      <p:sp>
        <p:nvSpPr>
          <p:cNvPr id="4" name="Text 2"/>
          <p:cNvSpPr/>
          <p:nvPr/>
        </p:nvSpPr>
        <p:spPr>
          <a:xfrm>
            <a:off x="2194560" y="694944"/>
            <a:ext cx="7799832" cy="274320"/>
          </a:xfrm>
          <a:prstGeom prst="rect">
            <a:avLst/>
          </a:prstGeom>
          <a:noFill/>
          <a:ln/>
        </p:spPr>
        <p:txBody>
          <a:bodyPr wrap="square" lIns="0" tIns="0" rIns="0" bIns="0" rtlCol="0" anchor="t"/>
          <a:lstStyle/>
          <a:p>
            <a:pPr algn="ctr" indent="0" marL="0">
              <a:buNone/>
            </a:pPr>
            <a:r>
              <a:rPr lang="en-US" sz="1400" i="1" dirty="0">
                <a:solidFill>
                  <a:srgbClr val="2F6B52"/>
                </a:solidFill>
                <a:latin typeface="Arial" pitchFamily="34" charset="0"/>
                <a:ea typeface="Arial" pitchFamily="34" charset="-122"/>
                <a:cs typeface="Arial" pitchFamily="34" charset="-120"/>
              </a:rPr>
              <a:t>Working replay prototype. A staged path to field deployment.</a:t>
            </a:r>
            <a:endParaRPr lang="en-US" sz="1400" dirty="0"/>
          </a:p>
        </p:txBody>
      </p:sp>
      <p:pic>
        <p:nvPicPr>
          <p:cNvPr id="5" name="Image 0" descr="assets/sih-2026-logo.png">    </p:cNvPr>
          <p:cNvPicPr>
            <a:picLocks noChangeAspect="1"/>
          </p:cNvPicPr>
          <p:nvPr/>
        </p:nvPicPr>
        <p:blipFill>
          <a:blip r:embed="rId1"/>
          <a:stretch>
            <a:fillRect/>
          </a:stretch>
        </p:blipFill>
        <p:spPr>
          <a:xfrm>
            <a:off x="10451592" y="146304"/>
            <a:ext cx="1371600" cy="637337"/>
          </a:xfrm>
          <a:prstGeom prst="rect">
            <a:avLst/>
          </a:prstGeom>
        </p:spPr>
      </p:pic>
      <p:sp>
        <p:nvSpPr>
          <p:cNvPr id="6" name="Shape 3"/>
          <p:cNvSpPr/>
          <p:nvPr/>
        </p:nvSpPr>
        <p:spPr>
          <a:xfrm>
            <a:off x="365760" y="1188720"/>
            <a:ext cx="7269480" cy="1152144"/>
          </a:xfrm>
          <a:prstGeom prst="roundRect">
            <a:avLst>
              <a:gd name="adj" fmla="val 9524"/>
            </a:avLst>
          </a:prstGeom>
          <a:solidFill>
            <a:srgbClr val="DCEEDB"/>
          </a:solidFill>
          <a:ln w="15875">
            <a:solidFill>
              <a:srgbClr val="243B53"/>
            </a:solidFill>
            <a:prstDash val="solid"/>
          </a:ln>
        </p:spPr>
      </p:sp>
      <p:sp>
        <p:nvSpPr>
          <p:cNvPr id="7" name="Shape 4"/>
          <p:cNvSpPr/>
          <p:nvPr/>
        </p:nvSpPr>
        <p:spPr>
          <a:xfrm>
            <a:off x="548640" y="1335024"/>
            <a:ext cx="603504" cy="603504"/>
          </a:xfrm>
          <a:prstGeom prst="ellipse">
            <a:avLst/>
          </a:prstGeom>
          <a:solidFill>
            <a:srgbClr val="FFFFFF"/>
          </a:solidFill>
          <a:ln w="15875">
            <a:solidFill>
              <a:srgbClr val="2F6B52"/>
            </a:solidFill>
            <a:prstDash val="solid"/>
          </a:ln>
        </p:spPr>
      </p:sp>
      <p:pic>
        <p:nvPicPr>
          <p:cNvPr id="8" name="Image 1" descr="assets/icons/layers.png">    </p:cNvPr>
          <p:cNvPicPr>
            <a:picLocks noChangeAspect="1"/>
          </p:cNvPicPr>
          <p:nvPr/>
        </p:nvPicPr>
        <p:blipFill>
          <a:blip r:embed="rId2"/>
          <a:stretch>
            <a:fillRect/>
          </a:stretch>
        </p:blipFill>
        <p:spPr>
          <a:xfrm>
            <a:off x="685800" y="1472184"/>
            <a:ext cx="329184" cy="329184"/>
          </a:xfrm>
          <a:prstGeom prst="rect">
            <a:avLst/>
          </a:prstGeom>
        </p:spPr>
      </p:pic>
      <p:sp>
        <p:nvSpPr>
          <p:cNvPr id="9" name="Text 5"/>
          <p:cNvSpPr/>
          <p:nvPr/>
        </p:nvSpPr>
        <p:spPr>
          <a:xfrm>
            <a:off x="548640" y="1993392"/>
            <a:ext cx="603504" cy="219456"/>
          </a:xfrm>
          <a:prstGeom prst="rect">
            <a:avLst/>
          </a:prstGeom>
          <a:noFill/>
          <a:ln/>
        </p:spPr>
        <p:txBody>
          <a:bodyPr wrap="square" lIns="0" tIns="0" rIns="0" bIns="0" rtlCol="0" anchor="t"/>
          <a:lstStyle/>
          <a:p>
            <a:pPr algn="ctr" indent="0" marL="0">
              <a:buNone/>
            </a:pPr>
            <a:r>
              <a:rPr lang="en-US" sz="1100" b="1" dirty="0">
                <a:solidFill>
                  <a:srgbClr val="2F6B52"/>
                </a:solidFill>
                <a:latin typeface="Comic Sans MS" pitchFamily="34" charset="0"/>
                <a:ea typeface="Comic Sans MS" pitchFamily="34" charset="-122"/>
                <a:cs typeface="Comic Sans MS" pitchFamily="34" charset="-120"/>
              </a:rPr>
              <a:t>01</a:t>
            </a:r>
            <a:endParaRPr lang="en-US" sz="1100" dirty="0"/>
          </a:p>
        </p:txBody>
      </p:sp>
      <p:sp>
        <p:nvSpPr>
          <p:cNvPr id="10" name="Text 6"/>
          <p:cNvSpPr/>
          <p:nvPr/>
        </p:nvSpPr>
        <p:spPr>
          <a:xfrm>
            <a:off x="1325880" y="1280160"/>
            <a:ext cx="2971800" cy="274320"/>
          </a:xfrm>
          <a:prstGeom prst="rect">
            <a:avLst/>
          </a:prstGeom>
          <a:noFill/>
          <a:ln/>
        </p:spPr>
        <p:txBody>
          <a:bodyPr wrap="square" lIns="0" tIns="0" rIns="0" bIns="0" rtlCol="0" anchor="t"/>
          <a:lstStyle/>
          <a:p>
            <a:pPr indent="0" marL="0">
              <a:buNone/>
            </a:pPr>
            <a:r>
              <a:rPr lang="en-US" sz="1500" b="1" dirty="0">
                <a:solidFill>
                  <a:srgbClr val="243B53"/>
                </a:solidFill>
                <a:latin typeface="Arial" pitchFamily="34" charset="0"/>
                <a:ea typeface="Arial" pitchFamily="34" charset="-122"/>
                <a:cs typeface="Arial" pitchFamily="34" charset="-120"/>
              </a:rPr>
              <a:t>Technical Foundation</a:t>
            </a:r>
            <a:endParaRPr lang="en-US" sz="1500" dirty="0"/>
          </a:p>
        </p:txBody>
      </p:sp>
      <p:sp>
        <p:nvSpPr>
          <p:cNvPr id="11" name="Text 7"/>
          <p:cNvSpPr/>
          <p:nvPr/>
        </p:nvSpPr>
        <p:spPr>
          <a:xfrm>
            <a:off x="1325880" y="1554480"/>
            <a:ext cx="2971800" cy="219456"/>
          </a:xfrm>
          <a:prstGeom prst="rect">
            <a:avLst/>
          </a:prstGeom>
          <a:noFill/>
          <a:ln/>
        </p:spPr>
        <p:txBody>
          <a:bodyPr wrap="square" lIns="0" tIns="0" rIns="0" bIns="0" rtlCol="0" anchor="t"/>
          <a:lstStyle/>
          <a:p>
            <a:pPr indent="0" marL="0">
              <a:buNone/>
            </a:pPr>
            <a:r>
              <a:rPr lang="en-US" sz="1100" b="1" dirty="0">
                <a:solidFill>
                  <a:srgbClr val="2F6B52"/>
                </a:solidFill>
                <a:latin typeface="Arial" pitchFamily="34" charset="0"/>
                <a:ea typeface="Arial" pitchFamily="34" charset="-122"/>
                <a:cs typeface="Arial" pitchFamily="34" charset="-120"/>
              </a:rPr>
              <a:t>Core building blocks already work together.</a:t>
            </a:r>
            <a:endParaRPr lang="en-US" sz="1100" dirty="0"/>
          </a:p>
        </p:txBody>
      </p:sp>
      <p:sp>
        <p:nvSpPr>
          <p:cNvPr id="12" name="Text 8"/>
          <p:cNvSpPr/>
          <p:nvPr/>
        </p:nvSpPr>
        <p:spPr>
          <a:xfrm>
            <a:off x="1325880" y="1801368"/>
            <a:ext cx="2971800" cy="475488"/>
          </a:xfrm>
          <a:prstGeom prst="rect">
            <a:avLst/>
          </a:prstGeom>
          <a:noFill/>
          <a:ln/>
        </p:spPr>
        <p:txBody>
          <a:bodyPr wrap="square" lIns="0" tIns="0" rIns="0" bIns="0" rtlCol="0" anchor="t"/>
          <a:lstStyle/>
          <a:p>
            <a:pPr indent="0" marL="0">
              <a:buNone/>
            </a:pPr>
            <a:r>
              <a:rPr lang="en-US" sz="1000" dirty="0">
                <a:solidFill>
                  <a:srgbClr val="4A5563"/>
                </a:solidFill>
                <a:latin typeface="Arial" pitchFamily="34" charset="0"/>
                <a:ea typeface="Arial" pitchFamily="34" charset="-122"/>
                <a:cs typeface="Arial" pitchFamily="34" charset="-120"/>
              </a:rPr>
              <a:t>Drishti finds the ground, labels each laser point (road, car, wall...) and builds a map that is detailed up close and coarser far away.</a:t>
            </a:r>
            <a:endParaRPr lang="en-US" sz="1000" dirty="0"/>
          </a:p>
        </p:txBody>
      </p:sp>
      <p:sp>
        <p:nvSpPr>
          <p:cNvPr id="13" name="Shape 9"/>
          <p:cNvSpPr/>
          <p:nvPr/>
        </p:nvSpPr>
        <p:spPr>
          <a:xfrm>
            <a:off x="4434840" y="1316736"/>
            <a:ext cx="0" cy="896112"/>
          </a:xfrm>
          <a:prstGeom prst="line">
            <a:avLst/>
          </a:prstGeom>
          <a:noFill/>
          <a:ln w="9525">
            <a:solidFill>
              <a:srgbClr val="2F6B52"/>
            </a:solidFill>
            <a:prstDash val="dash"/>
          </a:ln>
        </p:spPr>
      </p:sp>
      <p:sp>
        <p:nvSpPr>
          <p:cNvPr id="14" name="Shape 10"/>
          <p:cNvSpPr/>
          <p:nvPr/>
        </p:nvSpPr>
        <p:spPr>
          <a:xfrm>
            <a:off x="4599432" y="1344168"/>
            <a:ext cx="786384" cy="201168"/>
          </a:xfrm>
          <a:prstGeom prst="roundRect">
            <a:avLst>
              <a:gd name="adj" fmla="val 27273"/>
            </a:avLst>
          </a:prstGeom>
          <a:solidFill>
            <a:srgbClr val="2F6B52"/>
          </a:solidFill>
          <a:ln w="12700">
            <a:solidFill>
              <a:srgbClr val="2F6B52"/>
            </a:solidFill>
            <a:prstDash val="solid"/>
          </a:ln>
        </p:spPr>
      </p:sp>
      <p:sp>
        <p:nvSpPr>
          <p:cNvPr id="15" name="Text 11"/>
          <p:cNvSpPr/>
          <p:nvPr/>
        </p:nvSpPr>
        <p:spPr>
          <a:xfrm>
            <a:off x="4599432" y="1344168"/>
            <a:ext cx="786384" cy="201168"/>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Arial" pitchFamily="34" charset="0"/>
                <a:ea typeface="Arial" pitchFamily="34" charset="-122"/>
                <a:cs typeface="Arial" pitchFamily="34" charset="-120"/>
              </a:rPr>
              <a:t>PROVEN</a:t>
            </a:r>
            <a:endParaRPr lang="en-US" sz="800" dirty="0"/>
          </a:p>
        </p:txBody>
      </p:sp>
      <p:sp>
        <p:nvSpPr>
          <p:cNvPr id="16" name="Text 12"/>
          <p:cNvSpPr/>
          <p:nvPr/>
        </p:nvSpPr>
        <p:spPr>
          <a:xfrm>
            <a:off x="5495544" y="1335024"/>
            <a:ext cx="2029968" cy="420624"/>
          </a:xfrm>
          <a:prstGeom prst="rect">
            <a:avLst/>
          </a:prstGeom>
          <a:noFill/>
          <a:ln/>
        </p:spPr>
        <p:txBody>
          <a:bodyPr wrap="square" lIns="0" tIns="0" rIns="0" bIns="0" rtlCol="0" anchor="t"/>
          <a:lstStyle/>
          <a:p>
            <a:pPr indent="0" marL="0">
              <a:buNone/>
            </a:pPr>
            <a:r>
              <a:rPr lang="en-US" sz="1000" dirty="0">
                <a:solidFill>
                  <a:srgbClr val="2E3A48"/>
                </a:solidFill>
                <a:latin typeface="Arial" pitchFamily="34" charset="0"/>
                <a:ea typeface="Arial" pitchFamily="34" charset="-122"/>
                <a:cs typeface="Arial" pitchFamily="34" charset="-120"/>
              </a:rPr>
              <a:t>Patchwork++ finds the ground; FRNet labels points - one pipeline.</a:t>
            </a:r>
            <a:endParaRPr lang="en-US" sz="1000" dirty="0"/>
          </a:p>
        </p:txBody>
      </p:sp>
      <p:sp>
        <p:nvSpPr>
          <p:cNvPr id="17" name="Shape 13"/>
          <p:cNvSpPr/>
          <p:nvPr/>
        </p:nvSpPr>
        <p:spPr>
          <a:xfrm>
            <a:off x="4599432" y="1837944"/>
            <a:ext cx="786384" cy="201168"/>
          </a:xfrm>
          <a:prstGeom prst="roundRect">
            <a:avLst>
              <a:gd name="adj" fmla="val 27273"/>
            </a:avLst>
          </a:prstGeom>
          <a:solidFill>
            <a:srgbClr val="2F6B52"/>
          </a:solidFill>
          <a:ln w="12700">
            <a:solidFill>
              <a:srgbClr val="2F6B52"/>
            </a:solidFill>
            <a:prstDash val="solid"/>
          </a:ln>
        </p:spPr>
      </p:sp>
      <p:sp>
        <p:nvSpPr>
          <p:cNvPr id="18" name="Text 14"/>
          <p:cNvSpPr/>
          <p:nvPr/>
        </p:nvSpPr>
        <p:spPr>
          <a:xfrm>
            <a:off x="4599432" y="1837944"/>
            <a:ext cx="786384" cy="201168"/>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Arial" pitchFamily="34" charset="0"/>
                <a:ea typeface="Arial" pitchFamily="34" charset="-122"/>
                <a:cs typeface="Arial" pitchFamily="34" charset="-120"/>
              </a:rPr>
              <a:t>MEASURED</a:t>
            </a:r>
            <a:endParaRPr lang="en-US" sz="800" dirty="0"/>
          </a:p>
        </p:txBody>
      </p:sp>
      <p:sp>
        <p:nvSpPr>
          <p:cNvPr id="19" name="Text 15"/>
          <p:cNvSpPr/>
          <p:nvPr/>
        </p:nvSpPr>
        <p:spPr>
          <a:xfrm>
            <a:off x="5495544" y="1828800"/>
            <a:ext cx="2029968" cy="420624"/>
          </a:xfrm>
          <a:prstGeom prst="rect">
            <a:avLst/>
          </a:prstGeom>
          <a:noFill/>
          <a:ln/>
        </p:spPr>
        <p:txBody>
          <a:bodyPr wrap="square" lIns="0" tIns="0" rIns="0" bIns="0" rtlCol="0" anchor="t"/>
          <a:lstStyle/>
          <a:p>
            <a:pPr indent="0" marL="0">
              <a:buNone/>
            </a:pPr>
            <a:r>
              <a:rPr lang="en-US" sz="1000" dirty="0">
                <a:solidFill>
                  <a:srgbClr val="2E3A48"/>
                </a:solidFill>
                <a:latin typeface="Arial" pitchFamily="34" charset="0"/>
                <a:ea typeface="Arial" pitchFamily="34" charset="-122"/>
                <a:cs typeface="Arial" pitchFamily="34" charset="-120"/>
              </a:rPr>
              <a:t>67.55% mIoU label score on 4,071 real driving scans.</a:t>
            </a:r>
            <a:endParaRPr lang="en-US" sz="1000" dirty="0"/>
          </a:p>
        </p:txBody>
      </p:sp>
      <p:sp>
        <p:nvSpPr>
          <p:cNvPr id="20" name="Shape 16"/>
          <p:cNvSpPr/>
          <p:nvPr/>
        </p:nvSpPr>
        <p:spPr>
          <a:xfrm>
            <a:off x="850392" y="2340864"/>
            <a:ext cx="0" cy="164592"/>
          </a:xfrm>
          <a:prstGeom prst="line">
            <a:avLst/>
          </a:prstGeom>
          <a:noFill/>
          <a:ln w="19050">
            <a:solidFill>
              <a:srgbClr val="243B53"/>
            </a:solidFill>
            <a:prstDash val="solid"/>
            <a:tailEnd type="triangle"/>
          </a:ln>
        </p:spPr>
      </p:sp>
      <p:sp>
        <p:nvSpPr>
          <p:cNvPr id="21" name="Shape 17"/>
          <p:cNvSpPr/>
          <p:nvPr/>
        </p:nvSpPr>
        <p:spPr>
          <a:xfrm>
            <a:off x="365760" y="2505456"/>
            <a:ext cx="7269480" cy="1152144"/>
          </a:xfrm>
          <a:prstGeom prst="roundRect">
            <a:avLst>
              <a:gd name="adj" fmla="val 9524"/>
            </a:avLst>
          </a:prstGeom>
          <a:solidFill>
            <a:srgbClr val="DCEEDB"/>
          </a:solidFill>
          <a:ln w="15875">
            <a:solidFill>
              <a:srgbClr val="243B53"/>
            </a:solidFill>
            <a:prstDash val="solid"/>
          </a:ln>
        </p:spPr>
      </p:sp>
      <p:sp>
        <p:nvSpPr>
          <p:cNvPr id="22" name="Shape 18"/>
          <p:cNvSpPr/>
          <p:nvPr/>
        </p:nvSpPr>
        <p:spPr>
          <a:xfrm>
            <a:off x="548640" y="2651760"/>
            <a:ext cx="603504" cy="603504"/>
          </a:xfrm>
          <a:prstGeom prst="ellipse">
            <a:avLst/>
          </a:prstGeom>
          <a:solidFill>
            <a:srgbClr val="FFFFFF"/>
          </a:solidFill>
          <a:ln w="15875">
            <a:solidFill>
              <a:srgbClr val="2F6B52"/>
            </a:solidFill>
            <a:prstDash val="solid"/>
          </a:ln>
        </p:spPr>
      </p:sp>
      <p:pic>
        <p:nvPicPr>
          <p:cNvPr id="23" name="Image 2" descr="assets/icons/wifi-off.png">    </p:cNvPr>
          <p:cNvPicPr>
            <a:picLocks noChangeAspect="1"/>
          </p:cNvPicPr>
          <p:nvPr/>
        </p:nvPicPr>
        <p:blipFill>
          <a:blip r:embed="rId3"/>
          <a:stretch>
            <a:fillRect/>
          </a:stretch>
        </p:blipFill>
        <p:spPr>
          <a:xfrm>
            <a:off x="685800" y="2788920"/>
            <a:ext cx="329184" cy="329184"/>
          </a:xfrm>
          <a:prstGeom prst="rect">
            <a:avLst/>
          </a:prstGeom>
        </p:spPr>
      </p:pic>
      <p:sp>
        <p:nvSpPr>
          <p:cNvPr id="24" name="Text 19"/>
          <p:cNvSpPr/>
          <p:nvPr/>
        </p:nvSpPr>
        <p:spPr>
          <a:xfrm>
            <a:off x="548640" y="3310128"/>
            <a:ext cx="603504" cy="219456"/>
          </a:xfrm>
          <a:prstGeom prst="rect">
            <a:avLst/>
          </a:prstGeom>
          <a:noFill/>
          <a:ln/>
        </p:spPr>
        <p:txBody>
          <a:bodyPr wrap="square" lIns="0" tIns="0" rIns="0" bIns="0" rtlCol="0" anchor="t"/>
          <a:lstStyle/>
          <a:p>
            <a:pPr algn="ctr" indent="0" marL="0">
              <a:buNone/>
            </a:pPr>
            <a:r>
              <a:rPr lang="en-US" sz="1100" b="1" dirty="0">
                <a:solidFill>
                  <a:srgbClr val="2F6B52"/>
                </a:solidFill>
                <a:latin typeface="Comic Sans MS" pitchFamily="34" charset="0"/>
                <a:ea typeface="Comic Sans MS" pitchFamily="34" charset="-122"/>
                <a:cs typeface="Comic Sans MS" pitchFamily="34" charset="-120"/>
              </a:rPr>
              <a:t>02</a:t>
            </a:r>
            <a:endParaRPr lang="en-US" sz="1100" dirty="0"/>
          </a:p>
        </p:txBody>
      </p:sp>
      <p:sp>
        <p:nvSpPr>
          <p:cNvPr id="25" name="Text 20"/>
          <p:cNvSpPr/>
          <p:nvPr/>
        </p:nvSpPr>
        <p:spPr>
          <a:xfrm>
            <a:off x="1325880" y="2596896"/>
            <a:ext cx="2971800" cy="274320"/>
          </a:xfrm>
          <a:prstGeom prst="rect">
            <a:avLst/>
          </a:prstGeom>
          <a:noFill/>
          <a:ln/>
        </p:spPr>
        <p:txBody>
          <a:bodyPr wrap="square" lIns="0" tIns="0" rIns="0" bIns="0" rtlCol="0" anchor="t"/>
          <a:lstStyle/>
          <a:p>
            <a:pPr indent="0" marL="0">
              <a:buNone/>
            </a:pPr>
            <a:r>
              <a:rPr lang="en-US" sz="1500" b="1" dirty="0">
                <a:solidFill>
                  <a:srgbClr val="243B53"/>
                </a:solidFill>
                <a:latin typeface="Arial" pitchFamily="34" charset="0"/>
                <a:ea typeface="Arial" pitchFamily="34" charset="-122"/>
                <a:cs typeface="Arial" pitchFamily="34" charset="-120"/>
              </a:rPr>
              <a:t>Local Operation</a:t>
            </a:r>
            <a:endParaRPr lang="en-US" sz="1500" dirty="0"/>
          </a:p>
        </p:txBody>
      </p:sp>
      <p:sp>
        <p:nvSpPr>
          <p:cNvPr id="26" name="Text 21"/>
          <p:cNvSpPr/>
          <p:nvPr/>
        </p:nvSpPr>
        <p:spPr>
          <a:xfrm>
            <a:off x="1325880" y="2871216"/>
            <a:ext cx="2971800" cy="219456"/>
          </a:xfrm>
          <a:prstGeom prst="rect">
            <a:avLst/>
          </a:prstGeom>
          <a:noFill/>
          <a:ln/>
        </p:spPr>
        <p:txBody>
          <a:bodyPr wrap="square" lIns="0" tIns="0" rIns="0" bIns="0" rtlCol="0" anchor="t"/>
          <a:lstStyle/>
          <a:p>
            <a:pPr indent="0" marL="0">
              <a:buNone/>
            </a:pPr>
            <a:r>
              <a:rPr lang="en-US" sz="1100" b="1" dirty="0">
                <a:solidFill>
                  <a:srgbClr val="2F6B52"/>
                </a:solidFill>
                <a:latin typeface="Arial" pitchFamily="34" charset="0"/>
                <a:ea typeface="Arial" pitchFamily="34" charset="-122"/>
                <a:cs typeface="Arial" pitchFamily="34" charset="-120"/>
              </a:rPr>
              <a:t>Runs offline - no internet or cloud needed.</a:t>
            </a:r>
            <a:endParaRPr lang="en-US" sz="1100" dirty="0"/>
          </a:p>
        </p:txBody>
      </p:sp>
      <p:sp>
        <p:nvSpPr>
          <p:cNvPr id="27" name="Text 22"/>
          <p:cNvSpPr/>
          <p:nvPr/>
        </p:nvSpPr>
        <p:spPr>
          <a:xfrm>
            <a:off x="1325880" y="3118104"/>
            <a:ext cx="2971800" cy="475488"/>
          </a:xfrm>
          <a:prstGeom prst="rect">
            <a:avLst/>
          </a:prstGeom>
          <a:noFill/>
          <a:ln/>
        </p:spPr>
        <p:txBody>
          <a:bodyPr wrap="square" lIns="0" tIns="0" rIns="0" bIns="0" rtlCol="0" anchor="t"/>
          <a:lstStyle/>
          <a:p>
            <a:pPr indent="0" marL="0">
              <a:buNone/>
            </a:pPr>
            <a:r>
              <a:rPr lang="en-US" sz="1000" dirty="0">
                <a:solidFill>
                  <a:srgbClr val="4A5563"/>
                </a:solidFill>
                <a:latin typeface="Arial" pitchFamily="34" charset="0"/>
                <a:ea typeface="Arial" pitchFamily="34" charset="-122"/>
                <a:cs typeface="Arial" pitchFamily="34" charset="-120"/>
              </a:rPr>
              <a:t>All processing happens on the computer itself, so it can work where there is no network, such as remote terrain.</a:t>
            </a:r>
            <a:endParaRPr lang="en-US" sz="1000" dirty="0"/>
          </a:p>
        </p:txBody>
      </p:sp>
      <p:sp>
        <p:nvSpPr>
          <p:cNvPr id="28" name="Shape 23"/>
          <p:cNvSpPr/>
          <p:nvPr/>
        </p:nvSpPr>
        <p:spPr>
          <a:xfrm>
            <a:off x="4434840" y="2633472"/>
            <a:ext cx="0" cy="896112"/>
          </a:xfrm>
          <a:prstGeom prst="line">
            <a:avLst/>
          </a:prstGeom>
          <a:noFill/>
          <a:ln w="9525">
            <a:solidFill>
              <a:srgbClr val="2F6B52"/>
            </a:solidFill>
            <a:prstDash val="dash"/>
          </a:ln>
        </p:spPr>
      </p:sp>
      <p:sp>
        <p:nvSpPr>
          <p:cNvPr id="29" name="Shape 24"/>
          <p:cNvSpPr/>
          <p:nvPr/>
        </p:nvSpPr>
        <p:spPr>
          <a:xfrm>
            <a:off x="4599432" y="2660904"/>
            <a:ext cx="786384" cy="201168"/>
          </a:xfrm>
          <a:prstGeom prst="roundRect">
            <a:avLst>
              <a:gd name="adj" fmla="val 27273"/>
            </a:avLst>
          </a:prstGeom>
          <a:solidFill>
            <a:srgbClr val="2F6B52"/>
          </a:solidFill>
          <a:ln w="12700">
            <a:solidFill>
              <a:srgbClr val="2F6B52"/>
            </a:solidFill>
            <a:prstDash val="solid"/>
          </a:ln>
        </p:spPr>
      </p:sp>
      <p:sp>
        <p:nvSpPr>
          <p:cNvPr id="30" name="Text 25"/>
          <p:cNvSpPr/>
          <p:nvPr/>
        </p:nvSpPr>
        <p:spPr>
          <a:xfrm>
            <a:off x="4599432" y="2660904"/>
            <a:ext cx="786384" cy="201168"/>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Arial" pitchFamily="34" charset="0"/>
                <a:ea typeface="Arial" pitchFamily="34" charset="-122"/>
                <a:cs typeface="Arial" pitchFamily="34" charset="-120"/>
              </a:rPr>
              <a:t>PROVEN</a:t>
            </a:r>
            <a:endParaRPr lang="en-US" sz="800" dirty="0"/>
          </a:p>
        </p:txBody>
      </p:sp>
      <p:sp>
        <p:nvSpPr>
          <p:cNvPr id="31" name="Text 26"/>
          <p:cNvSpPr/>
          <p:nvPr/>
        </p:nvSpPr>
        <p:spPr>
          <a:xfrm>
            <a:off x="5495544" y="2651760"/>
            <a:ext cx="2029968" cy="420624"/>
          </a:xfrm>
          <a:prstGeom prst="rect">
            <a:avLst/>
          </a:prstGeom>
          <a:noFill/>
          <a:ln/>
        </p:spPr>
        <p:txBody>
          <a:bodyPr wrap="square" lIns="0" tIns="0" rIns="0" bIns="0" rtlCol="0" anchor="t"/>
          <a:lstStyle/>
          <a:p>
            <a:pPr indent="0" marL="0">
              <a:buNone/>
            </a:pPr>
            <a:r>
              <a:rPr lang="en-US" sz="1000" dirty="0">
                <a:solidFill>
                  <a:srgbClr val="2E3A48"/>
                </a:solidFill>
                <a:latin typeface="Arial" pitchFamily="34" charset="0"/>
                <a:ea typeface="Arial" pitchFamily="34" charset="-122"/>
                <a:cs typeface="Arial" pitchFamily="34" charset="-120"/>
              </a:rPr>
              <a:t>Recorded LiDAR scans run locally after models are installed.</a:t>
            </a:r>
            <a:endParaRPr lang="en-US" sz="1000" dirty="0"/>
          </a:p>
        </p:txBody>
      </p:sp>
      <p:sp>
        <p:nvSpPr>
          <p:cNvPr id="32" name="Shape 27"/>
          <p:cNvSpPr/>
          <p:nvPr/>
        </p:nvSpPr>
        <p:spPr>
          <a:xfrm>
            <a:off x="4599432" y="3154680"/>
            <a:ext cx="786384" cy="201168"/>
          </a:xfrm>
          <a:prstGeom prst="roundRect">
            <a:avLst>
              <a:gd name="adj" fmla="val 27273"/>
            </a:avLst>
          </a:prstGeom>
          <a:solidFill>
            <a:srgbClr val="F6C98F"/>
          </a:solidFill>
          <a:ln w="12700">
            <a:solidFill>
              <a:srgbClr val="C8742F"/>
            </a:solidFill>
            <a:prstDash val="solid"/>
          </a:ln>
        </p:spPr>
      </p:sp>
      <p:sp>
        <p:nvSpPr>
          <p:cNvPr id="33" name="Text 28"/>
          <p:cNvSpPr/>
          <p:nvPr/>
        </p:nvSpPr>
        <p:spPr>
          <a:xfrm>
            <a:off x="4599432" y="3154680"/>
            <a:ext cx="786384" cy="201168"/>
          </a:xfrm>
          <a:prstGeom prst="rect">
            <a:avLst/>
          </a:prstGeom>
          <a:noFill/>
          <a:ln/>
        </p:spPr>
        <p:txBody>
          <a:bodyPr wrap="square" lIns="0" tIns="0" rIns="0" bIns="0" rtlCol="0" anchor="ctr"/>
          <a:lstStyle/>
          <a:p>
            <a:pPr algn="ctr" indent="0" marL="0">
              <a:buNone/>
            </a:pPr>
            <a:r>
              <a:rPr lang="en-US" sz="800" b="1" spc="100" kern="0" dirty="0">
                <a:solidFill>
                  <a:srgbClr val="6E3408"/>
                </a:solidFill>
                <a:latin typeface="Arial" pitchFamily="34" charset="0"/>
                <a:ea typeface="Arial" pitchFamily="34" charset="-122"/>
                <a:cs typeface="Arial" pitchFamily="34" charset="-120"/>
              </a:rPr>
              <a:t>TEST</a:t>
            </a:r>
            <a:endParaRPr lang="en-US" sz="800" dirty="0"/>
          </a:p>
        </p:txBody>
      </p:sp>
      <p:sp>
        <p:nvSpPr>
          <p:cNvPr id="34" name="Text 29"/>
          <p:cNvSpPr/>
          <p:nvPr/>
        </p:nvSpPr>
        <p:spPr>
          <a:xfrm>
            <a:off x="5495544" y="3145536"/>
            <a:ext cx="2029968" cy="420624"/>
          </a:xfrm>
          <a:prstGeom prst="rect">
            <a:avLst/>
          </a:prstGeom>
          <a:noFill/>
          <a:ln/>
        </p:spPr>
        <p:txBody>
          <a:bodyPr wrap="square" lIns="0" tIns="0" rIns="0" bIns="0" rtlCol="0" anchor="t"/>
          <a:lstStyle/>
          <a:p>
            <a:pPr indent="0" marL="0">
              <a:buNone/>
            </a:pPr>
            <a:r>
              <a:rPr lang="en-US" sz="1000" dirty="0">
                <a:solidFill>
                  <a:srgbClr val="2E3A48"/>
                </a:solidFill>
                <a:latin typeface="Arial" pitchFamily="34" charset="0"/>
                <a:ea typeface="Arial" pitchFamily="34" charset="-122"/>
                <a:cs typeface="Arial" pitchFamily="34" charset="-120"/>
              </a:rPr>
              <a:t>Field trials: dust, rain, rough ground and sensor alignment.</a:t>
            </a:r>
            <a:endParaRPr lang="en-US" sz="1000" dirty="0"/>
          </a:p>
        </p:txBody>
      </p:sp>
      <p:sp>
        <p:nvSpPr>
          <p:cNvPr id="35" name="Shape 30"/>
          <p:cNvSpPr/>
          <p:nvPr/>
        </p:nvSpPr>
        <p:spPr>
          <a:xfrm>
            <a:off x="850392" y="3657600"/>
            <a:ext cx="0" cy="164592"/>
          </a:xfrm>
          <a:prstGeom prst="line">
            <a:avLst/>
          </a:prstGeom>
          <a:noFill/>
          <a:ln w="19050">
            <a:solidFill>
              <a:srgbClr val="243B53"/>
            </a:solidFill>
            <a:prstDash val="solid"/>
            <a:tailEnd type="triangle"/>
          </a:ln>
        </p:spPr>
      </p:sp>
      <p:sp>
        <p:nvSpPr>
          <p:cNvPr id="36" name="Shape 31"/>
          <p:cNvSpPr/>
          <p:nvPr/>
        </p:nvSpPr>
        <p:spPr>
          <a:xfrm>
            <a:off x="365760" y="3822192"/>
            <a:ext cx="7269480" cy="1152144"/>
          </a:xfrm>
          <a:prstGeom prst="roundRect">
            <a:avLst>
              <a:gd name="adj" fmla="val 9524"/>
            </a:avLst>
          </a:prstGeom>
          <a:solidFill>
            <a:srgbClr val="DCEEDB"/>
          </a:solidFill>
          <a:ln w="15875">
            <a:solidFill>
              <a:srgbClr val="243B53"/>
            </a:solidFill>
            <a:prstDash val="solid"/>
          </a:ln>
        </p:spPr>
      </p:sp>
      <p:sp>
        <p:nvSpPr>
          <p:cNvPr id="37" name="Shape 32"/>
          <p:cNvSpPr/>
          <p:nvPr/>
        </p:nvSpPr>
        <p:spPr>
          <a:xfrm>
            <a:off x="548640" y="3968496"/>
            <a:ext cx="603504" cy="603504"/>
          </a:xfrm>
          <a:prstGeom prst="ellipse">
            <a:avLst/>
          </a:prstGeom>
          <a:solidFill>
            <a:srgbClr val="FFFFFF"/>
          </a:solidFill>
          <a:ln w="15875">
            <a:solidFill>
              <a:srgbClr val="2F6B52"/>
            </a:solidFill>
            <a:prstDash val="solid"/>
          </a:ln>
        </p:spPr>
      </p:sp>
      <p:pic>
        <p:nvPicPr>
          <p:cNvPr id="38" name="Image 3" descr="assets/icons/laptop.png">    </p:cNvPr>
          <p:cNvPicPr>
            <a:picLocks noChangeAspect="1"/>
          </p:cNvPicPr>
          <p:nvPr/>
        </p:nvPicPr>
        <p:blipFill>
          <a:blip r:embed="rId4"/>
          <a:stretch>
            <a:fillRect/>
          </a:stretch>
        </p:blipFill>
        <p:spPr>
          <a:xfrm>
            <a:off x="685800" y="4105656"/>
            <a:ext cx="329184" cy="329184"/>
          </a:xfrm>
          <a:prstGeom prst="rect">
            <a:avLst/>
          </a:prstGeom>
        </p:spPr>
      </p:pic>
      <p:sp>
        <p:nvSpPr>
          <p:cNvPr id="39" name="Text 33"/>
          <p:cNvSpPr/>
          <p:nvPr/>
        </p:nvSpPr>
        <p:spPr>
          <a:xfrm>
            <a:off x="548640" y="4626864"/>
            <a:ext cx="603504" cy="219456"/>
          </a:xfrm>
          <a:prstGeom prst="rect">
            <a:avLst/>
          </a:prstGeom>
          <a:noFill/>
          <a:ln/>
        </p:spPr>
        <p:txBody>
          <a:bodyPr wrap="square" lIns="0" tIns="0" rIns="0" bIns="0" rtlCol="0" anchor="t"/>
          <a:lstStyle/>
          <a:p>
            <a:pPr algn="ctr" indent="0" marL="0">
              <a:buNone/>
            </a:pPr>
            <a:r>
              <a:rPr lang="en-US" sz="1100" b="1" dirty="0">
                <a:solidFill>
                  <a:srgbClr val="2F6B52"/>
                </a:solidFill>
                <a:latin typeface="Comic Sans MS" pitchFamily="34" charset="0"/>
                <a:ea typeface="Comic Sans MS" pitchFamily="34" charset="-122"/>
                <a:cs typeface="Comic Sans MS" pitchFamily="34" charset="-120"/>
              </a:rPr>
              <a:t>03</a:t>
            </a:r>
            <a:endParaRPr lang="en-US" sz="1100" dirty="0"/>
          </a:p>
        </p:txBody>
      </p:sp>
      <p:sp>
        <p:nvSpPr>
          <p:cNvPr id="40" name="Text 34"/>
          <p:cNvSpPr/>
          <p:nvPr/>
        </p:nvSpPr>
        <p:spPr>
          <a:xfrm>
            <a:off x="1325880" y="3913632"/>
            <a:ext cx="2971800" cy="274320"/>
          </a:xfrm>
          <a:prstGeom prst="rect">
            <a:avLst/>
          </a:prstGeom>
          <a:noFill/>
          <a:ln/>
        </p:spPr>
        <p:txBody>
          <a:bodyPr wrap="square" lIns="0" tIns="0" rIns="0" bIns="0" rtlCol="0" anchor="t"/>
          <a:lstStyle/>
          <a:p>
            <a:pPr indent="0" marL="0">
              <a:buNone/>
            </a:pPr>
            <a:r>
              <a:rPr lang="en-US" sz="1500" b="1" dirty="0">
                <a:solidFill>
                  <a:srgbClr val="243B53"/>
                </a:solidFill>
                <a:latin typeface="Arial" pitchFamily="34" charset="0"/>
                <a:ea typeface="Arial" pitchFamily="34" charset="-122"/>
                <a:cs typeface="Arial" pitchFamily="34" charset="-120"/>
              </a:rPr>
              <a:t>Economic Viability</a:t>
            </a:r>
            <a:endParaRPr lang="en-US" sz="1500" dirty="0"/>
          </a:p>
        </p:txBody>
      </p:sp>
      <p:sp>
        <p:nvSpPr>
          <p:cNvPr id="41" name="Text 35"/>
          <p:cNvSpPr/>
          <p:nvPr/>
        </p:nvSpPr>
        <p:spPr>
          <a:xfrm>
            <a:off x="1325880" y="4187952"/>
            <a:ext cx="2971800" cy="219456"/>
          </a:xfrm>
          <a:prstGeom prst="rect">
            <a:avLst/>
          </a:prstGeom>
          <a:noFill/>
          <a:ln/>
        </p:spPr>
        <p:txBody>
          <a:bodyPr wrap="square" lIns="0" tIns="0" rIns="0" bIns="0" rtlCol="0" anchor="t"/>
          <a:lstStyle/>
          <a:p>
            <a:pPr indent="0" marL="0">
              <a:buNone/>
            </a:pPr>
            <a:r>
              <a:rPr lang="en-US" sz="1100" b="1" dirty="0">
                <a:solidFill>
                  <a:srgbClr val="2F6B52"/>
                </a:solidFill>
                <a:latin typeface="Arial" pitchFamily="34" charset="0"/>
                <a:ea typeface="Arial" pitchFamily="34" charset="-122"/>
                <a:cs typeface="Arial" pitchFamily="34" charset="-120"/>
              </a:rPr>
              <a:t>Low cost: a laptop and free software.</a:t>
            </a:r>
            <a:endParaRPr lang="en-US" sz="1100" dirty="0"/>
          </a:p>
        </p:txBody>
      </p:sp>
      <p:sp>
        <p:nvSpPr>
          <p:cNvPr id="42" name="Text 36"/>
          <p:cNvSpPr/>
          <p:nvPr/>
        </p:nvSpPr>
        <p:spPr>
          <a:xfrm>
            <a:off x="1325880" y="4434840"/>
            <a:ext cx="2971800" cy="475488"/>
          </a:xfrm>
          <a:prstGeom prst="rect">
            <a:avLst/>
          </a:prstGeom>
          <a:noFill/>
          <a:ln/>
        </p:spPr>
        <p:txBody>
          <a:bodyPr wrap="square" lIns="0" tIns="0" rIns="0" bIns="0" rtlCol="0" anchor="t"/>
          <a:lstStyle/>
          <a:p>
            <a:pPr indent="0" marL="0">
              <a:buNone/>
            </a:pPr>
            <a:r>
              <a:rPr lang="en-US" sz="1000" dirty="0">
                <a:solidFill>
                  <a:srgbClr val="4A5563"/>
                </a:solidFill>
                <a:latin typeface="Arial" pitchFamily="34" charset="0"/>
                <a:ea typeface="Arial" pitchFamily="34" charset="-122"/>
                <a:cs typeface="Arial" pitchFamily="34" charset="-120"/>
              </a:rPr>
              <a:t>We keep building and testing now, and buy special hardware only once the real needs are known.</a:t>
            </a:r>
            <a:endParaRPr lang="en-US" sz="1000" dirty="0"/>
          </a:p>
        </p:txBody>
      </p:sp>
      <p:sp>
        <p:nvSpPr>
          <p:cNvPr id="43" name="Shape 37"/>
          <p:cNvSpPr/>
          <p:nvPr/>
        </p:nvSpPr>
        <p:spPr>
          <a:xfrm>
            <a:off x="4434840" y="3950208"/>
            <a:ext cx="0" cy="896112"/>
          </a:xfrm>
          <a:prstGeom prst="line">
            <a:avLst/>
          </a:prstGeom>
          <a:noFill/>
          <a:ln w="9525">
            <a:solidFill>
              <a:srgbClr val="2F6B52"/>
            </a:solidFill>
            <a:prstDash val="dash"/>
          </a:ln>
        </p:spPr>
      </p:sp>
      <p:sp>
        <p:nvSpPr>
          <p:cNvPr id="44" name="Shape 38"/>
          <p:cNvSpPr/>
          <p:nvPr/>
        </p:nvSpPr>
        <p:spPr>
          <a:xfrm>
            <a:off x="4599432" y="3977640"/>
            <a:ext cx="786384" cy="201168"/>
          </a:xfrm>
          <a:prstGeom prst="roundRect">
            <a:avLst>
              <a:gd name="adj" fmla="val 27273"/>
            </a:avLst>
          </a:prstGeom>
          <a:solidFill>
            <a:srgbClr val="2F6B52"/>
          </a:solidFill>
          <a:ln w="12700">
            <a:solidFill>
              <a:srgbClr val="2F6B52"/>
            </a:solidFill>
            <a:prstDash val="solid"/>
          </a:ln>
        </p:spPr>
      </p:sp>
      <p:sp>
        <p:nvSpPr>
          <p:cNvPr id="45" name="Text 39"/>
          <p:cNvSpPr/>
          <p:nvPr/>
        </p:nvSpPr>
        <p:spPr>
          <a:xfrm>
            <a:off x="4599432" y="3977640"/>
            <a:ext cx="786384" cy="201168"/>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Arial" pitchFamily="34" charset="0"/>
                <a:ea typeface="Arial" pitchFamily="34" charset="-122"/>
                <a:cs typeface="Arial" pitchFamily="34" charset="-120"/>
              </a:rPr>
              <a:t>PROVEN</a:t>
            </a:r>
            <a:endParaRPr lang="en-US" sz="800" dirty="0"/>
          </a:p>
        </p:txBody>
      </p:sp>
      <p:sp>
        <p:nvSpPr>
          <p:cNvPr id="46" name="Text 40"/>
          <p:cNvSpPr/>
          <p:nvPr/>
        </p:nvSpPr>
        <p:spPr>
          <a:xfrm>
            <a:off x="5495544" y="3968496"/>
            <a:ext cx="2029968" cy="420624"/>
          </a:xfrm>
          <a:prstGeom prst="rect">
            <a:avLst/>
          </a:prstGeom>
          <a:noFill/>
          <a:ln/>
        </p:spPr>
        <p:txBody>
          <a:bodyPr wrap="square" lIns="0" tIns="0" rIns="0" bIns="0" rtlCol="0" anchor="t"/>
          <a:lstStyle/>
          <a:p>
            <a:pPr indent="0" marL="0">
              <a:buNone/>
            </a:pPr>
            <a:r>
              <a:rPr lang="en-US" sz="1000" dirty="0">
                <a:solidFill>
                  <a:srgbClr val="2E3A48"/>
                </a:solidFill>
                <a:latin typeface="Arial" pitchFamily="34" charset="0"/>
                <a:ea typeface="Arial" pitchFamily="34" charset="-122"/>
                <a:cs typeface="Arial" pitchFamily="34" charset="-120"/>
              </a:rPr>
              <a:t>Runs on an ordinary CPU with no cloud fees or paid APIs.</a:t>
            </a:r>
            <a:endParaRPr lang="en-US" sz="1000" dirty="0"/>
          </a:p>
        </p:txBody>
      </p:sp>
      <p:sp>
        <p:nvSpPr>
          <p:cNvPr id="47" name="Shape 41"/>
          <p:cNvSpPr/>
          <p:nvPr/>
        </p:nvSpPr>
        <p:spPr>
          <a:xfrm>
            <a:off x="4599432" y="4471416"/>
            <a:ext cx="786384" cy="201168"/>
          </a:xfrm>
          <a:prstGeom prst="roundRect">
            <a:avLst>
              <a:gd name="adj" fmla="val 27273"/>
            </a:avLst>
          </a:prstGeom>
          <a:solidFill>
            <a:srgbClr val="F6C98F"/>
          </a:solidFill>
          <a:ln w="12700">
            <a:solidFill>
              <a:srgbClr val="C8742F"/>
            </a:solidFill>
            <a:prstDash val="solid"/>
          </a:ln>
        </p:spPr>
      </p:sp>
      <p:sp>
        <p:nvSpPr>
          <p:cNvPr id="48" name="Text 42"/>
          <p:cNvSpPr/>
          <p:nvPr/>
        </p:nvSpPr>
        <p:spPr>
          <a:xfrm>
            <a:off x="4599432" y="4471416"/>
            <a:ext cx="786384" cy="201168"/>
          </a:xfrm>
          <a:prstGeom prst="rect">
            <a:avLst/>
          </a:prstGeom>
          <a:noFill/>
          <a:ln/>
        </p:spPr>
        <p:txBody>
          <a:bodyPr wrap="square" lIns="0" tIns="0" rIns="0" bIns="0" rtlCol="0" anchor="ctr"/>
          <a:lstStyle/>
          <a:p>
            <a:pPr algn="ctr" indent="0" marL="0">
              <a:buNone/>
            </a:pPr>
            <a:r>
              <a:rPr lang="en-US" sz="800" b="1" spc="100" kern="0" dirty="0">
                <a:solidFill>
                  <a:srgbClr val="6E3408"/>
                </a:solidFill>
                <a:latin typeface="Arial" pitchFamily="34" charset="0"/>
                <a:ea typeface="Arial" pitchFamily="34" charset="-122"/>
                <a:cs typeface="Arial" pitchFamily="34" charset="-120"/>
              </a:rPr>
              <a:t>VALIDATE</a:t>
            </a:r>
            <a:endParaRPr lang="en-US" sz="800" dirty="0"/>
          </a:p>
        </p:txBody>
      </p:sp>
      <p:sp>
        <p:nvSpPr>
          <p:cNvPr id="49" name="Text 43"/>
          <p:cNvSpPr/>
          <p:nvPr/>
        </p:nvSpPr>
        <p:spPr>
          <a:xfrm>
            <a:off x="5495544" y="4462272"/>
            <a:ext cx="2029968" cy="420624"/>
          </a:xfrm>
          <a:prstGeom prst="rect">
            <a:avLst/>
          </a:prstGeom>
          <a:noFill/>
          <a:ln/>
        </p:spPr>
        <p:txBody>
          <a:bodyPr wrap="square" lIns="0" tIns="0" rIns="0" bIns="0" rtlCol="0" anchor="t"/>
          <a:lstStyle/>
          <a:p>
            <a:pPr indent="0" marL="0">
              <a:buNone/>
            </a:pPr>
            <a:r>
              <a:rPr lang="en-US" sz="1000" dirty="0">
                <a:solidFill>
                  <a:srgbClr val="2E3A48"/>
                </a:solidFill>
                <a:latin typeface="Arial" pitchFamily="34" charset="0"/>
                <a:ea typeface="Arial" pitchFamily="34" charset="-122"/>
                <a:cs typeface="Arial" pitchFamily="34" charset="-120"/>
              </a:rPr>
              <a:t>Vehicle hardware cost; licence terms for data and models.</a:t>
            </a:r>
            <a:endParaRPr lang="en-US" sz="1000" dirty="0"/>
          </a:p>
        </p:txBody>
      </p:sp>
      <p:sp>
        <p:nvSpPr>
          <p:cNvPr id="50" name="Shape 44"/>
          <p:cNvSpPr/>
          <p:nvPr/>
        </p:nvSpPr>
        <p:spPr>
          <a:xfrm>
            <a:off x="850392" y="4974336"/>
            <a:ext cx="0" cy="164592"/>
          </a:xfrm>
          <a:prstGeom prst="line">
            <a:avLst/>
          </a:prstGeom>
          <a:noFill/>
          <a:ln w="19050">
            <a:solidFill>
              <a:srgbClr val="243B53"/>
            </a:solidFill>
            <a:prstDash val="solid"/>
            <a:tailEnd type="triangle"/>
          </a:ln>
        </p:spPr>
      </p:sp>
      <p:sp>
        <p:nvSpPr>
          <p:cNvPr id="51" name="Shape 45"/>
          <p:cNvSpPr/>
          <p:nvPr/>
        </p:nvSpPr>
        <p:spPr>
          <a:xfrm>
            <a:off x="365760" y="5138928"/>
            <a:ext cx="7269480" cy="1152144"/>
          </a:xfrm>
          <a:prstGeom prst="roundRect">
            <a:avLst>
              <a:gd name="adj" fmla="val 9524"/>
            </a:avLst>
          </a:prstGeom>
          <a:solidFill>
            <a:srgbClr val="DCEEDB"/>
          </a:solidFill>
          <a:ln w="15875">
            <a:solidFill>
              <a:srgbClr val="243B53"/>
            </a:solidFill>
            <a:prstDash val="solid"/>
          </a:ln>
        </p:spPr>
      </p:sp>
      <p:sp>
        <p:nvSpPr>
          <p:cNvPr id="52" name="Shape 46"/>
          <p:cNvSpPr/>
          <p:nvPr/>
        </p:nvSpPr>
        <p:spPr>
          <a:xfrm>
            <a:off x="548640" y="5285232"/>
            <a:ext cx="603504" cy="603504"/>
          </a:xfrm>
          <a:prstGeom prst="ellipse">
            <a:avLst/>
          </a:prstGeom>
          <a:solidFill>
            <a:srgbClr val="FFFFFF"/>
          </a:solidFill>
          <a:ln w="15875">
            <a:solidFill>
              <a:srgbClr val="2F6B52"/>
            </a:solidFill>
            <a:prstDash val="solid"/>
          </a:ln>
        </p:spPr>
      </p:sp>
      <p:pic>
        <p:nvPicPr>
          <p:cNvPr id="53" name="Image 4" descr="assets/icons/truck.png">    </p:cNvPr>
          <p:cNvPicPr>
            <a:picLocks noChangeAspect="1"/>
          </p:cNvPicPr>
          <p:nvPr/>
        </p:nvPicPr>
        <p:blipFill>
          <a:blip r:embed="rId5"/>
          <a:stretch>
            <a:fillRect/>
          </a:stretch>
        </p:blipFill>
        <p:spPr>
          <a:xfrm>
            <a:off x="685800" y="5422392"/>
            <a:ext cx="329184" cy="329184"/>
          </a:xfrm>
          <a:prstGeom prst="rect">
            <a:avLst/>
          </a:prstGeom>
        </p:spPr>
      </p:pic>
      <p:sp>
        <p:nvSpPr>
          <p:cNvPr id="54" name="Text 47"/>
          <p:cNvSpPr/>
          <p:nvPr/>
        </p:nvSpPr>
        <p:spPr>
          <a:xfrm>
            <a:off x="548640" y="5943600"/>
            <a:ext cx="603504" cy="219456"/>
          </a:xfrm>
          <a:prstGeom prst="rect">
            <a:avLst/>
          </a:prstGeom>
          <a:noFill/>
          <a:ln/>
        </p:spPr>
        <p:txBody>
          <a:bodyPr wrap="square" lIns="0" tIns="0" rIns="0" bIns="0" rtlCol="0" anchor="t"/>
          <a:lstStyle/>
          <a:p>
            <a:pPr algn="ctr" indent="0" marL="0">
              <a:buNone/>
            </a:pPr>
            <a:r>
              <a:rPr lang="en-US" sz="1100" b="1" dirty="0">
                <a:solidFill>
                  <a:srgbClr val="2F6B52"/>
                </a:solidFill>
                <a:latin typeface="Comic Sans MS" pitchFamily="34" charset="0"/>
                <a:ea typeface="Comic Sans MS" pitchFamily="34" charset="-122"/>
                <a:cs typeface="Comic Sans MS" pitchFamily="34" charset="-120"/>
              </a:rPr>
              <a:t>04</a:t>
            </a:r>
            <a:endParaRPr lang="en-US" sz="1100" dirty="0"/>
          </a:p>
        </p:txBody>
      </p:sp>
      <p:sp>
        <p:nvSpPr>
          <p:cNvPr id="55" name="Text 48"/>
          <p:cNvSpPr/>
          <p:nvPr/>
        </p:nvSpPr>
        <p:spPr>
          <a:xfrm>
            <a:off x="1325880" y="5230368"/>
            <a:ext cx="2971800" cy="274320"/>
          </a:xfrm>
          <a:prstGeom prst="rect">
            <a:avLst/>
          </a:prstGeom>
          <a:noFill/>
          <a:ln/>
        </p:spPr>
        <p:txBody>
          <a:bodyPr wrap="square" lIns="0" tIns="0" rIns="0" bIns="0" rtlCol="0" anchor="t"/>
          <a:lstStyle/>
          <a:p>
            <a:pPr indent="0" marL="0">
              <a:buNone/>
            </a:pPr>
            <a:r>
              <a:rPr lang="en-US" sz="1500" b="1" dirty="0">
                <a:solidFill>
                  <a:srgbClr val="243B53"/>
                </a:solidFill>
                <a:latin typeface="Arial" pitchFamily="34" charset="0"/>
                <a:ea typeface="Arial" pitchFamily="34" charset="-122"/>
                <a:cs typeface="Arial" pitchFamily="34" charset="-120"/>
              </a:rPr>
              <a:t>Vehicle Integration</a:t>
            </a:r>
            <a:endParaRPr lang="en-US" sz="1500" dirty="0"/>
          </a:p>
        </p:txBody>
      </p:sp>
      <p:sp>
        <p:nvSpPr>
          <p:cNvPr id="56" name="Text 49"/>
          <p:cNvSpPr/>
          <p:nvPr/>
        </p:nvSpPr>
        <p:spPr>
          <a:xfrm>
            <a:off x="1325880" y="5504688"/>
            <a:ext cx="2971800" cy="219456"/>
          </a:xfrm>
          <a:prstGeom prst="rect">
            <a:avLst/>
          </a:prstGeom>
          <a:noFill/>
          <a:ln/>
        </p:spPr>
        <p:txBody>
          <a:bodyPr wrap="square" lIns="0" tIns="0" rIns="0" bIns="0" rtlCol="0" anchor="t"/>
          <a:lstStyle/>
          <a:p>
            <a:pPr indent="0" marL="0">
              <a:buNone/>
            </a:pPr>
            <a:r>
              <a:rPr lang="en-US" sz="1100" b="1" dirty="0">
                <a:solidFill>
                  <a:srgbClr val="2F6B52"/>
                </a:solidFill>
                <a:latin typeface="Arial" pitchFamily="34" charset="0"/>
                <a:ea typeface="Arial" pitchFamily="34" charset="-122"/>
                <a:cs typeface="Arial" pitchFamily="34" charset="-120"/>
              </a:rPr>
              <a:t>Built in blocks that plug into a vehicle.</a:t>
            </a:r>
            <a:endParaRPr lang="en-US" sz="1100" dirty="0"/>
          </a:p>
        </p:txBody>
      </p:sp>
      <p:sp>
        <p:nvSpPr>
          <p:cNvPr id="57" name="Text 50"/>
          <p:cNvSpPr/>
          <p:nvPr/>
        </p:nvSpPr>
        <p:spPr>
          <a:xfrm>
            <a:off x="1325880" y="5751576"/>
            <a:ext cx="2971800" cy="475488"/>
          </a:xfrm>
          <a:prstGeom prst="rect">
            <a:avLst/>
          </a:prstGeom>
          <a:noFill/>
          <a:ln/>
        </p:spPr>
        <p:txBody>
          <a:bodyPr wrap="square" lIns="0" tIns="0" rIns="0" bIns="0" rtlCol="0" anchor="t"/>
          <a:lstStyle/>
          <a:p>
            <a:pPr indent="0" marL="0">
              <a:buNone/>
            </a:pPr>
            <a:r>
              <a:rPr lang="en-US" sz="1000" dirty="0">
                <a:solidFill>
                  <a:srgbClr val="4A5563"/>
                </a:solidFill>
                <a:latin typeface="Arial" pitchFamily="34" charset="0"/>
                <a:ea typeface="Arial" pitchFamily="34" charset="-122"/>
                <a:cs typeface="Arial" pitchFamily="34" charset="-120"/>
              </a:rPr>
              <a:t>Each step (read scan → find ground → label points → build map) is its own block, so a live sensor feed can be added without rebuilding the rest.</a:t>
            </a:r>
            <a:endParaRPr lang="en-US" sz="1000" dirty="0"/>
          </a:p>
        </p:txBody>
      </p:sp>
      <p:sp>
        <p:nvSpPr>
          <p:cNvPr id="58" name="Shape 51"/>
          <p:cNvSpPr/>
          <p:nvPr/>
        </p:nvSpPr>
        <p:spPr>
          <a:xfrm>
            <a:off x="4434840" y="5266944"/>
            <a:ext cx="0" cy="896112"/>
          </a:xfrm>
          <a:prstGeom prst="line">
            <a:avLst/>
          </a:prstGeom>
          <a:noFill/>
          <a:ln w="9525">
            <a:solidFill>
              <a:srgbClr val="2F6B52"/>
            </a:solidFill>
            <a:prstDash val="dash"/>
          </a:ln>
        </p:spPr>
      </p:sp>
      <p:sp>
        <p:nvSpPr>
          <p:cNvPr id="59" name="Shape 52"/>
          <p:cNvSpPr/>
          <p:nvPr/>
        </p:nvSpPr>
        <p:spPr>
          <a:xfrm>
            <a:off x="4599432" y="5294376"/>
            <a:ext cx="786384" cy="201168"/>
          </a:xfrm>
          <a:prstGeom prst="roundRect">
            <a:avLst>
              <a:gd name="adj" fmla="val 27273"/>
            </a:avLst>
          </a:prstGeom>
          <a:solidFill>
            <a:srgbClr val="2F5FA8"/>
          </a:solidFill>
          <a:ln w="12700">
            <a:solidFill>
              <a:srgbClr val="2F5FA8"/>
            </a:solidFill>
            <a:prstDash val="solid"/>
          </a:ln>
        </p:spPr>
      </p:sp>
      <p:sp>
        <p:nvSpPr>
          <p:cNvPr id="60" name="Text 53"/>
          <p:cNvSpPr/>
          <p:nvPr/>
        </p:nvSpPr>
        <p:spPr>
          <a:xfrm>
            <a:off x="4599432" y="5294376"/>
            <a:ext cx="786384" cy="201168"/>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Arial" pitchFamily="34" charset="0"/>
                <a:ea typeface="Arial" pitchFamily="34" charset="-122"/>
                <a:cs typeface="Arial" pitchFamily="34" charset="-120"/>
              </a:rPr>
              <a:t>PROPOSED</a:t>
            </a:r>
            <a:endParaRPr lang="en-US" sz="800" dirty="0"/>
          </a:p>
        </p:txBody>
      </p:sp>
      <p:sp>
        <p:nvSpPr>
          <p:cNvPr id="61" name="Text 54"/>
          <p:cNvSpPr/>
          <p:nvPr/>
        </p:nvSpPr>
        <p:spPr>
          <a:xfrm>
            <a:off x="5495544" y="5285232"/>
            <a:ext cx="2029968" cy="420624"/>
          </a:xfrm>
          <a:prstGeom prst="rect">
            <a:avLst/>
          </a:prstGeom>
          <a:noFill/>
          <a:ln/>
        </p:spPr>
        <p:txBody>
          <a:bodyPr wrap="square" lIns="0" tIns="0" rIns="0" bIns="0" rtlCol="0" anchor="t"/>
          <a:lstStyle/>
          <a:p>
            <a:pPr indent="0" marL="0">
              <a:buNone/>
            </a:pPr>
            <a:r>
              <a:rPr lang="en-US" sz="1000" dirty="0">
                <a:solidFill>
                  <a:srgbClr val="2E3A48"/>
                </a:solidFill>
                <a:latin typeface="Arial" pitchFamily="34" charset="0"/>
                <a:ea typeface="Arial" pitchFamily="34" charset="-122"/>
                <a:cs typeface="Arial" pitchFamily="34" charset="-120"/>
              </a:rPr>
              <a:t>ROS 2 adapters (standard robot software link) feed in live LiDAR.</a:t>
            </a:r>
            <a:endParaRPr lang="en-US" sz="1000" dirty="0"/>
          </a:p>
        </p:txBody>
      </p:sp>
      <p:sp>
        <p:nvSpPr>
          <p:cNvPr id="62" name="Shape 55"/>
          <p:cNvSpPr/>
          <p:nvPr/>
        </p:nvSpPr>
        <p:spPr>
          <a:xfrm>
            <a:off x="4599432" y="5788152"/>
            <a:ext cx="786384" cy="201168"/>
          </a:xfrm>
          <a:prstGeom prst="roundRect">
            <a:avLst>
              <a:gd name="adj" fmla="val 27273"/>
            </a:avLst>
          </a:prstGeom>
          <a:solidFill>
            <a:srgbClr val="F6C98F"/>
          </a:solidFill>
          <a:ln w="12700">
            <a:solidFill>
              <a:srgbClr val="C8742F"/>
            </a:solidFill>
            <a:prstDash val="solid"/>
          </a:ln>
        </p:spPr>
      </p:sp>
      <p:sp>
        <p:nvSpPr>
          <p:cNvPr id="63" name="Text 56"/>
          <p:cNvSpPr/>
          <p:nvPr/>
        </p:nvSpPr>
        <p:spPr>
          <a:xfrm>
            <a:off x="4599432" y="5788152"/>
            <a:ext cx="786384" cy="201168"/>
          </a:xfrm>
          <a:prstGeom prst="rect">
            <a:avLst/>
          </a:prstGeom>
          <a:noFill/>
          <a:ln/>
        </p:spPr>
        <p:txBody>
          <a:bodyPr wrap="square" lIns="0" tIns="0" rIns="0" bIns="0" rtlCol="0" anchor="ctr"/>
          <a:lstStyle/>
          <a:p>
            <a:pPr algn="ctr" indent="0" marL="0">
              <a:buNone/>
            </a:pPr>
            <a:r>
              <a:rPr lang="en-US" sz="800" b="1" spc="100" kern="0" dirty="0">
                <a:solidFill>
                  <a:srgbClr val="6E3408"/>
                </a:solidFill>
                <a:latin typeface="Arial" pitchFamily="34" charset="0"/>
                <a:ea typeface="Arial" pitchFamily="34" charset="-122"/>
                <a:cs typeface="Arial" pitchFamily="34" charset="-120"/>
              </a:rPr>
              <a:t>TEST</a:t>
            </a:r>
            <a:endParaRPr lang="en-US" sz="800" dirty="0"/>
          </a:p>
        </p:txBody>
      </p:sp>
      <p:sp>
        <p:nvSpPr>
          <p:cNvPr id="64" name="Text 57"/>
          <p:cNvSpPr/>
          <p:nvPr/>
        </p:nvSpPr>
        <p:spPr>
          <a:xfrm>
            <a:off x="5495544" y="5779008"/>
            <a:ext cx="2029968" cy="420624"/>
          </a:xfrm>
          <a:prstGeom prst="rect">
            <a:avLst/>
          </a:prstGeom>
          <a:noFill/>
          <a:ln/>
        </p:spPr>
        <p:txBody>
          <a:bodyPr wrap="square" lIns="0" tIns="0" rIns="0" bIns="0" rtlCol="0" anchor="t"/>
          <a:lstStyle/>
          <a:p>
            <a:pPr indent="0" marL="0">
              <a:buNone/>
            </a:pPr>
            <a:r>
              <a:rPr lang="en-US" sz="1000" dirty="0">
                <a:solidFill>
                  <a:srgbClr val="2E3A48"/>
                </a:solidFill>
                <a:latin typeface="Arial" pitchFamily="34" charset="0"/>
                <a:ea typeface="Arial" pitchFamily="34" charset="-122"/>
                <a:cs typeface="Arial" pitchFamily="34" charset="-120"/>
              </a:rPr>
              <a:t>Vehicle speed, power, memory. Now ~7 s per scan on a laptop.</a:t>
            </a:r>
            <a:endParaRPr lang="en-US" sz="1000" dirty="0"/>
          </a:p>
        </p:txBody>
      </p:sp>
      <p:sp>
        <p:nvSpPr>
          <p:cNvPr id="65" name="Shape 58"/>
          <p:cNvSpPr/>
          <p:nvPr/>
        </p:nvSpPr>
        <p:spPr>
          <a:xfrm>
            <a:off x="7863840" y="1188720"/>
            <a:ext cx="3959352" cy="1664208"/>
          </a:xfrm>
          <a:prstGeom prst="roundRect">
            <a:avLst>
              <a:gd name="adj" fmla="val 6593"/>
            </a:avLst>
          </a:prstGeom>
          <a:solidFill>
            <a:srgbClr val="DDE8F7"/>
          </a:solidFill>
          <a:ln w="15875">
            <a:solidFill>
              <a:srgbClr val="243B53"/>
            </a:solidFill>
            <a:prstDash val="solid"/>
          </a:ln>
        </p:spPr>
      </p:sp>
      <p:pic>
        <p:nvPicPr>
          <p:cNvPr id="66" name="Image 5" descr="assets/icons/target.png">    </p:cNvPr>
          <p:cNvPicPr>
            <a:picLocks noChangeAspect="1"/>
          </p:cNvPicPr>
          <p:nvPr/>
        </p:nvPicPr>
        <p:blipFill>
          <a:blip r:embed="rId6"/>
          <a:stretch>
            <a:fillRect/>
          </a:stretch>
        </p:blipFill>
        <p:spPr>
          <a:xfrm>
            <a:off x="8046720" y="1316736"/>
            <a:ext cx="310896" cy="310896"/>
          </a:xfrm>
          <a:prstGeom prst="rect">
            <a:avLst/>
          </a:prstGeom>
        </p:spPr>
      </p:pic>
      <p:sp>
        <p:nvSpPr>
          <p:cNvPr id="67" name="Text 59"/>
          <p:cNvSpPr/>
          <p:nvPr/>
        </p:nvSpPr>
        <p:spPr>
          <a:xfrm>
            <a:off x="8449056" y="1316736"/>
            <a:ext cx="3227832" cy="310896"/>
          </a:xfrm>
          <a:prstGeom prst="rect">
            <a:avLst/>
          </a:prstGeom>
          <a:noFill/>
          <a:ln/>
        </p:spPr>
        <p:txBody>
          <a:bodyPr wrap="square" lIns="0" tIns="0" rIns="0" bIns="0" rtlCol="0" anchor="ctr"/>
          <a:lstStyle/>
          <a:p>
            <a:pPr indent="0" marL="0">
              <a:buNone/>
            </a:pPr>
            <a:r>
              <a:rPr lang="en-US" sz="1500" b="1" dirty="0">
                <a:solidFill>
                  <a:srgbClr val="243B53"/>
                </a:solidFill>
                <a:latin typeface="Arial" pitchFamily="34" charset="0"/>
                <a:ea typeface="Arial" pitchFamily="34" charset="-122"/>
                <a:cs typeface="Arial" pitchFamily="34" charset="-120"/>
              </a:rPr>
              <a:t>Measured Result</a:t>
            </a:r>
            <a:endParaRPr lang="en-US" sz="1500" dirty="0"/>
          </a:p>
        </p:txBody>
      </p:sp>
      <p:sp>
        <p:nvSpPr>
          <p:cNvPr id="68" name="Shape 60"/>
          <p:cNvSpPr/>
          <p:nvPr/>
        </p:nvSpPr>
        <p:spPr>
          <a:xfrm>
            <a:off x="10853928" y="1371600"/>
            <a:ext cx="786384" cy="201168"/>
          </a:xfrm>
          <a:prstGeom prst="roundRect">
            <a:avLst>
              <a:gd name="adj" fmla="val 27273"/>
            </a:avLst>
          </a:prstGeom>
          <a:solidFill>
            <a:srgbClr val="2F6B52"/>
          </a:solidFill>
          <a:ln w="12700">
            <a:solidFill>
              <a:srgbClr val="2F6B52"/>
            </a:solidFill>
            <a:prstDash val="solid"/>
          </a:ln>
        </p:spPr>
      </p:sp>
      <p:sp>
        <p:nvSpPr>
          <p:cNvPr id="69" name="Text 61"/>
          <p:cNvSpPr/>
          <p:nvPr/>
        </p:nvSpPr>
        <p:spPr>
          <a:xfrm>
            <a:off x="10853928" y="1371600"/>
            <a:ext cx="786384" cy="201168"/>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Arial" pitchFamily="34" charset="0"/>
                <a:ea typeface="Arial" pitchFamily="34" charset="-122"/>
                <a:cs typeface="Arial" pitchFamily="34" charset="-120"/>
              </a:rPr>
              <a:t>MEASURED</a:t>
            </a:r>
            <a:endParaRPr lang="en-US" sz="800" dirty="0"/>
          </a:p>
        </p:txBody>
      </p:sp>
      <p:sp>
        <p:nvSpPr>
          <p:cNvPr id="70" name="Text 62"/>
          <p:cNvSpPr/>
          <p:nvPr/>
        </p:nvSpPr>
        <p:spPr>
          <a:xfrm>
            <a:off x="8046720" y="1691640"/>
            <a:ext cx="1600200" cy="502920"/>
          </a:xfrm>
          <a:prstGeom prst="rect">
            <a:avLst/>
          </a:prstGeom>
          <a:noFill/>
          <a:ln/>
        </p:spPr>
        <p:txBody>
          <a:bodyPr wrap="square" lIns="0" tIns="0" rIns="0" bIns="0" rtlCol="0" anchor="ctr"/>
          <a:lstStyle/>
          <a:p>
            <a:pPr indent="0" marL="0">
              <a:buNone/>
            </a:pPr>
            <a:r>
              <a:rPr lang="en-US" sz="3200" b="1" dirty="0">
                <a:solidFill>
                  <a:srgbClr val="2F5FA8"/>
                </a:solidFill>
                <a:latin typeface="Arial" pitchFamily="34" charset="0"/>
                <a:ea typeface="Arial" pitchFamily="34" charset="-122"/>
                <a:cs typeface="Arial" pitchFamily="34" charset="-120"/>
              </a:rPr>
              <a:t>67.55%</a:t>
            </a:r>
            <a:endParaRPr lang="en-US" sz="3200" dirty="0"/>
          </a:p>
        </p:txBody>
      </p:sp>
      <p:sp>
        <p:nvSpPr>
          <p:cNvPr id="71" name="Text 63"/>
          <p:cNvSpPr/>
          <p:nvPr/>
        </p:nvSpPr>
        <p:spPr>
          <a:xfrm>
            <a:off x="9646920" y="1691640"/>
            <a:ext cx="1993392" cy="502920"/>
          </a:xfrm>
          <a:prstGeom prst="rect">
            <a:avLst/>
          </a:prstGeom>
          <a:noFill/>
          <a:ln/>
        </p:spPr>
        <p:txBody>
          <a:bodyPr wrap="square" lIns="0" tIns="0" rIns="0" bIns="0" rtlCol="0" anchor="ctr"/>
          <a:lstStyle/>
          <a:p>
            <a:pPr indent="0" marL="0">
              <a:buNone/>
            </a:pPr>
            <a:r>
              <a:rPr lang="en-US" sz="1200" b="1" dirty="0">
                <a:solidFill>
                  <a:srgbClr val="243B53"/>
                </a:solidFill>
                <a:latin typeface="Arial" pitchFamily="34" charset="0"/>
                <a:ea typeface="Arial" pitchFamily="34" charset="-122"/>
                <a:cs typeface="Arial" pitchFamily="34" charset="-120"/>
              </a:rPr>
              <a:t>mIoU on 4,071 real driving scans</a:t>
            </a:r>
            <a:endParaRPr lang="en-US" sz="1200" dirty="0"/>
          </a:p>
        </p:txBody>
      </p:sp>
      <p:sp>
        <p:nvSpPr>
          <p:cNvPr id="72" name="Text 64"/>
          <p:cNvSpPr/>
          <p:nvPr/>
        </p:nvSpPr>
        <p:spPr>
          <a:xfrm>
            <a:off x="8046720" y="2231136"/>
            <a:ext cx="3593592" cy="329184"/>
          </a:xfrm>
          <a:prstGeom prst="rect">
            <a:avLst/>
          </a:prstGeom>
          <a:noFill/>
          <a:ln/>
        </p:spPr>
        <p:txBody>
          <a:bodyPr wrap="square" lIns="0" tIns="0" rIns="0" bIns="0" rtlCol="0" anchor="t"/>
          <a:lstStyle/>
          <a:p>
            <a:pPr indent="0" marL="0">
              <a:buNone/>
            </a:pPr>
            <a:r>
              <a:rPr lang="en-US" sz="1000" dirty="0">
                <a:solidFill>
                  <a:srgbClr val="2E3A48"/>
                </a:solidFill>
                <a:latin typeface="Arial" pitchFamily="34" charset="0"/>
                <a:ea typeface="Arial" pitchFamily="34" charset="-122"/>
                <a:cs typeface="Arial" pitchFamily="34" charset="-120"/>
              </a:rPr>
              <a:t>How well each laser point's label matches the human-marked truth, averaged over 19 classes.</a:t>
            </a:r>
            <a:endParaRPr lang="en-US" sz="1000" dirty="0"/>
          </a:p>
        </p:txBody>
      </p:sp>
      <p:sp>
        <p:nvSpPr>
          <p:cNvPr id="73" name="Text 65"/>
          <p:cNvSpPr/>
          <p:nvPr/>
        </p:nvSpPr>
        <p:spPr>
          <a:xfrm>
            <a:off x="8046720" y="2606040"/>
            <a:ext cx="3593592" cy="164592"/>
          </a:xfrm>
          <a:prstGeom prst="rect">
            <a:avLst/>
          </a:prstGeom>
          <a:noFill/>
          <a:ln/>
        </p:spPr>
        <p:txBody>
          <a:bodyPr wrap="square" lIns="0" tIns="0" rIns="0" bIns="0" rtlCol="0" anchor="t"/>
          <a:lstStyle/>
          <a:p>
            <a:pPr indent="0" marL="0">
              <a:buNone/>
            </a:pPr>
            <a:r>
              <a:rPr lang="en-US" sz="800" i="1" dirty="0">
                <a:solidFill>
                  <a:srgbClr val="4A5563"/>
                </a:solidFill>
                <a:latin typeface="Arial" pitchFamily="34" charset="0"/>
                <a:ea typeface="Arial" pitchFamily="34" charset="-122"/>
                <a:cs typeface="Arial" pitchFamily="34" charset="-120"/>
              </a:rPr>
              <a:t>Drishti eval E-051 · SemanticKITTI seq 08 · labels only, not a safety measure</a:t>
            </a:r>
            <a:endParaRPr lang="en-US" sz="800" dirty="0"/>
          </a:p>
        </p:txBody>
      </p:sp>
      <p:sp>
        <p:nvSpPr>
          <p:cNvPr id="74" name="Shape 66"/>
          <p:cNvSpPr/>
          <p:nvPr/>
        </p:nvSpPr>
        <p:spPr>
          <a:xfrm>
            <a:off x="7863840" y="2999232"/>
            <a:ext cx="3959352" cy="1993392"/>
          </a:xfrm>
          <a:prstGeom prst="roundRect">
            <a:avLst>
              <a:gd name="adj" fmla="val 5505"/>
            </a:avLst>
          </a:prstGeom>
          <a:solidFill>
            <a:srgbClr val="DDE8F7"/>
          </a:solidFill>
          <a:ln w="15875">
            <a:solidFill>
              <a:srgbClr val="243B53"/>
            </a:solidFill>
            <a:prstDash val="solid"/>
          </a:ln>
        </p:spPr>
      </p:sp>
      <p:pic>
        <p:nvPicPr>
          <p:cNvPr id="75" name="Image 6" descr="assets/icons/git-branch.png">    </p:cNvPr>
          <p:cNvPicPr>
            <a:picLocks noChangeAspect="1"/>
          </p:cNvPicPr>
          <p:nvPr/>
        </p:nvPicPr>
        <p:blipFill>
          <a:blip r:embed="rId7"/>
          <a:stretch>
            <a:fillRect/>
          </a:stretch>
        </p:blipFill>
        <p:spPr>
          <a:xfrm>
            <a:off x="8046720" y="3127248"/>
            <a:ext cx="310896" cy="310896"/>
          </a:xfrm>
          <a:prstGeom prst="rect">
            <a:avLst/>
          </a:prstGeom>
        </p:spPr>
      </p:pic>
      <p:sp>
        <p:nvSpPr>
          <p:cNvPr id="76" name="Text 67"/>
          <p:cNvSpPr/>
          <p:nvPr/>
        </p:nvSpPr>
        <p:spPr>
          <a:xfrm>
            <a:off x="8449056" y="3127248"/>
            <a:ext cx="3227832" cy="310896"/>
          </a:xfrm>
          <a:prstGeom prst="rect">
            <a:avLst/>
          </a:prstGeom>
          <a:noFill/>
          <a:ln/>
        </p:spPr>
        <p:txBody>
          <a:bodyPr wrap="square" lIns="0" tIns="0" rIns="0" bIns="0" rtlCol="0" anchor="ctr"/>
          <a:lstStyle/>
          <a:p>
            <a:pPr indent="0" marL="0">
              <a:buNone/>
            </a:pPr>
            <a:r>
              <a:rPr lang="en-US" sz="1500" b="1" dirty="0">
                <a:solidFill>
                  <a:srgbClr val="243B53"/>
                </a:solidFill>
                <a:latin typeface="Arial" pitchFamily="34" charset="0"/>
                <a:ea typeface="Arial" pitchFamily="34" charset="-122"/>
                <a:cs typeface="Arial" pitchFamily="34" charset="-120"/>
              </a:rPr>
              <a:t>05  Maintainable Upgrades</a:t>
            </a:r>
            <a:endParaRPr lang="en-US" sz="1500" dirty="0"/>
          </a:p>
        </p:txBody>
      </p:sp>
      <p:sp>
        <p:nvSpPr>
          <p:cNvPr id="77" name="Text 68"/>
          <p:cNvSpPr/>
          <p:nvPr/>
        </p:nvSpPr>
        <p:spPr>
          <a:xfrm>
            <a:off x="8046720" y="3493008"/>
            <a:ext cx="3593592" cy="219456"/>
          </a:xfrm>
          <a:prstGeom prst="rect">
            <a:avLst/>
          </a:prstGeom>
          <a:noFill/>
          <a:ln/>
        </p:spPr>
        <p:txBody>
          <a:bodyPr wrap="square" lIns="0" tIns="0" rIns="0" bIns="0" rtlCol="0" anchor="t"/>
          <a:lstStyle/>
          <a:p>
            <a:pPr indent="0" marL="0">
              <a:buNone/>
            </a:pPr>
            <a:r>
              <a:rPr lang="en-US" sz="1150" b="1" dirty="0">
                <a:solidFill>
                  <a:srgbClr val="2F5FA8"/>
                </a:solidFill>
                <a:latin typeface="Arial" pitchFamily="34" charset="0"/>
                <a:ea typeface="Arial" pitchFamily="34" charset="-122"/>
                <a:cs typeface="Arial" pitchFamily="34" charset="-120"/>
              </a:rPr>
              <a:t>Every result can be traced and repeated.</a:t>
            </a:r>
            <a:endParaRPr lang="en-US" sz="1150" dirty="0"/>
          </a:p>
        </p:txBody>
      </p:sp>
      <p:sp>
        <p:nvSpPr>
          <p:cNvPr id="78" name="Text 69"/>
          <p:cNvSpPr/>
          <p:nvPr/>
        </p:nvSpPr>
        <p:spPr>
          <a:xfrm>
            <a:off x="8046720" y="3730752"/>
            <a:ext cx="3593592" cy="329184"/>
          </a:xfrm>
          <a:prstGeom prst="rect">
            <a:avLst/>
          </a:prstGeom>
          <a:noFill/>
          <a:ln/>
        </p:spPr>
        <p:txBody>
          <a:bodyPr wrap="square" lIns="0" tIns="0" rIns="0" bIns="0" rtlCol="0" anchor="t"/>
          <a:lstStyle/>
          <a:p>
            <a:pPr indent="0" marL="0">
              <a:buNone/>
            </a:pPr>
            <a:r>
              <a:rPr lang="en-US" sz="1000" dirty="0">
                <a:solidFill>
                  <a:srgbClr val="4A5563"/>
                </a:solidFill>
                <a:latin typeface="Arial" pitchFamily="34" charset="0"/>
                <a:ea typeface="Arial" pitchFamily="34" charset="-122"/>
                <a:cs typeface="Arial" pitchFamily="34" charset="-120"/>
              </a:rPr>
              <a:t>Exact software versions and model files are locked, so anyone can rerun a test.</a:t>
            </a:r>
            <a:endParaRPr lang="en-US" sz="1000" dirty="0"/>
          </a:p>
        </p:txBody>
      </p:sp>
      <p:sp>
        <p:nvSpPr>
          <p:cNvPr id="79" name="Shape 70"/>
          <p:cNvSpPr/>
          <p:nvPr/>
        </p:nvSpPr>
        <p:spPr>
          <a:xfrm>
            <a:off x="8046720" y="4123944"/>
            <a:ext cx="786384" cy="201168"/>
          </a:xfrm>
          <a:prstGeom prst="roundRect">
            <a:avLst>
              <a:gd name="adj" fmla="val 27273"/>
            </a:avLst>
          </a:prstGeom>
          <a:solidFill>
            <a:srgbClr val="2F6B52"/>
          </a:solidFill>
          <a:ln w="12700">
            <a:solidFill>
              <a:srgbClr val="2F6B52"/>
            </a:solidFill>
            <a:prstDash val="solid"/>
          </a:ln>
        </p:spPr>
      </p:sp>
      <p:sp>
        <p:nvSpPr>
          <p:cNvPr id="80" name="Text 71"/>
          <p:cNvSpPr/>
          <p:nvPr/>
        </p:nvSpPr>
        <p:spPr>
          <a:xfrm>
            <a:off x="8046720" y="4123944"/>
            <a:ext cx="786384" cy="201168"/>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Arial" pitchFamily="34" charset="0"/>
                <a:ea typeface="Arial" pitchFamily="34" charset="-122"/>
                <a:cs typeface="Arial" pitchFamily="34" charset="-120"/>
              </a:rPr>
              <a:t>PROVEN</a:t>
            </a:r>
            <a:endParaRPr lang="en-US" sz="800" dirty="0"/>
          </a:p>
        </p:txBody>
      </p:sp>
      <p:sp>
        <p:nvSpPr>
          <p:cNvPr id="81" name="Text 72"/>
          <p:cNvSpPr/>
          <p:nvPr/>
        </p:nvSpPr>
        <p:spPr>
          <a:xfrm>
            <a:off x="8942832" y="4114800"/>
            <a:ext cx="2697480" cy="420624"/>
          </a:xfrm>
          <a:prstGeom prst="rect">
            <a:avLst/>
          </a:prstGeom>
          <a:noFill/>
          <a:ln/>
        </p:spPr>
        <p:txBody>
          <a:bodyPr wrap="square" lIns="0" tIns="0" rIns="0" bIns="0" rtlCol="0" anchor="t"/>
          <a:lstStyle/>
          <a:p>
            <a:pPr indent="0" marL="0">
              <a:buNone/>
            </a:pPr>
            <a:r>
              <a:rPr lang="en-US" sz="1000" dirty="0">
                <a:solidFill>
                  <a:srgbClr val="2E3A48"/>
                </a:solidFill>
                <a:latin typeface="Arial" pitchFamily="34" charset="0"/>
                <a:ea typeface="Arial" pitchFamily="34" charset="-122"/>
                <a:cs typeface="Arial" pitchFamily="34" charset="-120"/>
              </a:rPr>
              <a:t>Version locks and checkpoint hashes (file fingerprints) record what was tested.</a:t>
            </a:r>
            <a:endParaRPr lang="en-US" sz="1000" dirty="0"/>
          </a:p>
        </p:txBody>
      </p:sp>
      <p:sp>
        <p:nvSpPr>
          <p:cNvPr id="82" name="Shape 73"/>
          <p:cNvSpPr/>
          <p:nvPr/>
        </p:nvSpPr>
        <p:spPr>
          <a:xfrm>
            <a:off x="8046720" y="4562856"/>
            <a:ext cx="786384" cy="201168"/>
          </a:xfrm>
          <a:prstGeom prst="roundRect">
            <a:avLst>
              <a:gd name="adj" fmla="val 27273"/>
            </a:avLst>
          </a:prstGeom>
          <a:solidFill>
            <a:srgbClr val="2F5FA8"/>
          </a:solidFill>
          <a:ln w="12700">
            <a:solidFill>
              <a:srgbClr val="2F5FA8"/>
            </a:solidFill>
            <a:prstDash val="solid"/>
          </a:ln>
        </p:spPr>
      </p:sp>
      <p:sp>
        <p:nvSpPr>
          <p:cNvPr id="83" name="Text 74"/>
          <p:cNvSpPr/>
          <p:nvPr/>
        </p:nvSpPr>
        <p:spPr>
          <a:xfrm>
            <a:off x="8046720" y="4562856"/>
            <a:ext cx="786384" cy="201168"/>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Arial" pitchFamily="34" charset="0"/>
                <a:ea typeface="Arial" pitchFamily="34" charset="-122"/>
                <a:cs typeface="Arial" pitchFamily="34" charset="-120"/>
              </a:rPr>
              <a:t>PROPOSED</a:t>
            </a:r>
            <a:endParaRPr lang="en-US" sz="800" dirty="0"/>
          </a:p>
        </p:txBody>
      </p:sp>
      <p:sp>
        <p:nvSpPr>
          <p:cNvPr id="84" name="Text 75"/>
          <p:cNvSpPr/>
          <p:nvPr/>
        </p:nvSpPr>
        <p:spPr>
          <a:xfrm>
            <a:off x="8942832" y="4553712"/>
            <a:ext cx="2697480" cy="420624"/>
          </a:xfrm>
          <a:prstGeom prst="rect">
            <a:avLst/>
          </a:prstGeom>
          <a:noFill/>
          <a:ln/>
        </p:spPr>
        <p:txBody>
          <a:bodyPr wrap="square" lIns="0" tIns="0" rIns="0" bIns="0" rtlCol="0" anchor="t"/>
          <a:lstStyle/>
          <a:p>
            <a:pPr indent="0" marL="0">
              <a:buNone/>
            </a:pPr>
            <a:r>
              <a:rPr lang="en-US" sz="1000" dirty="0">
                <a:solidFill>
                  <a:srgbClr val="2E3A48"/>
                </a:solidFill>
                <a:latin typeface="Arial" pitchFamily="34" charset="0"/>
                <a:ea typeface="Arial" pitchFamily="34" charset="-122"/>
                <a:cs typeface="Arial" pitchFamily="34" charset="-120"/>
              </a:rPr>
              <a:t>Before each upgrade, rerun all checks and have a named owner approve it.</a:t>
            </a:r>
            <a:endParaRPr lang="en-US" sz="1000" dirty="0"/>
          </a:p>
        </p:txBody>
      </p:sp>
      <p:sp>
        <p:nvSpPr>
          <p:cNvPr id="85" name="Shape 76"/>
          <p:cNvSpPr/>
          <p:nvPr/>
        </p:nvSpPr>
        <p:spPr>
          <a:xfrm>
            <a:off x="7863840" y="5138928"/>
            <a:ext cx="3959352" cy="1152144"/>
          </a:xfrm>
          <a:prstGeom prst="roundRect">
            <a:avLst>
              <a:gd name="adj" fmla="val 9524"/>
            </a:avLst>
          </a:prstGeom>
          <a:solidFill>
            <a:srgbClr val="DDE8F7"/>
          </a:solidFill>
          <a:ln w="15875">
            <a:solidFill>
              <a:srgbClr val="243B53"/>
            </a:solidFill>
            <a:prstDash val="solid"/>
          </a:ln>
        </p:spPr>
      </p:sp>
      <p:pic>
        <p:nvPicPr>
          <p:cNvPr id="86" name="Image 7" descr="assets/icons/shield-check.png">    </p:cNvPr>
          <p:cNvPicPr>
            <a:picLocks noChangeAspect="1"/>
          </p:cNvPicPr>
          <p:nvPr/>
        </p:nvPicPr>
        <p:blipFill>
          <a:blip r:embed="rId8"/>
          <a:stretch>
            <a:fillRect/>
          </a:stretch>
        </p:blipFill>
        <p:spPr>
          <a:xfrm>
            <a:off x="8046720" y="5266944"/>
            <a:ext cx="310896" cy="310896"/>
          </a:xfrm>
          <a:prstGeom prst="rect">
            <a:avLst/>
          </a:prstGeom>
        </p:spPr>
      </p:pic>
      <p:sp>
        <p:nvSpPr>
          <p:cNvPr id="87" name="Text 77"/>
          <p:cNvSpPr/>
          <p:nvPr/>
        </p:nvSpPr>
        <p:spPr>
          <a:xfrm>
            <a:off x="8449056" y="5266944"/>
            <a:ext cx="3227832" cy="310896"/>
          </a:xfrm>
          <a:prstGeom prst="rect">
            <a:avLst/>
          </a:prstGeom>
          <a:noFill/>
          <a:ln/>
        </p:spPr>
        <p:txBody>
          <a:bodyPr wrap="square" lIns="0" tIns="0" rIns="0" bIns="0" rtlCol="0" anchor="ctr"/>
          <a:lstStyle/>
          <a:p>
            <a:pPr indent="0" marL="0">
              <a:buNone/>
            </a:pPr>
            <a:r>
              <a:rPr lang="en-US" sz="1500" b="1" dirty="0">
                <a:solidFill>
                  <a:srgbClr val="243B53"/>
                </a:solidFill>
                <a:latin typeface="Arial" pitchFamily="34" charset="0"/>
                <a:ea typeface="Arial" pitchFamily="34" charset="-122"/>
                <a:cs typeface="Arial" pitchFamily="34" charset="-120"/>
              </a:rPr>
              <a:t>Why It Matters for Defence</a:t>
            </a:r>
            <a:endParaRPr lang="en-US" sz="1500" dirty="0"/>
          </a:p>
        </p:txBody>
      </p:sp>
      <p:sp>
        <p:nvSpPr>
          <p:cNvPr id="88" name="Text 78"/>
          <p:cNvSpPr/>
          <p:nvPr/>
        </p:nvSpPr>
        <p:spPr>
          <a:xfrm>
            <a:off x="8046720" y="5632704"/>
            <a:ext cx="3593592" cy="585216"/>
          </a:xfrm>
          <a:prstGeom prst="rect">
            <a:avLst/>
          </a:prstGeom>
          <a:noFill/>
          <a:ln/>
        </p:spPr>
        <p:txBody>
          <a:bodyPr wrap="square" lIns="0" tIns="0" rIns="0" bIns="0" rtlCol="0" anchor="t"/>
          <a:lstStyle/>
          <a:p>
            <a:pPr indent="0" marL="0">
              <a:spcAft>
                <a:spcPts val="300"/>
              </a:spcAft>
              <a:buNone/>
            </a:pPr>
            <a:r>
              <a:rPr lang="en-US" sz="1000" dirty="0">
                <a:solidFill>
                  <a:srgbClr val="2E3A48"/>
                </a:solidFill>
                <a:latin typeface="Arial" pitchFamily="34" charset="0"/>
                <a:ea typeface="Arial" pitchFamily="34" charset="-122"/>
                <a:cs typeface="Arial" pitchFamily="34" charset="-120"/>
              </a:rPr>
              <a:t>DRDO lists AI perception, autonomous navigation and algorithm-validation simulation as UGV technology tasks.</a:t>
            </a:r>
            <a:endParaRPr lang="en-US" sz="1000" dirty="0"/>
          </a:p>
          <a:p>
            <a:pPr indent="0" marL="0">
              <a:spcAft>
                <a:spcPts val="300"/>
              </a:spcAft>
              <a:buNone/>
            </a:pPr>
            <a:r>
              <a:rPr lang="en-US" sz="1000" i="1" dirty="0">
                <a:solidFill>
                  <a:srgbClr val="4A5563"/>
                </a:solidFill>
                <a:latin typeface="Arial" pitchFamily="34" charset="0"/>
                <a:ea typeface="Arial" pitchFamily="34" charset="-122"/>
                <a:cs typeface="Arial" pitchFamily="34" charset="-120"/>
              </a:rPr>
              <a:t>Relevance only, not endorsement or procurement.</a:t>
            </a:r>
            <a:endParaRPr lang="en-US" sz="1000" dirty="0"/>
          </a:p>
        </p:txBody>
      </p:sp>
      <p:sp>
        <p:nvSpPr>
          <p:cNvPr id="89" name="Shape 79"/>
          <p:cNvSpPr/>
          <p:nvPr/>
        </p:nvSpPr>
        <p:spPr>
          <a:xfrm>
            <a:off x="365760" y="6519672"/>
            <a:ext cx="146304" cy="146304"/>
          </a:xfrm>
          <a:prstGeom prst="roundRect">
            <a:avLst>
              <a:gd name="adj" fmla="val 18750"/>
            </a:avLst>
          </a:prstGeom>
          <a:solidFill>
            <a:srgbClr val="2F6B52"/>
          </a:solidFill>
          <a:ln w="12700">
            <a:solidFill>
              <a:srgbClr val="2F6B52"/>
            </a:solidFill>
            <a:prstDash val="solid"/>
          </a:ln>
        </p:spPr>
      </p:sp>
      <p:sp>
        <p:nvSpPr>
          <p:cNvPr id="90" name="Text 80"/>
          <p:cNvSpPr/>
          <p:nvPr/>
        </p:nvSpPr>
        <p:spPr>
          <a:xfrm>
            <a:off x="566928" y="6492240"/>
            <a:ext cx="1166774" cy="201168"/>
          </a:xfrm>
          <a:prstGeom prst="rect">
            <a:avLst/>
          </a:prstGeom>
          <a:noFill/>
          <a:ln/>
        </p:spPr>
        <p:txBody>
          <a:bodyPr wrap="square" lIns="0" tIns="0" rIns="0" bIns="0" rtlCol="0" anchor="ctr"/>
          <a:lstStyle/>
          <a:p>
            <a:pPr indent="0" marL="0">
              <a:buNone/>
            </a:pPr>
            <a:r>
              <a:rPr lang="en-US" sz="900" dirty="0">
                <a:solidFill>
                  <a:srgbClr val="4A5563"/>
                </a:solidFill>
                <a:latin typeface="Arial" pitchFamily="34" charset="0"/>
                <a:ea typeface="Arial" pitchFamily="34" charset="-122"/>
                <a:cs typeface="Arial" pitchFamily="34" charset="-120"/>
              </a:rPr>
              <a:t>Proven / Measured</a:t>
            </a:r>
            <a:endParaRPr lang="en-US" sz="900" dirty="0"/>
          </a:p>
        </p:txBody>
      </p:sp>
      <p:sp>
        <p:nvSpPr>
          <p:cNvPr id="91" name="Shape 81"/>
          <p:cNvSpPr/>
          <p:nvPr/>
        </p:nvSpPr>
        <p:spPr>
          <a:xfrm>
            <a:off x="1916582" y="6519672"/>
            <a:ext cx="146304" cy="146304"/>
          </a:xfrm>
          <a:prstGeom prst="roundRect">
            <a:avLst>
              <a:gd name="adj" fmla="val 18750"/>
            </a:avLst>
          </a:prstGeom>
          <a:solidFill>
            <a:srgbClr val="2F5FA8"/>
          </a:solidFill>
          <a:ln w="12700">
            <a:solidFill>
              <a:srgbClr val="2F5FA8"/>
            </a:solidFill>
            <a:prstDash val="solid"/>
          </a:ln>
        </p:spPr>
      </p:sp>
      <p:sp>
        <p:nvSpPr>
          <p:cNvPr id="92" name="Text 82"/>
          <p:cNvSpPr/>
          <p:nvPr/>
        </p:nvSpPr>
        <p:spPr>
          <a:xfrm>
            <a:off x="2117750" y="6492240"/>
            <a:ext cx="607162" cy="201168"/>
          </a:xfrm>
          <a:prstGeom prst="rect">
            <a:avLst/>
          </a:prstGeom>
          <a:noFill/>
          <a:ln/>
        </p:spPr>
        <p:txBody>
          <a:bodyPr wrap="square" lIns="0" tIns="0" rIns="0" bIns="0" rtlCol="0" anchor="ctr"/>
          <a:lstStyle/>
          <a:p>
            <a:pPr indent="0" marL="0">
              <a:buNone/>
            </a:pPr>
            <a:r>
              <a:rPr lang="en-US" sz="900" dirty="0">
                <a:solidFill>
                  <a:srgbClr val="4A5563"/>
                </a:solidFill>
                <a:latin typeface="Arial" pitchFamily="34" charset="0"/>
                <a:ea typeface="Arial" pitchFamily="34" charset="-122"/>
                <a:cs typeface="Arial" pitchFamily="34" charset="-120"/>
              </a:rPr>
              <a:t>Proposed</a:t>
            </a:r>
            <a:endParaRPr lang="en-US" sz="900" dirty="0"/>
          </a:p>
        </p:txBody>
      </p:sp>
      <p:sp>
        <p:nvSpPr>
          <p:cNvPr id="93" name="Shape 83"/>
          <p:cNvSpPr/>
          <p:nvPr/>
        </p:nvSpPr>
        <p:spPr>
          <a:xfrm>
            <a:off x="2907792" y="6519672"/>
            <a:ext cx="146304" cy="146304"/>
          </a:xfrm>
          <a:prstGeom prst="roundRect">
            <a:avLst>
              <a:gd name="adj" fmla="val 18750"/>
            </a:avLst>
          </a:prstGeom>
          <a:solidFill>
            <a:srgbClr val="F6C98F"/>
          </a:solidFill>
          <a:ln w="12700">
            <a:solidFill>
              <a:srgbClr val="C8742F"/>
            </a:solidFill>
            <a:prstDash val="solid"/>
          </a:ln>
        </p:spPr>
      </p:sp>
      <p:sp>
        <p:nvSpPr>
          <p:cNvPr id="94" name="Text 84"/>
          <p:cNvSpPr/>
          <p:nvPr/>
        </p:nvSpPr>
        <p:spPr>
          <a:xfrm>
            <a:off x="3108960" y="6492240"/>
            <a:ext cx="1042416" cy="201168"/>
          </a:xfrm>
          <a:prstGeom prst="rect">
            <a:avLst/>
          </a:prstGeom>
          <a:noFill/>
          <a:ln/>
        </p:spPr>
        <p:txBody>
          <a:bodyPr wrap="square" lIns="0" tIns="0" rIns="0" bIns="0" rtlCol="0" anchor="ctr"/>
          <a:lstStyle/>
          <a:p>
            <a:pPr indent="0" marL="0">
              <a:buNone/>
            </a:pPr>
            <a:r>
              <a:rPr lang="en-US" sz="900" dirty="0">
                <a:solidFill>
                  <a:srgbClr val="4A5563"/>
                </a:solidFill>
                <a:latin typeface="Arial" pitchFamily="34" charset="0"/>
                <a:ea typeface="Arial" pitchFamily="34" charset="-122"/>
                <a:cs typeface="Arial" pitchFamily="34" charset="-120"/>
              </a:rPr>
              <a:t>Test / Validate</a:t>
            </a:r>
            <a:endParaRPr lang="en-US" sz="900" dirty="0"/>
          </a:p>
        </p:txBody>
      </p:sp>
      <p:sp>
        <p:nvSpPr>
          <p:cNvPr id="95" name="Text 85"/>
          <p:cNvSpPr/>
          <p:nvPr/>
        </p:nvSpPr>
        <p:spPr>
          <a:xfrm>
            <a:off x="4270248" y="6492240"/>
            <a:ext cx="3657600" cy="201168"/>
          </a:xfrm>
          <a:prstGeom prst="rect">
            <a:avLst/>
          </a:prstGeom>
          <a:noFill/>
          <a:ln/>
        </p:spPr>
        <p:txBody>
          <a:bodyPr wrap="square" lIns="0" tIns="0" rIns="0" bIns="0" rtlCol="0" anchor="ctr"/>
          <a:lstStyle/>
          <a:p>
            <a:pPr algn="ctr" indent="0" marL="0">
              <a:buNone/>
            </a:pPr>
            <a:r>
              <a:rPr lang="en-US" sz="900" spc="200" kern="0" dirty="0">
                <a:solidFill>
                  <a:srgbClr val="4A5563"/>
                </a:solidFill>
                <a:latin typeface="Arial" pitchFamily="34" charset="0"/>
                <a:ea typeface="Arial" pitchFamily="34" charset="-122"/>
                <a:cs typeface="Arial" pitchFamily="34" charset="-120"/>
              </a:rPr>
              <a:t>SMART INDIA HACKATHON 2026</a:t>
            </a:r>
            <a:endParaRPr lang="en-US" sz="900" dirty="0"/>
          </a:p>
        </p:txBody>
      </p:sp>
      <p:sp>
        <p:nvSpPr>
          <p:cNvPr id="96" name="Text 86"/>
          <p:cNvSpPr/>
          <p:nvPr/>
        </p:nvSpPr>
        <p:spPr>
          <a:xfrm>
            <a:off x="11365992" y="6464808"/>
            <a:ext cx="457200" cy="237744"/>
          </a:xfrm>
          <a:prstGeom prst="rect">
            <a:avLst/>
          </a:prstGeom>
          <a:noFill/>
          <a:ln/>
        </p:spPr>
        <p:txBody>
          <a:bodyPr wrap="square" lIns="0" tIns="0" rIns="0" bIns="0" rtlCol="0" anchor="ctr"/>
          <a:lstStyle/>
          <a:p>
            <a:pPr algn="r" indent="0" marL="0">
              <a:buNone/>
            </a:pPr>
            <a:r>
              <a:rPr lang="en-US" sz="1200" dirty="0">
                <a:solidFill>
                  <a:srgbClr val="243B53"/>
                </a:solidFill>
                <a:latin typeface="Comic Sans MS" pitchFamily="34" charset="0"/>
                <a:ea typeface="Comic Sans MS" pitchFamily="34" charset="-122"/>
                <a:cs typeface="Comic Sans MS" pitchFamily="34" charset="-120"/>
              </a:rPr>
              <a:t>4</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Feasibility and Viability</dc:title>
  <dc:subject>Drishti 2.5 - SIH26053</dc:subject>
  <dc:creator>AstroNex</dc:creator>
  <cp:lastModifiedBy>AstroNex</cp:lastModifiedBy>
  <cp:revision>1</cp:revision>
  <dcterms:created xsi:type="dcterms:W3CDTF">2026-09-29T09:31:28Z</dcterms:created>
  <dcterms:modified xsi:type="dcterms:W3CDTF">2026-09-29T09:31:28Z</dcterms:modified>
</cp:coreProperties>
</file>