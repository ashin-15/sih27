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SOLUTION - speaker notes
Main message: Drishti-2.5 turns each raw LiDAR scan into a compact, labelled 2.5D terrain map, sharp near the vehicle and lighter far away.
Say: "A LiDAR gives about 124 thousand 3D points every scan. That is too heavy to process at full detail, but flattening it into a 2D grid throws away the heights that reveal kerbs and ditches. Drishti-2.5 takes the middle path the problem statement asks for: a 2.5D map that keeps height and class in every cell, with 5 centimetre cells close to the vehicle and 50 centimetre cells out to 100 metres, like human foveated vision. It separates ground, labels every point with a deep network, builds the adaptive grid and groups obstacles. Two design rules matter: every point goes to exactly one cell, so nothing is lost or double counted where rings meet, and anything the system is unsure about stays marked unknown."
Evidence
- Problem and suggested 5 cm / 10 m and 50 cm / 100 m cells: SIH26053 problem statement (DRDO).
- ~124k points per scan: measured mean 123,558 accepted points over 20 SemanticKITTI sequence 08 scans (docs/research/experiments/0031-adaptive-vs-uniform-grid.md).
- Rings 5/10/50 cm to 10/25/100 m: Drishti-2.5/configs/default.toml.
- Exactly-one-cell ownership, unknown never turned into a class: Drishti-2.5 contracts (docs/interfaces.md) and unit tests (87 passed, docs/testing.md).
- Obstacle candidates and track IDs: experiments 0028 and 0030. Velocity is not estimated.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APPROACH - speaker notes
Main message: one shared pipeline carries a raw scan to a labelled 2.5D map and obstacle evidence, and every stage is already running and measured.
Say: "A scan comes in with its timestamp and pose, and invalid points are rejected. Patchwork++, a published ground-segmentation method, splits ground from everything above it. FRNet, a published LiDAR segmentation network, labels every point with one of 19 classes; anything it cannot classify stays unknown. The adaptive grid then puts every point into exactly one cell using integer indices, so rings never overlap. Labelled points are grouped into obstacles, and vehicles and people keep an ID across frames. Out comes a read-only map snapshot and a colour-coded 3D view. Everything runs offline on a laptop CPU today. The geometry path takes a median 83 milliseconds per scan; the neural network takes about 7 seconds on CPU, so real-time use needs a GPU. We have coded a GPU path but not yet validated it on NVIDIA hardware."
Evidence
- Patchwork++: Lee, Lim, Myung, IROS 2022, https://arxiv.org/abs/2207.11919 ; code https://github.com/url-kaist/patchwork-plusplus
- FRNet: IEEE Transactions on Image Processing 2025, Apache-2.0 code and SemanticKITTI weights, https://github.com/Xiangxu-0103/FRNet ; checkpoint pinned by SHA-256 (experiment 0025).
- Cell fields: Drishti-2.5/src/drishti/mapping.py (MapSnapshot).
- Geometry path median 83.13 ms over 1,000 sequence 08 scans, geometric mode without the model (E-044, experiment 0019). 28 of 1,000 scans exceeded 100 ms.
- FRNet CPU p50 7,177 ms per scan (E-052, experiment 0026).
- CUDA path integrated with no GPU parity or timing result (docs/open-items.md, O-001).
- ROS 2 PointCloud2 carries point fields, timestamp and frame ID: https://raw.githubusercontent.com/ros2/common_interfaces/rolling/sensor_msgs/msg/PointCloud2.msg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AND VIABILITY - speaker notes
Main message: the prototype already runs on real data with open tools; the remaining steps to the field are named, measurable and in order.
Say: "Is it practical? Technically, yes: every stage runs end to end on real LiDAR data today. On all 4,071 scans of the standard held-out sequence, the labelling scores 67.55 percent mIoU, close to the 68.7 percent the FRNet authors report. Operationally, it needs no network. It is strongest near the vehicle, 69 percent within 20 metres, and weak beyond 50 metres, which is why the grid is coarse there and why field trials come next. Economically, the prototype needs only a laptop and open software, and the adaptive grid stored 33.6 percent less map data per scan than a uniform 5 centimetre grid. Ring sizes and sensors are configuration, and every result is hashed and repeatable. We are between prototype and validation. The next gates are GPU timing, live sensor input and field trials in dust, rain and rough terrain."
Evidence
- 67.55% mIoU (0.6754690443) and 92.28% labelled accuracy, 4,071 sequence 08 scans, official evaluator (E-051, experiment 0025). The run joins a 793-scan prefix and a 3,278-scan continuation.
- FRNet authors report 68.7% SemanticKITTI validation mIoU under their conditions: https://github.com/Xiangxu-0103/FRNet
- Sequence 08 is the official validation split: semantic-kitti-api config/semantic-kitti.yaml, https://github.com/PRBonn/semantic-kitti-api
- Range results 69.1% (0-20 m), 54.3% (20-50 m), 15.7% (50 m+): experiment 0025.
- 33.6% fewer cells and snapshot bytes than uniform 5 cm, 20 scans, single frame, logical payload (E-058, experiment 0031).
- ~31x fewer cells at full 100 m coverage is a design calculation (12,566,371 vs 408,407 cells), not a measurement.
- SemanticKITTI is CC BY-NC-SA (non-commercial): https://semantic-kitti.org/dataset.html
- 87 tests passed, locked uv.lock, checkpoint SHA-256: docs/testing.md, experiment 0025.
- DRDO VRDE UGV tasks include "AI Based Perception for Autonomous Driving" and "Simulation software for AI algorithms validation": https://drdo.gov.in/drdo/en/offerings/technology-foresight/ugv (checked 2026-09-29).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AND BENEFITS - speaker notes
Main message: if Drishti-2.5 works in the field, six groups gain: lower cost and compute, lower energy use, indigenous capability, field operators, researchers and civilian mobility.
Say: "What changes if this works? Economically, the adaptive grid already stores 33.6 percent less map data per scan than a uniform 5 centimetre grid, which points toward cheaper embedded computers, though we still have to validate that on hardware. Less compute can also mean less power and longer battery life; we have not measured that yet, and the slide says so in italics. Strategically, it is a team-owned pipeline that Indian engineers can audit and retrain, aligned with the AI perception and validation tasks DRDO's VRDE lists for unmanned ground vehicles. For field operators, 5 centimetre cells near the vehicle keep the height detail where kerbs, mounds and trenches appear, and uncertain cells are flagged rather than shown as safe. Researchers get a reusable mapping core with repeatable, hashed evaluation. And the same approach applies to civilian vehicles: we have tested it on real urban driving scans. Anything in italics still needs field or hardware validation."
Evidence
- 33.6% less map data per scan: E-058, docs/research/experiments/0031-adaptive-vs-uniform-grid.md (20 sequence 08 scans, single-frame logical payload).
- 5 cm cells within 10 m: Drishti-2.5/configs/default.toml.
- Per-cell ground height, obstacle height span, class evidence and ambiguity flags: Drishti-2.5/src/drishti/mapping.py.
- Runs offline with local models: Drishti-2.5/src/drishti/learned.py; E-052.
- Hashed runs and official scoring: experiment 0025 (checkpoint SHA-256, pinned official SemanticKITTI evaluator).
- Urban driving data: SemanticKITTI is built on KITTI odometry driving sequences, https://semantic-kitti.org/dataset.html
- VRDE UGV tasks "AI Based Perception for Autonomous Driving" and "Simulation software for AI algorithms validation": https://drdo.gov.in/drdo/en/offerings/technology-foresight/ugv
- NOT measured: power draw, battery time, embedded hardware cost, vehicle damage, operator workload, mine detection. Mines are deliberately not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4F2"/>
        </a:solidFill>
      </p:bgPr>
    </p:bg>
    <p:spTree>
      <p:nvGrpSpPr>
        <p:cNvPr id="1" name=""/>
        <p:cNvGrpSpPr/>
        <p:nvPr/>
      </p:nvGrpSpPr>
      <p:grpSpPr>
        <a:xfrm>
          <a:off x="0" y="0"/>
          <a:ext cx="0" cy="0"/>
          <a:chOff x="0" y="0"/>
          <a:chExt cx="0" cy="0"/>
        </a:xfrm>
      </p:grpSpPr>
      <p:sp>
        <p:nvSpPr>
          <p:cNvPr id="2" name="Text 0"/>
          <p:cNvSpPr/>
          <p:nvPr/>
        </p:nvSpPr>
        <p:spPr>
          <a:xfrm>
            <a:off x="365760" y="256032"/>
            <a:ext cx="1828800" cy="274320"/>
          </a:xfrm>
          <a:prstGeom prst="rect">
            <a:avLst/>
          </a:prstGeom>
          <a:noFill/>
          <a:ln/>
        </p:spPr>
        <p:txBody>
          <a:bodyPr wrap="square" lIns="0" tIns="0" rIns="0" bIns="0" rtlCol="0" anchor="t"/>
          <a:lstStyle/>
          <a:p>
            <a:pPr indent="0" marL="0">
              <a:buNone/>
            </a:pPr>
            <a:r>
              <a:rPr lang="en-US" sz="1300" dirty="0">
                <a:solidFill>
                  <a:srgbClr val="243B53"/>
                </a:solidFill>
                <a:latin typeface="Comic Sans MS" pitchFamily="34" charset="0"/>
                <a:ea typeface="Comic Sans MS" pitchFamily="34" charset="-122"/>
                <a:cs typeface="Comic Sans MS" pitchFamily="34" charset="-120"/>
              </a:rPr>
              <a:t>AstroNex</a:t>
            </a:r>
            <a:endParaRPr lang="en-US" sz="1300" dirty="0"/>
          </a:p>
        </p:txBody>
      </p:sp>
      <p:sp>
        <p:nvSpPr>
          <p:cNvPr id="3" name="Text 1"/>
          <p:cNvSpPr/>
          <p:nvPr/>
        </p:nvSpPr>
        <p:spPr>
          <a:xfrm>
            <a:off x="2194560" y="128016"/>
            <a:ext cx="7799832" cy="566928"/>
          </a:xfrm>
          <a:prstGeom prst="rect">
            <a:avLst/>
          </a:prstGeom>
          <a:noFill/>
          <a:ln/>
        </p:spPr>
        <p:txBody>
          <a:bodyPr wrap="square" lIns="0" tIns="0" rIns="0" bIns="0" rtlCol="0" anchor="ctr"/>
          <a:lstStyle/>
          <a:p>
            <a:pPr algn="ctr" indent="0" marL="0">
              <a:buNone/>
            </a:pPr>
            <a:r>
              <a:rPr lang="en-US" sz="3200" b="1" dirty="0">
                <a:solidFill>
                  <a:srgbClr val="243B53"/>
                </a:solidFill>
                <a:latin typeface="Comic Sans MS" pitchFamily="34" charset="0"/>
                <a:ea typeface="Comic Sans MS" pitchFamily="34" charset="-122"/>
                <a:cs typeface="Comic Sans MS" pitchFamily="34" charset="-120"/>
              </a:rPr>
              <a:t>PROPOSED SOLUTION</a:t>
            </a:r>
            <a:endParaRPr lang="en-US" sz="3200" dirty="0"/>
          </a:p>
        </p:txBody>
      </p:sp>
      <p:sp>
        <p:nvSpPr>
          <p:cNvPr id="4" name="Text 2"/>
          <p:cNvSpPr/>
          <p:nvPr/>
        </p:nvSpPr>
        <p:spPr>
          <a:xfrm>
            <a:off x="2194560" y="694944"/>
            <a:ext cx="7799832" cy="274320"/>
          </a:xfrm>
          <a:prstGeom prst="rect">
            <a:avLst/>
          </a:prstGeom>
          <a:noFill/>
          <a:ln/>
        </p:spPr>
        <p:txBody>
          <a:bodyPr wrap="square" lIns="0" tIns="0" rIns="0" bIns="0" rtlCol="0" anchor="t"/>
          <a:lstStyle/>
          <a:p>
            <a:pPr algn="ctr" indent="0" marL="0">
              <a:buNone/>
            </a:pPr>
            <a:r>
              <a:rPr lang="en-US" sz="1400" i="1" dirty="0">
                <a:solidFill>
                  <a:srgbClr val="2F6B52"/>
                </a:solidFill>
                <a:latin typeface="Arial" pitchFamily="34" charset="0"/>
                <a:ea typeface="Arial" pitchFamily="34" charset="-122"/>
                <a:cs typeface="Arial" pitchFamily="34" charset="-120"/>
              </a:rPr>
              <a:t>Foveated 2.5D LiDAR mapping for autonomous ground vehicles</a:t>
            </a:r>
            <a:endParaRPr lang="en-US" sz="1400" dirty="0"/>
          </a:p>
        </p:txBody>
      </p:sp>
      <p:pic>
        <p:nvPicPr>
          <p:cNvPr id="5" name="Image 0" descr="assets/sih-2026-logo.png">    </p:cNvPr>
          <p:cNvPicPr>
            <a:picLocks noChangeAspect="1"/>
          </p:cNvPicPr>
          <p:nvPr/>
        </p:nvPicPr>
        <p:blipFill>
          <a:blip r:embed="rId1"/>
          <a:stretch>
            <a:fillRect/>
          </a:stretch>
        </p:blipFill>
        <p:spPr>
          <a:xfrm>
            <a:off x="10451592" y="146304"/>
            <a:ext cx="1371600" cy="637337"/>
          </a:xfrm>
          <a:prstGeom prst="rect">
            <a:avLst/>
          </a:prstGeom>
        </p:spPr>
      </p:pic>
      <p:sp>
        <p:nvSpPr>
          <p:cNvPr id="6" name="Shape 3"/>
          <p:cNvSpPr/>
          <p:nvPr/>
        </p:nvSpPr>
        <p:spPr>
          <a:xfrm>
            <a:off x="365760" y="1097280"/>
            <a:ext cx="3246120" cy="914400"/>
          </a:xfrm>
          <a:prstGeom prst="roundRect">
            <a:avLst>
              <a:gd name="adj" fmla="val 12000"/>
            </a:avLst>
          </a:prstGeom>
          <a:solidFill>
            <a:srgbClr val="FBEDED"/>
          </a:solidFill>
          <a:ln w="15875">
            <a:solidFill>
              <a:srgbClr val="B84747"/>
            </a:solidFill>
            <a:prstDash val="solid"/>
          </a:ln>
        </p:spPr>
      </p:sp>
      <p:sp>
        <p:nvSpPr>
          <p:cNvPr id="7" name="Text 4"/>
          <p:cNvSpPr/>
          <p:nvPr/>
        </p:nvSpPr>
        <p:spPr>
          <a:xfrm>
            <a:off x="548640" y="1188720"/>
            <a:ext cx="2926080" cy="219456"/>
          </a:xfrm>
          <a:prstGeom prst="rect">
            <a:avLst/>
          </a:prstGeom>
          <a:noFill/>
          <a:ln/>
        </p:spPr>
        <p:txBody>
          <a:bodyPr wrap="square" lIns="0" tIns="0" rIns="0" bIns="0" rtlCol="0" anchor="t"/>
          <a:lstStyle/>
          <a:p>
            <a:pPr indent="0" marL="0">
              <a:buNone/>
            </a:pPr>
            <a:r>
              <a:rPr lang="en-US" sz="1000" b="1" spc="100" kern="0" dirty="0">
                <a:solidFill>
                  <a:srgbClr val="B84747"/>
                </a:solidFill>
                <a:latin typeface="Arial" pitchFamily="34" charset="0"/>
                <a:ea typeface="Arial" pitchFamily="34" charset="-122"/>
                <a:cs typeface="Arial" pitchFamily="34" charset="-120"/>
              </a:rPr>
              <a:t>THE PROBLEM</a:t>
            </a:r>
            <a:endParaRPr lang="en-US" sz="1000" dirty="0"/>
          </a:p>
        </p:txBody>
      </p:sp>
      <p:sp>
        <p:nvSpPr>
          <p:cNvPr id="8" name="Text 5"/>
          <p:cNvSpPr/>
          <p:nvPr/>
        </p:nvSpPr>
        <p:spPr>
          <a:xfrm>
            <a:off x="548640" y="1417320"/>
            <a:ext cx="2926080" cy="548640"/>
          </a:xfrm>
          <a:prstGeom prst="rect">
            <a:avLst/>
          </a:prstGeom>
          <a:noFill/>
          <a:ln/>
        </p:spPr>
        <p:txBody>
          <a:bodyPr wrap="square" lIns="0" tIns="0" rIns="0" bIns="0" rtlCol="0" anchor="t"/>
          <a:lstStyle/>
          <a:p>
            <a:pPr indent="0" marL="0">
              <a:buNone/>
            </a:pPr>
            <a:r>
              <a:rPr lang="en-US" sz="1100" dirty="0">
                <a:solidFill>
                  <a:srgbClr val="2E3A48"/>
                </a:solidFill>
                <a:latin typeface="Arial" pitchFamily="34" charset="0"/>
                <a:ea typeface="Arial" pitchFamily="34" charset="-122"/>
                <a:cs typeface="Arial" pitchFamily="34" charset="-120"/>
              </a:rPr>
              <a:t>3D point clouds are too heavy for real time. Flat 2D grids lose kerbs, ditches and overhangs.</a:t>
            </a:r>
            <a:endParaRPr lang="en-US" sz="1100" dirty="0"/>
          </a:p>
        </p:txBody>
      </p:sp>
      <p:sp>
        <p:nvSpPr>
          <p:cNvPr id="9" name="Shape 6"/>
          <p:cNvSpPr/>
          <p:nvPr/>
        </p:nvSpPr>
        <p:spPr>
          <a:xfrm>
            <a:off x="3794760" y="1097280"/>
            <a:ext cx="8031175" cy="914400"/>
          </a:xfrm>
          <a:prstGeom prst="roundRect">
            <a:avLst>
              <a:gd name="adj" fmla="val 12000"/>
            </a:avLst>
          </a:prstGeom>
          <a:solidFill>
            <a:srgbClr val="FFFFFF"/>
          </a:solidFill>
          <a:ln w="22225">
            <a:solidFill>
              <a:srgbClr val="243B53"/>
            </a:solidFill>
            <a:prstDash val="solid"/>
          </a:ln>
        </p:spPr>
      </p:sp>
      <p:sp>
        <p:nvSpPr>
          <p:cNvPr id="10" name="Text 7"/>
          <p:cNvSpPr/>
          <p:nvPr/>
        </p:nvSpPr>
        <p:spPr>
          <a:xfrm>
            <a:off x="3977640" y="1188720"/>
            <a:ext cx="2743200" cy="219456"/>
          </a:xfrm>
          <a:prstGeom prst="rect">
            <a:avLst/>
          </a:prstGeom>
          <a:noFill/>
          <a:ln/>
        </p:spPr>
        <p:txBody>
          <a:bodyPr wrap="square" lIns="0" tIns="0" rIns="0" bIns="0" rtlCol="0" anchor="t"/>
          <a:lstStyle/>
          <a:p>
            <a:pPr indent="0" marL="0">
              <a:buNone/>
            </a:pPr>
            <a:r>
              <a:rPr lang="en-US" sz="1000" b="1" spc="100" kern="0" dirty="0">
                <a:solidFill>
                  <a:srgbClr val="2F6B52"/>
                </a:solidFill>
                <a:latin typeface="Arial" pitchFamily="34" charset="0"/>
                <a:ea typeface="Arial" pitchFamily="34" charset="-122"/>
                <a:cs typeface="Arial" pitchFamily="34" charset="-120"/>
              </a:rPr>
              <a:t>OUR SOLUTION</a:t>
            </a:r>
            <a:endParaRPr lang="en-US" sz="1000" dirty="0"/>
          </a:p>
        </p:txBody>
      </p:sp>
      <p:sp>
        <p:nvSpPr>
          <p:cNvPr id="11" name="Text 8"/>
          <p:cNvSpPr/>
          <p:nvPr/>
        </p:nvSpPr>
        <p:spPr>
          <a:xfrm>
            <a:off x="3977640" y="1417320"/>
            <a:ext cx="7665415" cy="548640"/>
          </a:xfrm>
          <a:prstGeom prst="rect">
            <a:avLst/>
          </a:prstGeom>
          <a:noFill/>
          <a:ln/>
        </p:spPr>
        <p:txBody>
          <a:bodyPr wrap="square" lIns="0" tIns="0" rIns="0" bIns="0" rtlCol="0" anchor="t"/>
          <a:lstStyle/>
          <a:p>
            <a:pPr indent="0" marL="0">
              <a:buNone/>
            </a:pPr>
            <a:r>
              <a:rPr lang="en-US" sz="1500" b="1" dirty="0">
                <a:solidFill>
                  <a:srgbClr val="243B53"/>
                </a:solidFill>
                <a:latin typeface="Arial" pitchFamily="34" charset="0"/>
                <a:ea typeface="Arial" pitchFamily="34" charset="-122"/>
                <a:cs typeface="Arial" pitchFamily="34" charset="-120"/>
              </a:rPr>
              <a:t>Drishti-2.5 turns every raw LiDAR scan into a compact, labelled 2.5D terrain map</a:t>
            </a:r>
            <a:pPr indent="0" marL="0">
              <a:buNone/>
            </a:pPr>
            <a:r>
              <a:rPr lang="en-US" sz="1500" dirty="0">
                <a:solidFill>
                  <a:srgbClr val="2E3A48"/>
                </a:solidFill>
                <a:latin typeface="Arial" pitchFamily="34" charset="0"/>
                <a:ea typeface="Arial" pitchFamily="34" charset="-122"/>
                <a:cs typeface="Arial" pitchFamily="34" charset="-120"/>
              </a:rPr>
              <a:t> - sharp near the vehicle, lighter far away.</a:t>
            </a:r>
            <a:endParaRPr lang="en-US" sz="1500" dirty="0"/>
          </a:p>
        </p:txBody>
      </p:sp>
      <p:sp>
        <p:nvSpPr>
          <p:cNvPr id="12" name="Shape 9"/>
          <p:cNvSpPr/>
          <p:nvPr/>
        </p:nvSpPr>
        <p:spPr>
          <a:xfrm>
            <a:off x="365760" y="2212848"/>
            <a:ext cx="3017520" cy="2103120"/>
          </a:xfrm>
          <a:prstGeom prst="roundRect">
            <a:avLst>
              <a:gd name="adj" fmla="val 5217"/>
            </a:avLst>
          </a:prstGeom>
          <a:solidFill>
            <a:srgbClr val="DDE8F7"/>
          </a:solidFill>
          <a:ln w="15875">
            <a:solidFill>
              <a:srgbClr val="243B53"/>
            </a:solidFill>
            <a:prstDash val="solid"/>
          </a:ln>
        </p:spPr>
      </p:sp>
      <p:sp>
        <p:nvSpPr>
          <p:cNvPr id="13" name="Text 10"/>
          <p:cNvSpPr/>
          <p:nvPr/>
        </p:nvSpPr>
        <p:spPr>
          <a:xfrm>
            <a:off x="365760" y="2322576"/>
            <a:ext cx="3017520" cy="256032"/>
          </a:xfrm>
          <a:prstGeom prst="rect">
            <a:avLst/>
          </a:prstGeom>
          <a:noFill/>
          <a:ln/>
        </p:spPr>
        <p:txBody>
          <a:bodyPr wrap="square" lIns="0" tIns="0" rIns="0" bIns="0" rtlCol="0" anchor="t"/>
          <a:lstStyle/>
          <a:p>
            <a:pPr algn="ctr" indent="0" marL="0">
              <a:buNone/>
            </a:pPr>
            <a:r>
              <a:rPr lang="en-US" sz="1200" b="1" dirty="0">
                <a:solidFill>
                  <a:srgbClr val="243B53"/>
                </a:solidFill>
                <a:latin typeface="Comic Sans MS" pitchFamily="34" charset="0"/>
                <a:ea typeface="Comic Sans MS" pitchFamily="34" charset="-122"/>
                <a:cs typeface="Comic Sans MS" pitchFamily="34" charset="-120"/>
              </a:rPr>
              <a:t>RAW LIDAR SCAN</a:t>
            </a:r>
            <a:endParaRPr lang="en-US" sz="1200" dirty="0"/>
          </a:p>
        </p:txBody>
      </p:sp>
      <p:sp>
        <p:nvSpPr>
          <p:cNvPr id="14" name="Shape 11"/>
          <p:cNvSpPr/>
          <p:nvPr/>
        </p:nvSpPr>
        <p:spPr>
          <a:xfrm>
            <a:off x="932377" y="3229649"/>
            <a:ext cx="44243" cy="44243"/>
          </a:xfrm>
          <a:prstGeom prst="ellipse">
            <a:avLst/>
          </a:prstGeom>
          <a:solidFill>
            <a:srgbClr val="7A93B8"/>
          </a:solidFill>
          <a:ln w="12700">
            <a:solidFill>
              <a:srgbClr val="F4F4F2"/>
            </a:solidFill>
            <a:prstDash val="solid"/>
          </a:ln>
        </p:spPr>
      </p:sp>
      <p:sp>
        <p:nvSpPr>
          <p:cNvPr id="15" name="Shape 12"/>
          <p:cNvSpPr/>
          <p:nvPr/>
        </p:nvSpPr>
        <p:spPr>
          <a:xfrm>
            <a:off x="1957333" y="2791368"/>
            <a:ext cx="45672" cy="45672"/>
          </a:xfrm>
          <a:prstGeom prst="ellipse">
            <a:avLst/>
          </a:prstGeom>
          <a:solidFill>
            <a:srgbClr val="7A93B8"/>
          </a:solidFill>
          <a:ln w="12700">
            <a:solidFill>
              <a:srgbClr val="F4F4F2"/>
            </a:solidFill>
            <a:prstDash val="solid"/>
          </a:ln>
        </p:spPr>
      </p:sp>
      <p:sp>
        <p:nvSpPr>
          <p:cNvPr id="16" name="Shape 13"/>
          <p:cNvSpPr/>
          <p:nvPr/>
        </p:nvSpPr>
        <p:spPr>
          <a:xfrm>
            <a:off x="1681078" y="3380586"/>
            <a:ext cx="44917" cy="44917"/>
          </a:xfrm>
          <a:prstGeom prst="ellipse">
            <a:avLst/>
          </a:prstGeom>
          <a:solidFill>
            <a:srgbClr val="243B53"/>
          </a:solidFill>
          <a:ln w="12700">
            <a:solidFill>
              <a:srgbClr val="F4F4F2"/>
            </a:solidFill>
            <a:prstDash val="solid"/>
          </a:ln>
        </p:spPr>
      </p:sp>
      <p:sp>
        <p:nvSpPr>
          <p:cNvPr id="17" name="Shape 14"/>
          <p:cNvSpPr/>
          <p:nvPr/>
        </p:nvSpPr>
        <p:spPr>
          <a:xfrm>
            <a:off x="2730827" y="3413710"/>
            <a:ext cx="44619" cy="44619"/>
          </a:xfrm>
          <a:prstGeom prst="ellipse">
            <a:avLst/>
          </a:prstGeom>
          <a:solidFill>
            <a:srgbClr val="7A93B8"/>
          </a:solidFill>
          <a:ln w="12700">
            <a:solidFill>
              <a:srgbClr val="F4F4F2"/>
            </a:solidFill>
            <a:prstDash val="solid"/>
          </a:ln>
        </p:spPr>
      </p:sp>
      <p:sp>
        <p:nvSpPr>
          <p:cNvPr id="18" name="Shape 15"/>
          <p:cNvSpPr/>
          <p:nvPr/>
        </p:nvSpPr>
        <p:spPr>
          <a:xfrm>
            <a:off x="2156640" y="2929825"/>
            <a:ext cx="42519" cy="42519"/>
          </a:xfrm>
          <a:prstGeom prst="ellipse">
            <a:avLst/>
          </a:prstGeom>
          <a:solidFill>
            <a:srgbClr val="2F5FA8"/>
          </a:solidFill>
          <a:ln w="12700">
            <a:solidFill>
              <a:srgbClr val="F4F4F2"/>
            </a:solidFill>
            <a:prstDash val="solid"/>
          </a:ln>
        </p:spPr>
      </p:sp>
      <p:sp>
        <p:nvSpPr>
          <p:cNvPr id="19" name="Shape 16"/>
          <p:cNvSpPr/>
          <p:nvPr/>
        </p:nvSpPr>
        <p:spPr>
          <a:xfrm>
            <a:off x="2087515" y="3220705"/>
            <a:ext cx="28876" cy="28876"/>
          </a:xfrm>
          <a:prstGeom prst="ellipse">
            <a:avLst/>
          </a:prstGeom>
          <a:solidFill>
            <a:srgbClr val="243B53"/>
          </a:solidFill>
          <a:ln w="12700">
            <a:solidFill>
              <a:srgbClr val="F4F4F2"/>
            </a:solidFill>
            <a:prstDash val="solid"/>
          </a:ln>
        </p:spPr>
      </p:sp>
      <p:sp>
        <p:nvSpPr>
          <p:cNvPr id="20" name="Shape 17"/>
          <p:cNvSpPr/>
          <p:nvPr/>
        </p:nvSpPr>
        <p:spPr>
          <a:xfrm>
            <a:off x="997926" y="3623553"/>
            <a:ext cx="36670" cy="36670"/>
          </a:xfrm>
          <a:prstGeom prst="ellipse">
            <a:avLst/>
          </a:prstGeom>
          <a:solidFill>
            <a:srgbClr val="7A93B8"/>
          </a:solidFill>
          <a:ln w="12700">
            <a:solidFill>
              <a:srgbClr val="F4F4F2"/>
            </a:solidFill>
            <a:prstDash val="solid"/>
          </a:ln>
        </p:spPr>
      </p:sp>
      <p:sp>
        <p:nvSpPr>
          <p:cNvPr id="21" name="Shape 18"/>
          <p:cNvSpPr/>
          <p:nvPr/>
        </p:nvSpPr>
        <p:spPr>
          <a:xfrm>
            <a:off x="1618475" y="3579644"/>
            <a:ext cx="35318" cy="35318"/>
          </a:xfrm>
          <a:prstGeom prst="ellipse">
            <a:avLst/>
          </a:prstGeom>
          <a:solidFill>
            <a:srgbClr val="2F5FA8"/>
          </a:solidFill>
          <a:ln w="12700">
            <a:solidFill>
              <a:srgbClr val="F4F4F2"/>
            </a:solidFill>
            <a:prstDash val="solid"/>
          </a:ln>
        </p:spPr>
      </p:sp>
      <p:sp>
        <p:nvSpPr>
          <p:cNvPr id="22" name="Shape 19"/>
          <p:cNvSpPr/>
          <p:nvPr/>
        </p:nvSpPr>
        <p:spPr>
          <a:xfrm>
            <a:off x="1304887" y="3791772"/>
            <a:ext cx="28372" cy="28372"/>
          </a:xfrm>
          <a:prstGeom prst="ellipse">
            <a:avLst/>
          </a:prstGeom>
          <a:solidFill>
            <a:srgbClr val="7A93B8"/>
          </a:solidFill>
          <a:ln w="12700">
            <a:solidFill>
              <a:srgbClr val="F4F4F2"/>
            </a:solidFill>
            <a:prstDash val="solid"/>
          </a:ln>
        </p:spPr>
      </p:sp>
      <p:sp>
        <p:nvSpPr>
          <p:cNvPr id="23" name="Shape 20"/>
          <p:cNvSpPr/>
          <p:nvPr/>
        </p:nvSpPr>
        <p:spPr>
          <a:xfrm>
            <a:off x="863313" y="3465752"/>
            <a:ext cx="38432" cy="38432"/>
          </a:xfrm>
          <a:prstGeom prst="ellipse">
            <a:avLst/>
          </a:prstGeom>
          <a:solidFill>
            <a:srgbClr val="7A93B8"/>
          </a:solidFill>
          <a:ln w="12700">
            <a:solidFill>
              <a:srgbClr val="F4F4F2"/>
            </a:solidFill>
            <a:prstDash val="solid"/>
          </a:ln>
        </p:spPr>
      </p:sp>
      <p:sp>
        <p:nvSpPr>
          <p:cNvPr id="24" name="Shape 21"/>
          <p:cNvSpPr/>
          <p:nvPr/>
        </p:nvSpPr>
        <p:spPr>
          <a:xfrm>
            <a:off x="1790267" y="2972544"/>
            <a:ext cx="45771" cy="45771"/>
          </a:xfrm>
          <a:prstGeom prst="ellipse">
            <a:avLst/>
          </a:prstGeom>
          <a:solidFill>
            <a:srgbClr val="2F5FA8"/>
          </a:solidFill>
          <a:ln w="12700">
            <a:solidFill>
              <a:srgbClr val="F4F4F2"/>
            </a:solidFill>
            <a:prstDash val="solid"/>
          </a:ln>
        </p:spPr>
      </p:sp>
      <p:sp>
        <p:nvSpPr>
          <p:cNvPr id="25" name="Shape 22"/>
          <p:cNvSpPr/>
          <p:nvPr/>
        </p:nvSpPr>
        <p:spPr>
          <a:xfrm>
            <a:off x="1525527" y="3388478"/>
            <a:ext cx="29504" cy="29504"/>
          </a:xfrm>
          <a:prstGeom prst="ellipse">
            <a:avLst/>
          </a:prstGeom>
          <a:solidFill>
            <a:srgbClr val="243B53"/>
          </a:solidFill>
          <a:ln w="12700">
            <a:solidFill>
              <a:srgbClr val="F4F4F2"/>
            </a:solidFill>
            <a:prstDash val="solid"/>
          </a:ln>
        </p:spPr>
      </p:sp>
      <p:sp>
        <p:nvSpPr>
          <p:cNvPr id="26" name="Shape 23"/>
          <p:cNvSpPr/>
          <p:nvPr/>
        </p:nvSpPr>
        <p:spPr>
          <a:xfrm>
            <a:off x="1013317" y="3511134"/>
            <a:ext cx="42505" cy="42505"/>
          </a:xfrm>
          <a:prstGeom prst="ellipse">
            <a:avLst/>
          </a:prstGeom>
          <a:solidFill>
            <a:srgbClr val="7A93B8"/>
          </a:solidFill>
          <a:ln w="12700">
            <a:solidFill>
              <a:srgbClr val="F4F4F2"/>
            </a:solidFill>
            <a:prstDash val="solid"/>
          </a:ln>
        </p:spPr>
      </p:sp>
      <p:sp>
        <p:nvSpPr>
          <p:cNvPr id="27" name="Shape 24"/>
          <p:cNvSpPr/>
          <p:nvPr/>
        </p:nvSpPr>
        <p:spPr>
          <a:xfrm>
            <a:off x="1376160" y="3027315"/>
            <a:ext cx="46447" cy="46447"/>
          </a:xfrm>
          <a:prstGeom prst="ellipse">
            <a:avLst/>
          </a:prstGeom>
          <a:solidFill>
            <a:srgbClr val="2F5FA8"/>
          </a:solidFill>
          <a:ln w="12700">
            <a:solidFill>
              <a:srgbClr val="F4F4F2"/>
            </a:solidFill>
            <a:prstDash val="solid"/>
          </a:ln>
        </p:spPr>
      </p:sp>
      <p:sp>
        <p:nvSpPr>
          <p:cNvPr id="28" name="Shape 25"/>
          <p:cNvSpPr/>
          <p:nvPr/>
        </p:nvSpPr>
        <p:spPr>
          <a:xfrm>
            <a:off x="1943478" y="3406144"/>
            <a:ext cx="40619" cy="40619"/>
          </a:xfrm>
          <a:prstGeom prst="ellipse">
            <a:avLst/>
          </a:prstGeom>
          <a:solidFill>
            <a:srgbClr val="243B53"/>
          </a:solidFill>
          <a:ln w="12700">
            <a:solidFill>
              <a:srgbClr val="F4F4F2"/>
            </a:solidFill>
            <a:prstDash val="solid"/>
          </a:ln>
        </p:spPr>
      </p:sp>
      <p:sp>
        <p:nvSpPr>
          <p:cNvPr id="29" name="Shape 26"/>
          <p:cNvSpPr/>
          <p:nvPr/>
        </p:nvSpPr>
        <p:spPr>
          <a:xfrm>
            <a:off x="2739719" y="3347033"/>
            <a:ext cx="45307" cy="45307"/>
          </a:xfrm>
          <a:prstGeom prst="ellipse">
            <a:avLst/>
          </a:prstGeom>
          <a:solidFill>
            <a:srgbClr val="7A93B8"/>
          </a:solidFill>
          <a:ln w="12700">
            <a:solidFill>
              <a:srgbClr val="F4F4F2"/>
            </a:solidFill>
            <a:prstDash val="solid"/>
          </a:ln>
        </p:spPr>
      </p:sp>
      <p:sp>
        <p:nvSpPr>
          <p:cNvPr id="30" name="Shape 27"/>
          <p:cNvSpPr/>
          <p:nvPr/>
        </p:nvSpPr>
        <p:spPr>
          <a:xfrm>
            <a:off x="1925993" y="3216129"/>
            <a:ext cx="38998" cy="38998"/>
          </a:xfrm>
          <a:prstGeom prst="ellipse">
            <a:avLst/>
          </a:prstGeom>
          <a:solidFill>
            <a:srgbClr val="243B53"/>
          </a:solidFill>
          <a:ln w="12700">
            <a:solidFill>
              <a:srgbClr val="F4F4F2"/>
            </a:solidFill>
            <a:prstDash val="solid"/>
          </a:ln>
        </p:spPr>
      </p:sp>
      <p:sp>
        <p:nvSpPr>
          <p:cNvPr id="31" name="Shape 28"/>
          <p:cNvSpPr/>
          <p:nvPr/>
        </p:nvSpPr>
        <p:spPr>
          <a:xfrm>
            <a:off x="1860204" y="3317195"/>
            <a:ext cx="40408" cy="40408"/>
          </a:xfrm>
          <a:prstGeom prst="ellipse">
            <a:avLst/>
          </a:prstGeom>
          <a:solidFill>
            <a:srgbClr val="243B53"/>
          </a:solidFill>
          <a:ln w="12700">
            <a:solidFill>
              <a:srgbClr val="F4F4F2"/>
            </a:solidFill>
            <a:prstDash val="solid"/>
          </a:ln>
        </p:spPr>
      </p:sp>
      <p:sp>
        <p:nvSpPr>
          <p:cNvPr id="32" name="Shape 29"/>
          <p:cNvSpPr/>
          <p:nvPr/>
        </p:nvSpPr>
        <p:spPr>
          <a:xfrm>
            <a:off x="1216897" y="3368177"/>
            <a:ext cx="42218" cy="42218"/>
          </a:xfrm>
          <a:prstGeom prst="ellipse">
            <a:avLst/>
          </a:prstGeom>
          <a:solidFill>
            <a:srgbClr val="2F5FA8"/>
          </a:solidFill>
          <a:ln w="12700">
            <a:solidFill>
              <a:srgbClr val="F4F4F2"/>
            </a:solidFill>
            <a:prstDash val="solid"/>
          </a:ln>
        </p:spPr>
      </p:sp>
      <p:sp>
        <p:nvSpPr>
          <p:cNvPr id="33" name="Shape 30"/>
          <p:cNvSpPr/>
          <p:nvPr/>
        </p:nvSpPr>
        <p:spPr>
          <a:xfrm>
            <a:off x="1749426" y="3323460"/>
            <a:ext cx="30652" cy="30652"/>
          </a:xfrm>
          <a:prstGeom prst="ellipse">
            <a:avLst/>
          </a:prstGeom>
          <a:solidFill>
            <a:srgbClr val="243B53"/>
          </a:solidFill>
          <a:ln w="12700">
            <a:solidFill>
              <a:srgbClr val="F4F4F2"/>
            </a:solidFill>
            <a:prstDash val="solid"/>
          </a:ln>
        </p:spPr>
      </p:sp>
      <p:sp>
        <p:nvSpPr>
          <p:cNvPr id="34" name="Shape 31"/>
          <p:cNvSpPr/>
          <p:nvPr/>
        </p:nvSpPr>
        <p:spPr>
          <a:xfrm>
            <a:off x="2179271" y="3339457"/>
            <a:ext cx="41775" cy="41775"/>
          </a:xfrm>
          <a:prstGeom prst="ellipse">
            <a:avLst/>
          </a:prstGeom>
          <a:solidFill>
            <a:srgbClr val="243B53"/>
          </a:solidFill>
          <a:ln w="12700">
            <a:solidFill>
              <a:srgbClr val="F4F4F2"/>
            </a:solidFill>
            <a:prstDash val="solid"/>
          </a:ln>
        </p:spPr>
      </p:sp>
      <p:sp>
        <p:nvSpPr>
          <p:cNvPr id="35" name="Shape 32"/>
          <p:cNvSpPr/>
          <p:nvPr/>
        </p:nvSpPr>
        <p:spPr>
          <a:xfrm>
            <a:off x="1814496" y="3262663"/>
            <a:ext cx="45252" cy="45252"/>
          </a:xfrm>
          <a:prstGeom prst="ellipse">
            <a:avLst/>
          </a:prstGeom>
          <a:solidFill>
            <a:srgbClr val="243B53"/>
          </a:solidFill>
          <a:ln w="12700">
            <a:solidFill>
              <a:srgbClr val="F4F4F2"/>
            </a:solidFill>
            <a:prstDash val="solid"/>
          </a:ln>
        </p:spPr>
      </p:sp>
      <p:sp>
        <p:nvSpPr>
          <p:cNvPr id="36" name="Shape 33"/>
          <p:cNvSpPr/>
          <p:nvPr/>
        </p:nvSpPr>
        <p:spPr>
          <a:xfrm>
            <a:off x="1199407" y="3489897"/>
            <a:ext cx="49459" cy="49459"/>
          </a:xfrm>
          <a:prstGeom prst="ellipse">
            <a:avLst/>
          </a:prstGeom>
          <a:solidFill>
            <a:srgbClr val="2F5FA8"/>
          </a:solidFill>
          <a:ln w="12700">
            <a:solidFill>
              <a:srgbClr val="F4F4F2"/>
            </a:solidFill>
            <a:prstDash val="solid"/>
          </a:ln>
        </p:spPr>
      </p:sp>
      <p:sp>
        <p:nvSpPr>
          <p:cNvPr id="37" name="Shape 34"/>
          <p:cNvSpPr/>
          <p:nvPr/>
        </p:nvSpPr>
        <p:spPr>
          <a:xfrm>
            <a:off x="2032172" y="3399631"/>
            <a:ext cx="29140" cy="29140"/>
          </a:xfrm>
          <a:prstGeom prst="ellipse">
            <a:avLst/>
          </a:prstGeom>
          <a:solidFill>
            <a:srgbClr val="243B53"/>
          </a:solidFill>
          <a:ln w="12700">
            <a:solidFill>
              <a:srgbClr val="F4F4F2"/>
            </a:solidFill>
            <a:prstDash val="solid"/>
          </a:ln>
        </p:spPr>
      </p:sp>
      <p:sp>
        <p:nvSpPr>
          <p:cNvPr id="38" name="Shape 35"/>
          <p:cNvSpPr/>
          <p:nvPr/>
        </p:nvSpPr>
        <p:spPr>
          <a:xfrm>
            <a:off x="1273688" y="3257541"/>
            <a:ext cx="40205" cy="40205"/>
          </a:xfrm>
          <a:prstGeom prst="ellipse">
            <a:avLst/>
          </a:prstGeom>
          <a:solidFill>
            <a:srgbClr val="2F5FA8"/>
          </a:solidFill>
          <a:ln w="12700">
            <a:solidFill>
              <a:srgbClr val="F4F4F2"/>
            </a:solidFill>
            <a:prstDash val="solid"/>
          </a:ln>
        </p:spPr>
      </p:sp>
      <p:sp>
        <p:nvSpPr>
          <p:cNvPr id="39" name="Shape 36"/>
          <p:cNvSpPr/>
          <p:nvPr/>
        </p:nvSpPr>
        <p:spPr>
          <a:xfrm>
            <a:off x="2102798" y="3130316"/>
            <a:ext cx="37010" cy="37010"/>
          </a:xfrm>
          <a:prstGeom prst="ellipse">
            <a:avLst/>
          </a:prstGeom>
          <a:solidFill>
            <a:srgbClr val="243B53"/>
          </a:solidFill>
          <a:ln w="12700">
            <a:solidFill>
              <a:srgbClr val="F4F4F2"/>
            </a:solidFill>
            <a:prstDash val="solid"/>
          </a:ln>
        </p:spPr>
      </p:sp>
      <p:sp>
        <p:nvSpPr>
          <p:cNvPr id="40" name="Shape 37"/>
          <p:cNvSpPr/>
          <p:nvPr/>
        </p:nvSpPr>
        <p:spPr>
          <a:xfrm>
            <a:off x="2187396" y="3259403"/>
            <a:ext cx="34159" cy="34159"/>
          </a:xfrm>
          <a:prstGeom prst="ellipse">
            <a:avLst/>
          </a:prstGeom>
          <a:solidFill>
            <a:srgbClr val="243B53"/>
          </a:solidFill>
          <a:ln w="12700">
            <a:solidFill>
              <a:srgbClr val="F4F4F2"/>
            </a:solidFill>
            <a:prstDash val="solid"/>
          </a:ln>
        </p:spPr>
      </p:sp>
      <p:sp>
        <p:nvSpPr>
          <p:cNvPr id="41" name="Shape 38"/>
          <p:cNvSpPr/>
          <p:nvPr/>
        </p:nvSpPr>
        <p:spPr>
          <a:xfrm>
            <a:off x="780067" y="3441850"/>
            <a:ext cx="36896" cy="36896"/>
          </a:xfrm>
          <a:prstGeom prst="ellipse">
            <a:avLst/>
          </a:prstGeom>
          <a:solidFill>
            <a:srgbClr val="7A93B8"/>
          </a:solidFill>
          <a:ln w="12700">
            <a:solidFill>
              <a:srgbClr val="F4F4F2"/>
            </a:solidFill>
            <a:prstDash val="solid"/>
          </a:ln>
        </p:spPr>
      </p:sp>
      <p:sp>
        <p:nvSpPr>
          <p:cNvPr id="42" name="Shape 39"/>
          <p:cNvSpPr/>
          <p:nvPr/>
        </p:nvSpPr>
        <p:spPr>
          <a:xfrm>
            <a:off x="2525587" y="3404519"/>
            <a:ext cx="43360" cy="43360"/>
          </a:xfrm>
          <a:prstGeom prst="ellipse">
            <a:avLst/>
          </a:prstGeom>
          <a:solidFill>
            <a:srgbClr val="2F5FA8"/>
          </a:solidFill>
          <a:ln w="12700">
            <a:solidFill>
              <a:srgbClr val="F4F4F2"/>
            </a:solidFill>
            <a:prstDash val="solid"/>
          </a:ln>
        </p:spPr>
      </p:sp>
      <p:sp>
        <p:nvSpPr>
          <p:cNvPr id="43" name="Shape 40"/>
          <p:cNvSpPr/>
          <p:nvPr/>
        </p:nvSpPr>
        <p:spPr>
          <a:xfrm>
            <a:off x="2729241" y="3507228"/>
            <a:ext cx="50105" cy="50105"/>
          </a:xfrm>
          <a:prstGeom prst="ellipse">
            <a:avLst/>
          </a:prstGeom>
          <a:solidFill>
            <a:srgbClr val="7A93B8"/>
          </a:solidFill>
          <a:ln w="12700">
            <a:solidFill>
              <a:srgbClr val="F4F4F2"/>
            </a:solidFill>
            <a:prstDash val="solid"/>
          </a:ln>
        </p:spPr>
      </p:sp>
      <p:sp>
        <p:nvSpPr>
          <p:cNvPr id="44" name="Shape 41"/>
          <p:cNvSpPr/>
          <p:nvPr/>
        </p:nvSpPr>
        <p:spPr>
          <a:xfrm>
            <a:off x="2208925" y="3400785"/>
            <a:ext cx="33073" cy="33073"/>
          </a:xfrm>
          <a:prstGeom prst="ellipse">
            <a:avLst/>
          </a:prstGeom>
          <a:solidFill>
            <a:srgbClr val="2F5FA8"/>
          </a:solidFill>
          <a:ln w="12700">
            <a:solidFill>
              <a:srgbClr val="F4F4F2"/>
            </a:solidFill>
            <a:prstDash val="solid"/>
          </a:ln>
        </p:spPr>
      </p:sp>
      <p:sp>
        <p:nvSpPr>
          <p:cNvPr id="45" name="Shape 42"/>
          <p:cNvSpPr/>
          <p:nvPr/>
        </p:nvSpPr>
        <p:spPr>
          <a:xfrm>
            <a:off x="2114734" y="2999556"/>
            <a:ext cx="34216" cy="34216"/>
          </a:xfrm>
          <a:prstGeom prst="ellipse">
            <a:avLst/>
          </a:prstGeom>
          <a:solidFill>
            <a:srgbClr val="2F5FA8"/>
          </a:solidFill>
          <a:ln w="12700">
            <a:solidFill>
              <a:srgbClr val="F4F4F2"/>
            </a:solidFill>
            <a:prstDash val="solid"/>
          </a:ln>
        </p:spPr>
      </p:sp>
      <p:sp>
        <p:nvSpPr>
          <p:cNvPr id="46" name="Shape 43"/>
          <p:cNvSpPr/>
          <p:nvPr/>
        </p:nvSpPr>
        <p:spPr>
          <a:xfrm>
            <a:off x="2405465" y="3270076"/>
            <a:ext cx="32827" cy="32827"/>
          </a:xfrm>
          <a:prstGeom prst="ellipse">
            <a:avLst/>
          </a:prstGeom>
          <a:solidFill>
            <a:srgbClr val="2F5FA8"/>
          </a:solidFill>
          <a:ln w="12700">
            <a:solidFill>
              <a:srgbClr val="F4F4F2"/>
            </a:solidFill>
            <a:prstDash val="solid"/>
          </a:ln>
        </p:spPr>
      </p:sp>
      <p:sp>
        <p:nvSpPr>
          <p:cNvPr id="47" name="Shape 44"/>
          <p:cNvSpPr/>
          <p:nvPr/>
        </p:nvSpPr>
        <p:spPr>
          <a:xfrm>
            <a:off x="2377919" y="3137737"/>
            <a:ext cx="47428" cy="47428"/>
          </a:xfrm>
          <a:prstGeom prst="ellipse">
            <a:avLst/>
          </a:prstGeom>
          <a:solidFill>
            <a:srgbClr val="2F5FA8"/>
          </a:solidFill>
          <a:ln w="12700">
            <a:solidFill>
              <a:srgbClr val="F4F4F2"/>
            </a:solidFill>
            <a:prstDash val="solid"/>
          </a:ln>
        </p:spPr>
      </p:sp>
      <p:sp>
        <p:nvSpPr>
          <p:cNvPr id="48" name="Shape 45"/>
          <p:cNvSpPr/>
          <p:nvPr/>
        </p:nvSpPr>
        <p:spPr>
          <a:xfrm>
            <a:off x="914678" y="3479942"/>
            <a:ext cx="45694" cy="45694"/>
          </a:xfrm>
          <a:prstGeom prst="ellipse">
            <a:avLst/>
          </a:prstGeom>
          <a:solidFill>
            <a:srgbClr val="7A93B8"/>
          </a:solidFill>
          <a:ln w="12700">
            <a:solidFill>
              <a:srgbClr val="F4F4F2"/>
            </a:solidFill>
            <a:prstDash val="solid"/>
          </a:ln>
        </p:spPr>
      </p:sp>
      <p:sp>
        <p:nvSpPr>
          <p:cNvPr id="49" name="Shape 46"/>
          <p:cNvSpPr/>
          <p:nvPr/>
        </p:nvSpPr>
        <p:spPr>
          <a:xfrm>
            <a:off x="1297580" y="2952991"/>
            <a:ext cx="30817" cy="30817"/>
          </a:xfrm>
          <a:prstGeom prst="ellipse">
            <a:avLst/>
          </a:prstGeom>
          <a:solidFill>
            <a:srgbClr val="7A93B8"/>
          </a:solidFill>
          <a:ln w="12700">
            <a:solidFill>
              <a:srgbClr val="F4F4F2"/>
            </a:solidFill>
            <a:prstDash val="solid"/>
          </a:ln>
        </p:spPr>
      </p:sp>
      <p:sp>
        <p:nvSpPr>
          <p:cNvPr id="50" name="Shape 47"/>
          <p:cNvSpPr/>
          <p:nvPr/>
        </p:nvSpPr>
        <p:spPr>
          <a:xfrm>
            <a:off x="1620006" y="3217219"/>
            <a:ext cx="48731" cy="48731"/>
          </a:xfrm>
          <a:prstGeom prst="ellipse">
            <a:avLst/>
          </a:prstGeom>
          <a:solidFill>
            <a:srgbClr val="243B53"/>
          </a:solidFill>
          <a:ln w="12700">
            <a:solidFill>
              <a:srgbClr val="F4F4F2"/>
            </a:solidFill>
            <a:prstDash val="solid"/>
          </a:ln>
        </p:spPr>
      </p:sp>
      <p:sp>
        <p:nvSpPr>
          <p:cNvPr id="51" name="Shape 48"/>
          <p:cNvSpPr/>
          <p:nvPr/>
        </p:nvSpPr>
        <p:spPr>
          <a:xfrm>
            <a:off x="1496010" y="3571290"/>
            <a:ext cx="33836" cy="33836"/>
          </a:xfrm>
          <a:prstGeom prst="ellipse">
            <a:avLst/>
          </a:prstGeom>
          <a:solidFill>
            <a:srgbClr val="2F5FA8"/>
          </a:solidFill>
          <a:ln w="12700">
            <a:solidFill>
              <a:srgbClr val="F4F4F2"/>
            </a:solidFill>
            <a:prstDash val="solid"/>
          </a:ln>
        </p:spPr>
      </p:sp>
      <p:sp>
        <p:nvSpPr>
          <p:cNvPr id="52" name="Shape 49"/>
          <p:cNvSpPr/>
          <p:nvPr/>
        </p:nvSpPr>
        <p:spPr>
          <a:xfrm>
            <a:off x="1868530" y="3668648"/>
            <a:ext cx="32786" cy="32786"/>
          </a:xfrm>
          <a:prstGeom prst="ellipse">
            <a:avLst/>
          </a:prstGeom>
          <a:solidFill>
            <a:srgbClr val="2F5FA8"/>
          </a:solidFill>
          <a:ln w="12700">
            <a:solidFill>
              <a:srgbClr val="F4F4F2"/>
            </a:solidFill>
            <a:prstDash val="solid"/>
          </a:ln>
        </p:spPr>
      </p:sp>
      <p:sp>
        <p:nvSpPr>
          <p:cNvPr id="53" name="Shape 50"/>
          <p:cNvSpPr/>
          <p:nvPr/>
        </p:nvSpPr>
        <p:spPr>
          <a:xfrm>
            <a:off x="2478461" y="3371500"/>
            <a:ext cx="46693" cy="46693"/>
          </a:xfrm>
          <a:prstGeom prst="ellipse">
            <a:avLst/>
          </a:prstGeom>
          <a:solidFill>
            <a:srgbClr val="2F5FA8"/>
          </a:solidFill>
          <a:ln w="12700">
            <a:solidFill>
              <a:srgbClr val="F4F4F2"/>
            </a:solidFill>
            <a:prstDash val="solid"/>
          </a:ln>
        </p:spPr>
      </p:sp>
      <p:sp>
        <p:nvSpPr>
          <p:cNvPr id="54" name="Shape 51"/>
          <p:cNvSpPr/>
          <p:nvPr/>
        </p:nvSpPr>
        <p:spPr>
          <a:xfrm>
            <a:off x="1904430" y="2736352"/>
            <a:ext cx="31438" cy="31438"/>
          </a:xfrm>
          <a:prstGeom prst="ellipse">
            <a:avLst/>
          </a:prstGeom>
          <a:solidFill>
            <a:srgbClr val="7A93B8"/>
          </a:solidFill>
          <a:ln w="12700">
            <a:solidFill>
              <a:srgbClr val="F4F4F2"/>
            </a:solidFill>
            <a:prstDash val="solid"/>
          </a:ln>
        </p:spPr>
      </p:sp>
      <p:sp>
        <p:nvSpPr>
          <p:cNvPr id="55" name="Shape 52"/>
          <p:cNvSpPr/>
          <p:nvPr/>
        </p:nvSpPr>
        <p:spPr>
          <a:xfrm>
            <a:off x="2314371" y="3525803"/>
            <a:ext cx="44636" cy="44636"/>
          </a:xfrm>
          <a:prstGeom prst="ellipse">
            <a:avLst/>
          </a:prstGeom>
          <a:solidFill>
            <a:srgbClr val="2F5FA8"/>
          </a:solidFill>
          <a:ln w="12700">
            <a:solidFill>
              <a:srgbClr val="F4F4F2"/>
            </a:solidFill>
            <a:prstDash val="solid"/>
          </a:ln>
        </p:spPr>
      </p:sp>
      <p:sp>
        <p:nvSpPr>
          <p:cNvPr id="56" name="Shape 53"/>
          <p:cNvSpPr/>
          <p:nvPr/>
        </p:nvSpPr>
        <p:spPr>
          <a:xfrm>
            <a:off x="1813687" y="3277992"/>
            <a:ext cx="29742" cy="29742"/>
          </a:xfrm>
          <a:prstGeom prst="ellipse">
            <a:avLst/>
          </a:prstGeom>
          <a:solidFill>
            <a:srgbClr val="243B53"/>
          </a:solidFill>
          <a:ln w="12700">
            <a:solidFill>
              <a:srgbClr val="F4F4F2"/>
            </a:solidFill>
            <a:prstDash val="solid"/>
          </a:ln>
        </p:spPr>
      </p:sp>
      <p:sp>
        <p:nvSpPr>
          <p:cNvPr id="57" name="Shape 54"/>
          <p:cNvSpPr/>
          <p:nvPr/>
        </p:nvSpPr>
        <p:spPr>
          <a:xfrm>
            <a:off x="2258620" y="3826824"/>
            <a:ext cx="29376" cy="29376"/>
          </a:xfrm>
          <a:prstGeom prst="ellipse">
            <a:avLst/>
          </a:prstGeom>
          <a:solidFill>
            <a:srgbClr val="7A93B8"/>
          </a:solidFill>
          <a:ln w="12700">
            <a:solidFill>
              <a:srgbClr val="F4F4F2"/>
            </a:solidFill>
            <a:prstDash val="solid"/>
          </a:ln>
        </p:spPr>
      </p:sp>
      <p:sp>
        <p:nvSpPr>
          <p:cNvPr id="58" name="Shape 55"/>
          <p:cNvSpPr/>
          <p:nvPr/>
        </p:nvSpPr>
        <p:spPr>
          <a:xfrm>
            <a:off x="1094359" y="3666078"/>
            <a:ext cx="43246" cy="43246"/>
          </a:xfrm>
          <a:prstGeom prst="ellipse">
            <a:avLst/>
          </a:prstGeom>
          <a:solidFill>
            <a:srgbClr val="7A93B8"/>
          </a:solidFill>
          <a:ln w="12700">
            <a:solidFill>
              <a:srgbClr val="F4F4F2"/>
            </a:solidFill>
            <a:prstDash val="solid"/>
          </a:ln>
        </p:spPr>
      </p:sp>
      <p:sp>
        <p:nvSpPr>
          <p:cNvPr id="59" name="Shape 56"/>
          <p:cNvSpPr/>
          <p:nvPr/>
        </p:nvSpPr>
        <p:spPr>
          <a:xfrm>
            <a:off x="2463635" y="3272147"/>
            <a:ext cx="50066" cy="50066"/>
          </a:xfrm>
          <a:prstGeom prst="ellipse">
            <a:avLst/>
          </a:prstGeom>
          <a:solidFill>
            <a:srgbClr val="2F5FA8"/>
          </a:solidFill>
          <a:ln w="12700">
            <a:solidFill>
              <a:srgbClr val="F4F4F2"/>
            </a:solidFill>
            <a:prstDash val="solid"/>
          </a:ln>
        </p:spPr>
      </p:sp>
      <p:sp>
        <p:nvSpPr>
          <p:cNvPr id="60" name="Shape 57"/>
          <p:cNvSpPr/>
          <p:nvPr/>
        </p:nvSpPr>
        <p:spPr>
          <a:xfrm>
            <a:off x="1972009" y="3330462"/>
            <a:ext cx="46099" cy="46099"/>
          </a:xfrm>
          <a:prstGeom prst="ellipse">
            <a:avLst/>
          </a:prstGeom>
          <a:solidFill>
            <a:srgbClr val="243B53"/>
          </a:solidFill>
          <a:ln w="12700">
            <a:solidFill>
              <a:srgbClr val="F4F4F2"/>
            </a:solidFill>
            <a:prstDash val="solid"/>
          </a:ln>
        </p:spPr>
      </p:sp>
      <p:sp>
        <p:nvSpPr>
          <p:cNvPr id="61" name="Shape 58"/>
          <p:cNvSpPr/>
          <p:nvPr/>
        </p:nvSpPr>
        <p:spPr>
          <a:xfrm>
            <a:off x="1937025" y="3265786"/>
            <a:ext cx="47477" cy="47477"/>
          </a:xfrm>
          <a:prstGeom prst="ellipse">
            <a:avLst/>
          </a:prstGeom>
          <a:solidFill>
            <a:srgbClr val="243B53"/>
          </a:solidFill>
          <a:ln w="12700">
            <a:solidFill>
              <a:srgbClr val="F4F4F2"/>
            </a:solidFill>
            <a:prstDash val="solid"/>
          </a:ln>
        </p:spPr>
      </p:sp>
      <p:sp>
        <p:nvSpPr>
          <p:cNvPr id="62" name="Shape 59"/>
          <p:cNvSpPr/>
          <p:nvPr/>
        </p:nvSpPr>
        <p:spPr>
          <a:xfrm>
            <a:off x="1048597" y="3258028"/>
            <a:ext cx="41637" cy="41637"/>
          </a:xfrm>
          <a:prstGeom prst="ellipse">
            <a:avLst/>
          </a:prstGeom>
          <a:solidFill>
            <a:srgbClr val="2F5FA8"/>
          </a:solidFill>
          <a:ln w="12700">
            <a:solidFill>
              <a:srgbClr val="F4F4F2"/>
            </a:solidFill>
            <a:prstDash val="solid"/>
          </a:ln>
        </p:spPr>
      </p:sp>
      <p:sp>
        <p:nvSpPr>
          <p:cNvPr id="63" name="Shape 60"/>
          <p:cNvSpPr/>
          <p:nvPr/>
        </p:nvSpPr>
        <p:spPr>
          <a:xfrm>
            <a:off x="2272802" y="2800180"/>
            <a:ext cx="28624" cy="28624"/>
          </a:xfrm>
          <a:prstGeom prst="ellipse">
            <a:avLst/>
          </a:prstGeom>
          <a:solidFill>
            <a:srgbClr val="7A93B8"/>
          </a:solidFill>
          <a:ln w="12700">
            <a:solidFill>
              <a:srgbClr val="F4F4F2"/>
            </a:solidFill>
            <a:prstDash val="solid"/>
          </a:ln>
        </p:spPr>
      </p:sp>
      <p:sp>
        <p:nvSpPr>
          <p:cNvPr id="64" name="Shape 61"/>
          <p:cNvSpPr/>
          <p:nvPr/>
        </p:nvSpPr>
        <p:spPr>
          <a:xfrm>
            <a:off x="1751153" y="3188106"/>
            <a:ext cx="34226" cy="34226"/>
          </a:xfrm>
          <a:prstGeom prst="ellipse">
            <a:avLst/>
          </a:prstGeom>
          <a:solidFill>
            <a:srgbClr val="243B53"/>
          </a:solidFill>
          <a:ln w="12700">
            <a:solidFill>
              <a:srgbClr val="F4F4F2"/>
            </a:solidFill>
            <a:prstDash val="solid"/>
          </a:ln>
        </p:spPr>
      </p:sp>
      <p:sp>
        <p:nvSpPr>
          <p:cNvPr id="65" name="Shape 62"/>
          <p:cNvSpPr/>
          <p:nvPr/>
        </p:nvSpPr>
        <p:spPr>
          <a:xfrm>
            <a:off x="2049356" y="3263871"/>
            <a:ext cx="47707" cy="47707"/>
          </a:xfrm>
          <a:prstGeom prst="ellipse">
            <a:avLst/>
          </a:prstGeom>
          <a:solidFill>
            <a:srgbClr val="243B53"/>
          </a:solidFill>
          <a:ln w="12700">
            <a:solidFill>
              <a:srgbClr val="F4F4F2"/>
            </a:solidFill>
            <a:prstDash val="solid"/>
          </a:ln>
        </p:spPr>
      </p:sp>
      <p:sp>
        <p:nvSpPr>
          <p:cNvPr id="66" name="Shape 63"/>
          <p:cNvSpPr/>
          <p:nvPr/>
        </p:nvSpPr>
        <p:spPr>
          <a:xfrm>
            <a:off x="2394627" y="3339968"/>
            <a:ext cx="45343" cy="45343"/>
          </a:xfrm>
          <a:prstGeom prst="ellipse">
            <a:avLst/>
          </a:prstGeom>
          <a:solidFill>
            <a:srgbClr val="2F5FA8"/>
          </a:solidFill>
          <a:ln w="12700">
            <a:solidFill>
              <a:srgbClr val="F4F4F2"/>
            </a:solidFill>
            <a:prstDash val="solid"/>
          </a:ln>
        </p:spPr>
      </p:sp>
      <p:sp>
        <p:nvSpPr>
          <p:cNvPr id="67" name="Shape 64"/>
          <p:cNvSpPr/>
          <p:nvPr/>
        </p:nvSpPr>
        <p:spPr>
          <a:xfrm>
            <a:off x="908664" y="3333448"/>
            <a:ext cx="40449" cy="40449"/>
          </a:xfrm>
          <a:prstGeom prst="ellipse">
            <a:avLst/>
          </a:prstGeom>
          <a:solidFill>
            <a:srgbClr val="7A93B8"/>
          </a:solidFill>
          <a:ln w="12700">
            <a:solidFill>
              <a:srgbClr val="F4F4F2"/>
            </a:solidFill>
            <a:prstDash val="solid"/>
          </a:ln>
        </p:spPr>
      </p:sp>
      <p:sp>
        <p:nvSpPr>
          <p:cNvPr id="68" name="Shape 65"/>
          <p:cNvSpPr/>
          <p:nvPr/>
        </p:nvSpPr>
        <p:spPr>
          <a:xfrm>
            <a:off x="2151136" y="3016866"/>
            <a:ext cx="49670" cy="49670"/>
          </a:xfrm>
          <a:prstGeom prst="ellipse">
            <a:avLst/>
          </a:prstGeom>
          <a:solidFill>
            <a:srgbClr val="2F5FA8"/>
          </a:solidFill>
          <a:ln w="12700">
            <a:solidFill>
              <a:srgbClr val="F4F4F2"/>
            </a:solidFill>
            <a:prstDash val="solid"/>
          </a:ln>
        </p:spPr>
      </p:sp>
      <p:sp>
        <p:nvSpPr>
          <p:cNvPr id="69" name="Shape 66"/>
          <p:cNvSpPr/>
          <p:nvPr/>
        </p:nvSpPr>
        <p:spPr>
          <a:xfrm>
            <a:off x="3043009" y="3305289"/>
            <a:ext cx="50133" cy="50133"/>
          </a:xfrm>
          <a:prstGeom prst="ellipse">
            <a:avLst/>
          </a:prstGeom>
          <a:solidFill>
            <a:srgbClr val="7A93B8"/>
          </a:solidFill>
          <a:ln w="12700">
            <a:solidFill>
              <a:srgbClr val="F4F4F2"/>
            </a:solidFill>
            <a:prstDash val="solid"/>
          </a:ln>
        </p:spPr>
      </p:sp>
      <p:sp>
        <p:nvSpPr>
          <p:cNvPr id="70" name="Shape 67"/>
          <p:cNvSpPr/>
          <p:nvPr/>
        </p:nvSpPr>
        <p:spPr>
          <a:xfrm>
            <a:off x="1965925" y="3213935"/>
            <a:ext cx="34610" cy="34610"/>
          </a:xfrm>
          <a:prstGeom prst="ellipse">
            <a:avLst/>
          </a:prstGeom>
          <a:solidFill>
            <a:srgbClr val="243B53"/>
          </a:solidFill>
          <a:ln w="12700">
            <a:solidFill>
              <a:srgbClr val="F4F4F2"/>
            </a:solidFill>
            <a:prstDash val="solid"/>
          </a:ln>
        </p:spPr>
      </p:sp>
      <p:sp>
        <p:nvSpPr>
          <p:cNvPr id="71" name="Shape 68"/>
          <p:cNvSpPr/>
          <p:nvPr/>
        </p:nvSpPr>
        <p:spPr>
          <a:xfrm>
            <a:off x="1520427" y="3016158"/>
            <a:ext cx="48078" cy="48078"/>
          </a:xfrm>
          <a:prstGeom prst="ellipse">
            <a:avLst/>
          </a:prstGeom>
          <a:solidFill>
            <a:srgbClr val="2F5FA8"/>
          </a:solidFill>
          <a:ln w="12700">
            <a:solidFill>
              <a:srgbClr val="F4F4F2"/>
            </a:solidFill>
            <a:prstDash val="solid"/>
          </a:ln>
        </p:spPr>
      </p:sp>
      <p:sp>
        <p:nvSpPr>
          <p:cNvPr id="72" name="Shape 69"/>
          <p:cNvSpPr/>
          <p:nvPr/>
        </p:nvSpPr>
        <p:spPr>
          <a:xfrm>
            <a:off x="1478249" y="3307722"/>
            <a:ext cx="47487" cy="47487"/>
          </a:xfrm>
          <a:prstGeom prst="ellipse">
            <a:avLst/>
          </a:prstGeom>
          <a:solidFill>
            <a:srgbClr val="243B53"/>
          </a:solidFill>
          <a:ln w="12700">
            <a:solidFill>
              <a:srgbClr val="F4F4F2"/>
            </a:solidFill>
            <a:prstDash val="solid"/>
          </a:ln>
        </p:spPr>
      </p:sp>
      <p:sp>
        <p:nvSpPr>
          <p:cNvPr id="73" name="Shape 70"/>
          <p:cNvSpPr/>
          <p:nvPr/>
        </p:nvSpPr>
        <p:spPr>
          <a:xfrm>
            <a:off x="1944107" y="3570443"/>
            <a:ext cx="28730" cy="28730"/>
          </a:xfrm>
          <a:prstGeom prst="ellipse">
            <a:avLst/>
          </a:prstGeom>
          <a:solidFill>
            <a:srgbClr val="2F5FA8"/>
          </a:solidFill>
          <a:ln w="12700">
            <a:solidFill>
              <a:srgbClr val="F4F4F2"/>
            </a:solidFill>
            <a:prstDash val="solid"/>
          </a:ln>
        </p:spPr>
      </p:sp>
      <p:sp>
        <p:nvSpPr>
          <p:cNvPr id="74" name="Shape 71"/>
          <p:cNvSpPr/>
          <p:nvPr/>
        </p:nvSpPr>
        <p:spPr>
          <a:xfrm>
            <a:off x="1961057" y="3501601"/>
            <a:ext cx="45097" cy="45097"/>
          </a:xfrm>
          <a:prstGeom prst="ellipse">
            <a:avLst/>
          </a:prstGeom>
          <a:solidFill>
            <a:srgbClr val="2F5FA8"/>
          </a:solidFill>
          <a:ln w="12700">
            <a:solidFill>
              <a:srgbClr val="F4F4F2"/>
            </a:solidFill>
            <a:prstDash val="solid"/>
          </a:ln>
        </p:spPr>
      </p:sp>
      <p:sp>
        <p:nvSpPr>
          <p:cNvPr id="75" name="Shape 72"/>
          <p:cNvSpPr/>
          <p:nvPr/>
        </p:nvSpPr>
        <p:spPr>
          <a:xfrm>
            <a:off x="2033222" y="3647905"/>
            <a:ext cx="30534" cy="30534"/>
          </a:xfrm>
          <a:prstGeom prst="ellipse">
            <a:avLst/>
          </a:prstGeom>
          <a:solidFill>
            <a:srgbClr val="2F5FA8"/>
          </a:solidFill>
          <a:ln w="12700">
            <a:solidFill>
              <a:srgbClr val="F4F4F2"/>
            </a:solidFill>
            <a:prstDash val="solid"/>
          </a:ln>
        </p:spPr>
      </p:sp>
      <p:sp>
        <p:nvSpPr>
          <p:cNvPr id="76" name="Shape 73"/>
          <p:cNvSpPr/>
          <p:nvPr/>
        </p:nvSpPr>
        <p:spPr>
          <a:xfrm>
            <a:off x="831487" y="3107430"/>
            <a:ext cx="49394" cy="49394"/>
          </a:xfrm>
          <a:prstGeom prst="ellipse">
            <a:avLst/>
          </a:prstGeom>
          <a:solidFill>
            <a:srgbClr val="7A93B8"/>
          </a:solidFill>
          <a:ln w="12700">
            <a:solidFill>
              <a:srgbClr val="F4F4F2"/>
            </a:solidFill>
            <a:prstDash val="solid"/>
          </a:ln>
        </p:spPr>
      </p:sp>
      <p:sp>
        <p:nvSpPr>
          <p:cNvPr id="77" name="Shape 74"/>
          <p:cNvSpPr/>
          <p:nvPr/>
        </p:nvSpPr>
        <p:spPr>
          <a:xfrm>
            <a:off x="2215354" y="3182953"/>
            <a:ext cx="44090" cy="44090"/>
          </a:xfrm>
          <a:prstGeom prst="ellipse">
            <a:avLst/>
          </a:prstGeom>
          <a:solidFill>
            <a:srgbClr val="243B53"/>
          </a:solidFill>
          <a:ln w="12700">
            <a:solidFill>
              <a:srgbClr val="F4F4F2"/>
            </a:solidFill>
            <a:prstDash val="solid"/>
          </a:ln>
        </p:spPr>
      </p:sp>
      <p:sp>
        <p:nvSpPr>
          <p:cNvPr id="78" name="Shape 75"/>
          <p:cNvSpPr/>
          <p:nvPr/>
        </p:nvSpPr>
        <p:spPr>
          <a:xfrm>
            <a:off x="2340275" y="3602821"/>
            <a:ext cx="30375" cy="30375"/>
          </a:xfrm>
          <a:prstGeom prst="ellipse">
            <a:avLst/>
          </a:prstGeom>
          <a:solidFill>
            <a:srgbClr val="2F5FA8"/>
          </a:solidFill>
          <a:ln w="12700">
            <a:solidFill>
              <a:srgbClr val="F4F4F2"/>
            </a:solidFill>
            <a:prstDash val="solid"/>
          </a:ln>
        </p:spPr>
      </p:sp>
      <p:sp>
        <p:nvSpPr>
          <p:cNvPr id="79" name="Shape 76"/>
          <p:cNvSpPr/>
          <p:nvPr/>
        </p:nvSpPr>
        <p:spPr>
          <a:xfrm>
            <a:off x="764525" y="3338754"/>
            <a:ext cx="33969" cy="33969"/>
          </a:xfrm>
          <a:prstGeom prst="ellipse">
            <a:avLst/>
          </a:prstGeom>
          <a:solidFill>
            <a:srgbClr val="7A93B8"/>
          </a:solidFill>
          <a:ln w="12700">
            <a:solidFill>
              <a:srgbClr val="F4F4F2"/>
            </a:solidFill>
            <a:prstDash val="solid"/>
          </a:ln>
        </p:spPr>
      </p:sp>
      <p:sp>
        <p:nvSpPr>
          <p:cNvPr id="80" name="Shape 77"/>
          <p:cNvSpPr/>
          <p:nvPr/>
        </p:nvSpPr>
        <p:spPr>
          <a:xfrm>
            <a:off x="1028370" y="3300934"/>
            <a:ext cx="33607" cy="33607"/>
          </a:xfrm>
          <a:prstGeom prst="ellipse">
            <a:avLst/>
          </a:prstGeom>
          <a:solidFill>
            <a:srgbClr val="2F5FA8"/>
          </a:solidFill>
          <a:ln w="12700">
            <a:solidFill>
              <a:srgbClr val="F4F4F2"/>
            </a:solidFill>
            <a:prstDash val="solid"/>
          </a:ln>
        </p:spPr>
      </p:sp>
      <p:sp>
        <p:nvSpPr>
          <p:cNvPr id="81" name="Shape 78"/>
          <p:cNvSpPr/>
          <p:nvPr/>
        </p:nvSpPr>
        <p:spPr>
          <a:xfrm>
            <a:off x="1088116" y="2850429"/>
            <a:ext cx="39465" cy="39465"/>
          </a:xfrm>
          <a:prstGeom prst="ellipse">
            <a:avLst/>
          </a:prstGeom>
          <a:solidFill>
            <a:srgbClr val="7A93B8"/>
          </a:solidFill>
          <a:ln w="12700">
            <a:solidFill>
              <a:srgbClr val="F4F4F2"/>
            </a:solidFill>
            <a:prstDash val="solid"/>
          </a:ln>
        </p:spPr>
      </p:sp>
      <p:sp>
        <p:nvSpPr>
          <p:cNvPr id="82" name="Shape 79"/>
          <p:cNvSpPr/>
          <p:nvPr/>
        </p:nvSpPr>
        <p:spPr>
          <a:xfrm>
            <a:off x="1118504" y="3621225"/>
            <a:ext cx="43654" cy="43654"/>
          </a:xfrm>
          <a:prstGeom prst="ellipse">
            <a:avLst/>
          </a:prstGeom>
          <a:solidFill>
            <a:srgbClr val="7A93B8"/>
          </a:solidFill>
          <a:ln w="12700">
            <a:solidFill>
              <a:srgbClr val="F4F4F2"/>
            </a:solidFill>
            <a:prstDash val="solid"/>
          </a:ln>
        </p:spPr>
      </p:sp>
      <p:sp>
        <p:nvSpPr>
          <p:cNvPr id="83" name="Shape 80"/>
          <p:cNvSpPr/>
          <p:nvPr/>
        </p:nvSpPr>
        <p:spPr>
          <a:xfrm>
            <a:off x="2479711" y="3096278"/>
            <a:ext cx="50199" cy="50199"/>
          </a:xfrm>
          <a:prstGeom prst="ellipse">
            <a:avLst/>
          </a:prstGeom>
          <a:solidFill>
            <a:srgbClr val="2F5FA8"/>
          </a:solidFill>
          <a:ln w="12700">
            <a:solidFill>
              <a:srgbClr val="F4F4F2"/>
            </a:solidFill>
            <a:prstDash val="solid"/>
          </a:ln>
        </p:spPr>
      </p:sp>
      <p:sp>
        <p:nvSpPr>
          <p:cNvPr id="84" name="Shape 81"/>
          <p:cNvSpPr/>
          <p:nvPr/>
        </p:nvSpPr>
        <p:spPr>
          <a:xfrm>
            <a:off x="1916957" y="3339442"/>
            <a:ext cx="29595" cy="29595"/>
          </a:xfrm>
          <a:prstGeom prst="ellipse">
            <a:avLst/>
          </a:prstGeom>
          <a:solidFill>
            <a:srgbClr val="243B53"/>
          </a:solidFill>
          <a:ln w="12700">
            <a:solidFill>
              <a:srgbClr val="F4F4F2"/>
            </a:solidFill>
            <a:prstDash val="solid"/>
          </a:ln>
        </p:spPr>
      </p:sp>
      <p:sp>
        <p:nvSpPr>
          <p:cNvPr id="85" name="Shape 82"/>
          <p:cNvSpPr/>
          <p:nvPr/>
        </p:nvSpPr>
        <p:spPr>
          <a:xfrm>
            <a:off x="1831571" y="3214841"/>
            <a:ext cx="29849" cy="29849"/>
          </a:xfrm>
          <a:prstGeom prst="ellipse">
            <a:avLst/>
          </a:prstGeom>
          <a:solidFill>
            <a:srgbClr val="243B53"/>
          </a:solidFill>
          <a:ln w="12700">
            <a:solidFill>
              <a:srgbClr val="F4F4F2"/>
            </a:solidFill>
            <a:prstDash val="solid"/>
          </a:ln>
        </p:spPr>
      </p:sp>
      <p:sp>
        <p:nvSpPr>
          <p:cNvPr id="86" name="Shape 83"/>
          <p:cNvSpPr/>
          <p:nvPr/>
        </p:nvSpPr>
        <p:spPr>
          <a:xfrm>
            <a:off x="1450266" y="3391457"/>
            <a:ext cx="38777" cy="38777"/>
          </a:xfrm>
          <a:prstGeom prst="ellipse">
            <a:avLst/>
          </a:prstGeom>
          <a:solidFill>
            <a:srgbClr val="2F5FA8"/>
          </a:solidFill>
          <a:ln w="12700">
            <a:solidFill>
              <a:srgbClr val="F4F4F2"/>
            </a:solidFill>
            <a:prstDash val="solid"/>
          </a:ln>
        </p:spPr>
      </p:sp>
      <p:sp>
        <p:nvSpPr>
          <p:cNvPr id="87" name="Shape 84"/>
          <p:cNvSpPr/>
          <p:nvPr/>
        </p:nvSpPr>
        <p:spPr>
          <a:xfrm>
            <a:off x="2662591" y="3235959"/>
            <a:ext cx="38055" cy="38055"/>
          </a:xfrm>
          <a:prstGeom prst="ellipse">
            <a:avLst/>
          </a:prstGeom>
          <a:solidFill>
            <a:srgbClr val="2F5FA8"/>
          </a:solidFill>
          <a:ln w="12700">
            <a:solidFill>
              <a:srgbClr val="F4F4F2"/>
            </a:solidFill>
            <a:prstDash val="solid"/>
          </a:ln>
        </p:spPr>
      </p:sp>
      <p:sp>
        <p:nvSpPr>
          <p:cNvPr id="88" name="Shape 85"/>
          <p:cNvSpPr/>
          <p:nvPr/>
        </p:nvSpPr>
        <p:spPr>
          <a:xfrm>
            <a:off x="1778876" y="2894430"/>
            <a:ext cx="37948" cy="37948"/>
          </a:xfrm>
          <a:prstGeom prst="ellipse">
            <a:avLst/>
          </a:prstGeom>
          <a:solidFill>
            <a:srgbClr val="2F5FA8"/>
          </a:solidFill>
          <a:ln w="12700">
            <a:solidFill>
              <a:srgbClr val="F4F4F2"/>
            </a:solidFill>
            <a:prstDash val="solid"/>
          </a:ln>
        </p:spPr>
      </p:sp>
      <p:sp>
        <p:nvSpPr>
          <p:cNvPr id="89" name="Shape 86"/>
          <p:cNvSpPr/>
          <p:nvPr/>
        </p:nvSpPr>
        <p:spPr>
          <a:xfrm>
            <a:off x="1814463" y="3539969"/>
            <a:ext cx="34071" cy="34071"/>
          </a:xfrm>
          <a:prstGeom prst="ellipse">
            <a:avLst/>
          </a:prstGeom>
          <a:solidFill>
            <a:srgbClr val="2F5FA8"/>
          </a:solidFill>
          <a:ln w="12700">
            <a:solidFill>
              <a:srgbClr val="F4F4F2"/>
            </a:solidFill>
            <a:prstDash val="solid"/>
          </a:ln>
        </p:spPr>
      </p:sp>
      <p:sp>
        <p:nvSpPr>
          <p:cNvPr id="90" name="Shape 87"/>
          <p:cNvSpPr/>
          <p:nvPr/>
        </p:nvSpPr>
        <p:spPr>
          <a:xfrm>
            <a:off x="2870157" y="3245424"/>
            <a:ext cx="41608" cy="41608"/>
          </a:xfrm>
          <a:prstGeom prst="ellipse">
            <a:avLst/>
          </a:prstGeom>
          <a:solidFill>
            <a:srgbClr val="7A93B8"/>
          </a:solidFill>
          <a:ln w="12700">
            <a:solidFill>
              <a:srgbClr val="F4F4F2"/>
            </a:solidFill>
            <a:prstDash val="solid"/>
          </a:ln>
        </p:spPr>
      </p:sp>
      <p:sp>
        <p:nvSpPr>
          <p:cNvPr id="91" name="Shape 88"/>
          <p:cNvSpPr/>
          <p:nvPr/>
        </p:nvSpPr>
        <p:spPr>
          <a:xfrm>
            <a:off x="1106615" y="3326443"/>
            <a:ext cx="39812" cy="39812"/>
          </a:xfrm>
          <a:prstGeom prst="ellipse">
            <a:avLst/>
          </a:prstGeom>
          <a:solidFill>
            <a:srgbClr val="2F5FA8"/>
          </a:solidFill>
          <a:ln w="12700">
            <a:solidFill>
              <a:srgbClr val="F4F4F2"/>
            </a:solidFill>
            <a:prstDash val="solid"/>
          </a:ln>
        </p:spPr>
      </p:sp>
      <p:sp>
        <p:nvSpPr>
          <p:cNvPr id="92" name="Shape 89"/>
          <p:cNvSpPr/>
          <p:nvPr/>
        </p:nvSpPr>
        <p:spPr>
          <a:xfrm>
            <a:off x="1823380" y="3269144"/>
            <a:ext cx="48733" cy="48733"/>
          </a:xfrm>
          <a:prstGeom prst="ellipse">
            <a:avLst/>
          </a:prstGeom>
          <a:solidFill>
            <a:srgbClr val="243B53"/>
          </a:solidFill>
          <a:ln w="12700">
            <a:solidFill>
              <a:srgbClr val="F4F4F2"/>
            </a:solidFill>
            <a:prstDash val="solid"/>
          </a:ln>
        </p:spPr>
      </p:sp>
      <p:sp>
        <p:nvSpPr>
          <p:cNvPr id="93" name="Shape 90"/>
          <p:cNvSpPr/>
          <p:nvPr/>
        </p:nvSpPr>
        <p:spPr>
          <a:xfrm>
            <a:off x="2725658" y="3068465"/>
            <a:ext cx="46963" cy="46963"/>
          </a:xfrm>
          <a:prstGeom prst="ellipse">
            <a:avLst/>
          </a:prstGeom>
          <a:solidFill>
            <a:srgbClr val="7A93B8"/>
          </a:solidFill>
          <a:ln w="12700">
            <a:solidFill>
              <a:srgbClr val="F4F4F2"/>
            </a:solidFill>
            <a:prstDash val="solid"/>
          </a:ln>
        </p:spPr>
      </p:sp>
      <p:sp>
        <p:nvSpPr>
          <p:cNvPr id="94" name="Shape 91"/>
          <p:cNvSpPr/>
          <p:nvPr/>
        </p:nvSpPr>
        <p:spPr>
          <a:xfrm>
            <a:off x="1766817" y="3289813"/>
            <a:ext cx="46000" cy="46000"/>
          </a:xfrm>
          <a:prstGeom prst="ellipse">
            <a:avLst/>
          </a:prstGeom>
          <a:solidFill>
            <a:srgbClr val="243B53"/>
          </a:solidFill>
          <a:ln w="12700">
            <a:solidFill>
              <a:srgbClr val="F4F4F2"/>
            </a:solidFill>
            <a:prstDash val="solid"/>
          </a:ln>
        </p:spPr>
      </p:sp>
      <p:sp>
        <p:nvSpPr>
          <p:cNvPr id="95" name="Shape 92"/>
          <p:cNvSpPr/>
          <p:nvPr/>
        </p:nvSpPr>
        <p:spPr>
          <a:xfrm>
            <a:off x="766274" y="3190352"/>
            <a:ext cx="34386" cy="34386"/>
          </a:xfrm>
          <a:prstGeom prst="ellipse">
            <a:avLst/>
          </a:prstGeom>
          <a:solidFill>
            <a:srgbClr val="7A93B8"/>
          </a:solidFill>
          <a:ln w="12700">
            <a:solidFill>
              <a:srgbClr val="F4F4F2"/>
            </a:solidFill>
            <a:prstDash val="solid"/>
          </a:ln>
        </p:spPr>
      </p:sp>
      <p:sp>
        <p:nvSpPr>
          <p:cNvPr id="96" name="Shape 93"/>
          <p:cNvSpPr/>
          <p:nvPr/>
        </p:nvSpPr>
        <p:spPr>
          <a:xfrm>
            <a:off x="1196282" y="2936185"/>
            <a:ext cx="37577" cy="37577"/>
          </a:xfrm>
          <a:prstGeom prst="ellipse">
            <a:avLst/>
          </a:prstGeom>
          <a:solidFill>
            <a:srgbClr val="7A93B8"/>
          </a:solidFill>
          <a:ln w="12700">
            <a:solidFill>
              <a:srgbClr val="F4F4F2"/>
            </a:solidFill>
            <a:prstDash val="solid"/>
          </a:ln>
        </p:spPr>
      </p:sp>
      <p:sp>
        <p:nvSpPr>
          <p:cNvPr id="97" name="Shape 94"/>
          <p:cNvSpPr/>
          <p:nvPr/>
        </p:nvSpPr>
        <p:spPr>
          <a:xfrm>
            <a:off x="1099264" y="2911910"/>
            <a:ext cx="40222" cy="40222"/>
          </a:xfrm>
          <a:prstGeom prst="ellipse">
            <a:avLst/>
          </a:prstGeom>
          <a:solidFill>
            <a:srgbClr val="7A93B8"/>
          </a:solidFill>
          <a:ln w="12700">
            <a:solidFill>
              <a:srgbClr val="F4F4F2"/>
            </a:solidFill>
            <a:prstDash val="solid"/>
          </a:ln>
        </p:spPr>
      </p:sp>
      <p:sp>
        <p:nvSpPr>
          <p:cNvPr id="98" name="Shape 95"/>
          <p:cNvSpPr/>
          <p:nvPr/>
        </p:nvSpPr>
        <p:spPr>
          <a:xfrm>
            <a:off x="1947356" y="3320991"/>
            <a:ext cx="44620" cy="44620"/>
          </a:xfrm>
          <a:prstGeom prst="ellipse">
            <a:avLst/>
          </a:prstGeom>
          <a:solidFill>
            <a:srgbClr val="243B53"/>
          </a:solidFill>
          <a:ln w="12700">
            <a:solidFill>
              <a:srgbClr val="F4F4F2"/>
            </a:solidFill>
            <a:prstDash val="solid"/>
          </a:ln>
        </p:spPr>
      </p:sp>
      <p:sp>
        <p:nvSpPr>
          <p:cNvPr id="99" name="Shape 96"/>
          <p:cNvSpPr/>
          <p:nvPr/>
        </p:nvSpPr>
        <p:spPr>
          <a:xfrm>
            <a:off x="2831448" y="3591591"/>
            <a:ext cx="44828" cy="44828"/>
          </a:xfrm>
          <a:prstGeom prst="ellipse">
            <a:avLst/>
          </a:prstGeom>
          <a:solidFill>
            <a:srgbClr val="7A93B8"/>
          </a:solidFill>
          <a:ln w="12700">
            <a:solidFill>
              <a:srgbClr val="F4F4F2"/>
            </a:solidFill>
            <a:prstDash val="solid"/>
          </a:ln>
        </p:spPr>
      </p:sp>
      <p:sp>
        <p:nvSpPr>
          <p:cNvPr id="100" name="Shape 97"/>
          <p:cNvSpPr/>
          <p:nvPr/>
        </p:nvSpPr>
        <p:spPr>
          <a:xfrm>
            <a:off x="2645996" y="3556095"/>
            <a:ext cx="47070" cy="47070"/>
          </a:xfrm>
          <a:prstGeom prst="ellipse">
            <a:avLst/>
          </a:prstGeom>
          <a:solidFill>
            <a:srgbClr val="7A93B8"/>
          </a:solidFill>
          <a:ln w="12700">
            <a:solidFill>
              <a:srgbClr val="F4F4F2"/>
            </a:solidFill>
            <a:prstDash val="solid"/>
          </a:ln>
        </p:spPr>
      </p:sp>
      <p:sp>
        <p:nvSpPr>
          <p:cNvPr id="101" name="Shape 98"/>
          <p:cNvSpPr/>
          <p:nvPr/>
        </p:nvSpPr>
        <p:spPr>
          <a:xfrm>
            <a:off x="1889270" y="2963908"/>
            <a:ext cx="33217" cy="33217"/>
          </a:xfrm>
          <a:prstGeom prst="ellipse">
            <a:avLst/>
          </a:prstGeom>
          <a:solidFill>
            <a:srgbClr val="2F5FA8"/>
          </a:solidFill>
          <a:ln w="12700">
            <a:solidFill>
              <a:srgbClr val="F4F4F2"/>
            </a:solidFill>
            <a:prstDash val="solid"/>
          </a:ln>
        </p:spPr>
      </p:sp>
      <p:sp>
        <p:nvSpPr>
          <p:cNvPr id="102" name="Shape 99"/>
          <p:cNvSpPr/>
          <p:nvPr/>
        </p:nvSpPr>
        <p:spPr>
          <a:xfrm>
            <a:off x="1806449" y="3325060"/>
            <a:ext cx="30707" cy="30707"/>
          </a:xfrm>
          <a:prstGeom prst="ellipse">
            <a:avLst/>
          </a:prstGeom>
          <a:solidFill>
            <a:srgbClr val="243B53"/>
          </a:solidFill>
          <a:ln w="12700">
            <a:solidFill>
              <a:srgbClr val="F4F4F2"/>
            </a:solidFill>
            <a:prstDash val="solid"/>
          </a:ln>
        </p:spPr>
      </p:sp>
      <p:sp>
        <p:nvSpPr>
          <p:cNvPr id="103" name="Shape 100"/>
          <p:cNvSpPr/>
          <p:nvPr/>
        </p:nvSpPr>
        <p:spPr>
          <a:xfrm>
            <a:off x="2010060" y="3799852"/>
            <a:ext cx="29376" cy="29376"/>
          </a:xfrm>
          <a:prstGeom prst="ellipse">
            <a:avLst/>
          </a:prstGeom>
          <a:solidFill>
            <a:srgbClr val="7A93B8"/>
          </a:solidFill>
          <a:ln w="12700">
            <a:solidFill>
              <a:srgbClr val="F4F4F2"/>
            </a:solidFill>
            <a:prstDash val="solid"/>
          </a:ln>
        </p:spPr>
      </p:sp>
      <p:sp>
        <p:nvSpPr>
          <p:cNvPr id="104" name="Shape 101"/>
          <p:cNvSpPr/>
          <p:nvPr/>
        </p:nvSpPr>
        <p:spPr>
          <a:xfrm>
            <a:off x="1363694" y="3566972"/>
            <a:ext cx="34478" cy="34478"/>
          </a:xfrm>
          <a:prstGeom prst="ellipse">
            <a:avLst/>
          </a:prstGeom>
          <a:solidFill>
            <a:srgbClr val="2F5FA8"/>
          </a:solidFill>
          <a:ln w="12700">
            <a:solidFill>
              <a:srgbClr val="F4F4F2"/>
            </a:solidFill>
            <a:prstDash val="solid"/>
          </a:ln>
        </p:spPr>
      </p:sp>
      <p:sp>
        <p:nvSpPr>
          <p:cNvPr id="105" name="Shape 102"/>
          <p:cNvSpPr/>
          <p:nvPr/>
        </p:nvSpPr>
        <p:spPr>
          <a:xfrm>
            <a:off x="676966" y="3204807"/>
            <a:ext cx="32410" cy="32410"/>
          </a:xfrm>
          <a:prstGeom prst="ellipse">
            <a:avLst/>
          </a:prstGeom>
          <a:solidFill>
            <a:srgbClr val="7A93B8"/>
          </a:solidFill>
          <a:ln w="12700">
            <a:solidFill>
              <a:srgbClr val="F4F4F2"/>
            </a:solidFill>
            <a:prstDash val="solid"/>
          </a:ln>
        </p:spPr>
      </p:sp>
      <p:sp>
        <p:nvSpPr>
          <p:cNvPr id="106" name="Shape 103"/>
          <p:cNvSpPr/>
          <p:nvPr/>
        </p:nvSpPr>
        <p:spPr>
          <a:xfrm>
            <a:off x="1830075" y="3387129"/>
            <a:ext cx="43559" cy="43559"/>
          </a:xfrm>
          <a:prstGeom prst="ellipse">
            <a:avLst/>
          </a:prstGeom>
          <a:solidFill>
            <a:srgbClr val="243B53"/>
          </a:solidFill>
          <a:ln w="12700">
            <a:solidFill>
              <a:srgbClr val="F4F4F2"/>
            </a:solidFill>
            <a:prstDash val="solid"/>
          </a:ln>
        </p:spPr>
      </p:sp>
      <p:sp>
        <p:nvSpPr>
          <p:cNvPr id="107" name="Shape 104"/>
          <p:cNvSpPr/>
          <p:nvPr/>
        </p:nvSpPr>
        <p:spPr>
          <a:xfrm>
            <a:off x="1351630" y="3740535"/>
            <a:ext cx="28521" cy="28521"/>
          </a:xfrm>
          <a:prstGeom prst="ellipse">
            <a:avLst/>
          </a:prstGeom>
          <a:solidFill>
            <a:srgbClr val="7A93B8"/>
          </a:solidFill>
          <a:ln w="12700">
            <a:solidFill>
              <a:srgbClr val="F4F4F2"/>
            </a:solidFill>
            <a:prstDash val="solid"/>
          </a:ln>
        </p:spPr>
      </p:sp>
      <p:sp>
        <p:nvSpPr>
          <p:cNvPr id="108" name="Shape 105"/>
          <p:cNvSpPr/>
          <p:nvPr/>
        </p:nvSpPr>
        <p:spPr>
          <a:xfrm>
            <a:off x="1988842" y="3327595"/>
            <a:ext cx="42055" cy="42055"/>
          </a:xfrm>
          <a:prstGeom prst="ellipse">
            <a:avLst/>
          </a:prstGeom>
          <a:solidFill>
            <a:srgbClr val="243B53"/>
          </a:solidFill>
          <a:ln w="12700">
            <a:solidFill>
              <a:srgbClr val="F4F4F2"/>
            </a:solidFill>
            <a:prstDash val="solid"/>
          </a:ln>
        </p:spPr>
      </p:sp>
      <p:sp>
        <p:nvSpPr>
          <p:cNvPr id="109" name="Shape 106"/>
          <p:cNvSpPr/>
          <p:nvPr/>
        </p:nvSpPr>
        <p:spPr>
          <a:xfrm>
            <a:off x="2238025" y="3270013"/>
            <a:ext cx="44678" cy="44678"/>
          </a:xfrm>
          <a:prstGeom prst="ellipse">
            <a:avLst/>
          </a:prstGeom>
          <a:solidFill>
            <a:srgbClr val="243B53"/>
          </a:solidFill>
          <a:ln w="12700">
            <a:solidFill>
              <a:srgbClr val="F4F4F2"/>
            </a:solidFill>
            <a:prstDash val="solid"/>
          </a:ln>
        </p:spPr>
      </p:sp>
      <p:sp>
        <p:nvSpPr>
          <p:cNvPr id="110" name="Shape 107"/>
          <p:cNvSpPr/>
          <p:nvPr/>
        </p:nvSpPr>
        <p:spPr>
          <a:xfrm>
            <a:off x="2664749" y="3288658"/>
            <a:ext cx="43822" cy="43822"/>
          </a:xfrm>
          <a:prstGeom prst="ellipse">
            <a:avLst/>
          </a:prstGeom>
          <a:solidFill>
            <a:srgbClr val="2F5FA8"/>
          </a:solidFill>
          <a:ln w="12700">
            <a:solidFill>
              <a:srgbClr val="F4F4F2"/>
            </a:solidFill>
            <a:prstDash val="solid"/>
          </a:ln>
        </p:spPr>
      </p:sp>
      <p:sp>
        <p:nvSpPr>
          <p:cNvPr id="111" name="Shape 108"/>
          <p:cNvSpPr/>
          <p:nvPr/>
        </p:nvSpPr>
        <p:spPr>
          <a:xfrm>
            <a:off x="1222965" y="3757337"/>
            <a:ext cx="32350" cy="32350"/>
          </a:xfrm>
          <a:prstGeom prst="ellipse">
            <a:avLst/>
          </a:prstGeom>
          <a:solidFill>
            <a:srgbClr val="7A93B8"/>
          </a:solidFill>
          <a:ln w="12700">
            <a:solidFill>
              <a:srgbClr val="F4F4F2"/>
            </a:solidFill>
            <a:prstDash val="solid"/>
          </a:ln>
        </p:spPr>
      </p:sp>
      <p:sp>
        <p:nvSpPr>
          <p:cNvPr id="112" name="Shape 109"/>
          <p:cNvSpPr/>
          <p:nvPr/>
        </p:nvSpPr>
        <p:spPr>
          <a:xfrm>
            <a:off x="2245248" y="3488697"/>
            <a:ext cx="43236" cy="43236"/>
          </a:xfrm>
          <a:prstGeom prst="ellipse">
            <a:avLst/>
          </a:prstGeom>
          <a:solidFill>
            <a:srgbClr val="2F5FA8"/>
          </a:solidFill>
          <a:ln w="12700">
            <a:solidFill>
              <a:srgbClr val="F4F4F2"/>
            </a:solidFill>
            <a:prstDash val="solid"/>
          </a:ln>
        </p:spPr>
      </p:sp>
      <p:sp>
        <p:nvSpPr>
          <p:cNvPr id="113" name="Shape 110"/>
          <p:cNvSpPr/>
          <p:nvPr/>
        </p:nvSpPr>
        <p:spPr>
          <a:xfrm>
            <a:off x="2066691" y="3191535"/>
            <a:ext cx="44150" cy="44150"/>
          </a:xfrm>
          <a:prstGeom prst="ellipse">
            <a:avLst/>
          </a:prstGeom>
          <a:solidFill>
            <a:srgbClr val="243B53"/>
          </a:solidFill>
          <a:ln w="12700">
            <a:solidFill>
              <a:srgbClr val="F4F4F2"/>
            </a:solidFill>
            <a:prstDash val="solid"/>
          </a:ln>
        </p:spPr>
      </p:sp>
      <p:sp>
        <p:nvSpPr>
          <p:cNvPr id="114" name="Shape 111"/>
          <p:cNvSpPr/>
          <p:nvPr/>
        </p:nvSpPr>
        <p:spPr>
          <a:xfrm>
            <a:off x="1250084" y="3411775"/>
            <a:ext cx="45848" cy="45848"/>
          </a:xfrm>
          <a:prstGeom prst="ellipse">
            <a:avLst/>
          </a:prstGeom>
          <a:solidFill>
            <a:srgbClr val="2F5FA8"/>
          </a:solidFill>
          <a:ln w="12700">
            <a:solidFill>
              <a:srgbClr val="F4F4F2"/>
            </a:solidFill>
            <a:prstDash val="solid"/>
          </a:ln>
        </p:spPr>
      </p:sp>
      <p:sp>
        <p:nvSpPr>
          <p:cNvPr id="115" name="Shape 112"/>
          <p:cNvSpPr/>
          <p:nvPr/>
        </p:nvSpPr>
        <p:spPr>
          <a:xfrm>
            <a:off x="1646955" y="3198059"/>
            <a:ext cx="32609" cy="32609"/>
          </a:xfrm>
          <a:prstGeom prst="ellipse">
            <a:avLst/>
          </a:prstGeom>
          <a:solidFill>
            <a:srgbClr val="243B53"/>
          </a:solidFill>
          <a:ln w="12700">
            <a:solidFill>
              <a:srgbClr val="F4F4F2"/>
            </a:solidFill>
            <a:prstDash val="solid"/>
          </a:ln>
        </p:spPr>
      </p:sp>
      <p:sp>
        <p:nvSpPr>
          <p:cNvPr id="116" name="Shape 113"/>
          <p:cNvSpPr/>
          <p:nvPr/>
        </p:nvSpPr>
        <p:spPr>
          <a:xfrm>
            <a:off x="1470274" y="3207948"/>
            <a:ext cx="27899" cy="27899"/>
          </a:xfrm>
          <a:prstGeom prst="ellipse">
            <a:avLst/>
          </a:prstGeom>
          <a:solidFill>
            <a:srgbClr val="243B53"/>
          </a:solidFill>
          <a:ln w="12700">
            <a:solidFill>
              <a:srgbClr val="F4F4F2"/>
            </a:solidFill>
            <a:prstDash val="solid"/>
          </a:ln>
        </p:spPr>
      </p:sp>
      <p:sp>
        <p:nvSpPr>
          <p:cNvPr id="117" name="Shape 114"/>
          <p:cNvSpPr/>
          <p:nvPr/>
        </p:nvSpPr>
        <p:spPr>
          <a:xfrm>
            <a:off x="1488049" y="3224227"/>
            <a:ext cx="49805" cy="49805"/>
          </a:xfrm>
          <a:prstGeom prst="ellipse">
            <a:avLst/>
          </a:prstGeom>
          <a:solidFill>
            <a:srgbClr val="243B53"/>
          </a:solidFill>
          <a:ln w="12700">
            <a:solidFill>
              <a:srgbClr val="F4F4F2"/>
            </a:solidFill>
            <a:prstDash val="solid"/>
          </a:ln>
        </p:spPr>
      </p:sp>
      <p:sp>
        <p:nvSpPr>
          <p:cNvPr id="118" name="Shape 115"/>
          <p:cNvSpPr/>
          <p:nvPr/>
        </p:nvSpPr>
        <p:spPr>
          <a:xfrm>
            <a:off x="2032559" y="3445412"/>
            <a:ext cx="44524" cy="44524"/>
          </a:xfrm>
          <a:prstGeom prst="ellipse">
            <a:avLst/>
          </a:prstGeom>
          <a:solidFill>
            <a:srgbClr val="243B53"/>
          </a:solidFill>
          <a:ln w="12700">
            <a:solidFill>
              <a:srgbClr val="F4F4F2"/>
            </a:solidFill>
            <a:prstDash val="solid"/>
          </a:ln>
        </p:spPr>
      </p:sp>
      <p:sp>
        <p:nvSpPr>
          <p:cNvPr id="119" name="Shape 116"/>
          <p:cNvSpPr/>
          <p:nvPr/>
        </p:nvSpPr>
        <p:spPr>
          <a:xfrm>
            <a:off x="2188030" y="3405655"/>
            <a:ext cx="37808" cy="37808"/>
          </a:xfrm>
          <a:prstGeom prst="ellipse">
            <a:avLst/>
          </a:prstGeom>
          <a:solidFill>
            <a:srgbClr val="243B53"/>
          </a:solidFill>
          <a:ln w="12700">
            <a:solidFill>
              <a:srgbClr val="F4F4F2"/>
            </a:solidFill>
            <a:prstDash val="solid"/>
          </a:ln>
        </p:spPr>
      </p:sp>
      <p:sp>
        <p:nvSpPr>
          <p:cNvPr id="120" name="Shape 117"/>
          <p:cNvSpPr/>
          <p:nvPr/>
        </p:nvSpPr>
        <p:spPr>
          <a:xfrm>
            <a:off x="1089237" y="3608895"/>
            <a:ext cx="27716" cy="27716"/>
          </a:xfrm>
          <a:prstGeom prst="ellipse">
            <a:avLst/>
          </a:prstGeom>
          <a:solidFill>
            <a:srgbClr val="7A93B8"/>
          </a:solidFill>
          <a:ln w="12700">
            <a:solidFill>
              <a:srgbClr val="F4F4F2"/>
            </a:solidFill>
            <a:prstDash val="solid"/>
          </a:ln>
        </p:spPr>
      </p:sp>
      <p:sp>
        <p:nvSpPr>
          <p:cNvPr id="121" name="Shape 118"/>
          <p:cNvSpPr/>
          <p:nvPr/>
        </p:nvSpPr>
        <p:spPr>
          <a:xfrm>
            <a:off x="1664413" y="3718374"/>
            <a:ext cx="48840" cy="48840"/>
          </a:xfrm>
          <a:prstGeom prst="ellipse">
            <a:avLst/>
          </a:prstGeom>
          <a:solidFill>
            <a:srgbClr val="7A93B8"/>
          </a:solidFill>
          <a:ln w="12700">
            <a:solidFill>
              <a:srgbClr val="F4F4F2"/>
            </a:solidFill>
            <a:prstDash val="solid"/>
          </a:ln>
        </p:spPr>
      </p:sp>
      <p:sp>
        <p:nvSpPr>
          <p:cNvPr id="122" name="Shape 119"/>
          <p:cNvSpPr/>
          <p:nvPr/>
        </p:nvSpPr>
        <p:spPr>
          <a:xfrm>
            <a:off x="3081353" y="3250663"/>
            <a:ext cx="36063" cy="36063"/>
          </a:xfrm>
          <a:prstGeom prst="ellipse">
            <a:avLst/>
          </a:prstGeom>
          <a:solidFill>
            <a:srgbClr val="7A93B8"/>
          </a:solidFill>
          <a:ln w="12700">
            <a:solidFill>
              <a:srgbClr val="F4F4F2"/>
            </a:solidFill>
            <a:prstDash val="solid"/>
          </a:ln>
        </p:spPr>
      </p:sp>
      <p:sp>
        <p:nvSpPr>
          <p:cNvPr id="123" name="Shape 120"/>
          <p:cNvSpPr/>
          <p:nvPr/>
        </p:nvSpPr>
        <p:spPr>
          <a:xfrm>
            <a:off x="979140" y="3296231"/>
            <a:ext cx="31238" cy="31238"/>
          </a:xfrm>
          <a:prstGeom prst="ellipse">
            <a:avLst/>
          </a:prstGeom>
          <a:solidFill>
            <a:srgbClr val="2F5FA8"/>
          </a:solidFill>
          <a:ln w="12700">
            <a:solidFill>
              <a:srgbClr val="F4F4F2"/>
            </a:solidFill>
            <a:prstDash val="solid"/>
          </a:ln>
        </p:spPr>
      </p:sp>
      <p:sp>
        <p:nvSpPr>
          <p:cNvPr id="124" name="Shape 121"/>
          <p:cNvSpPr/>
          <p:nvPr/>
        </p:nvSpPr>
        <p:spPr>
          <a:xfrm>
            <a:off x="1619461" y="3449278"/>
            <a:ext cx="49704" cy="49704"/>
          </a:xfrm>
          <a:prstGeom prst="ellipse">
            <a:avLst/>
          </a:prstGeom>
          <a:solidFill>
            <a:srgbClr val="2F5FA8"/>
          </a:solidFill>
          <a:ln w="12700">
            <a:solidFill>
              <a:srgbClr val="F4F4F2"/>
            </a:solidFill>
            <a:prstDash val="solid"/>
          </a:ln>
        </p:spPr>
      </p:sp>
      <p:sp>
        <p:nvSpPr>
          <p:cNvPr id="125" name="Shape 122"/>
          <p:cNvSpPr/>
          <p:nvPr/>
        </p:nvSpPr>
        <p:spPr>
          <a:xfrm>
            <a:off x="1858903" y="3273222"/>
            <a:ext cx="39341" cy="39341"/>
          </a:xfrm>
          <a:prstGeom prst="ellipse">
            <a:avLst/>
          </a:prstGeom>
          <a:solidFill>
            <a:srgbClr val="243B53"/>
          </a:solidFill>
          <a:ln w="12700">
            <a:solidFill>
              <a:srgbClr val="F4F4F2"/>
            </a:solidFill>
            <a:prstDash val="solid"/>
          </a:ln>
        </p:spPr>
      </p:sp>
      <p:sp>
        <p:nvSpPr>
          <p:cNvPr id="126" name="Shape 123"/>
          <p:cNvSpPr/>
          <p:nvPr/>
        </p:nvSpPr>
        <p:spPr>
          <a:xfrm>
            <a:off x="1566112" y="3558934"/>
            <a:ext cx="37439" cy="37439"/>
          </a:xfrm>
          <a:prstGeom prst="ellipse">
            <a:avLst/>
          </a:prstGeom>
          <a:solidFill>
            <a:srgbClr val="2F5FA8"/>
          </a:solidFill>
          <a:ln w="12700">
            <a:solidFill>
              <a:srgbClr val="F4F4F2"/>
            </a:solidFill>
            <a:prstDash val="solid"/>
          </a:ln>
        </p:spPr>
      </p:sp>
      <p:sp>
        <p:nvSpPr>
          <p:cNvPr id="127" name="Shape 124"/>
          <p:cNvSpPr/>
          <p:nvPr/>
        </p:nvSpPr>
        <p:spPr>
          <a:xfrm>
            <a:off x="1304356" y="3326504"/>
            <a:ext cx="44510" cy="44510"/>
          </a:xfrm>
          <a:prstGeom prst="ellipse">
            <a:avLst/>
          </a:prstGeom>
          <a:solidFill>
            <a:srgbClr val="2F5FA8"/>
          </a:solidFill>
          <a:ln w="12700">
            <a:solidFill>
              <a:srgbClr val="F4F4F2"/>
            </a:solidFill>
            <a:prstDash val="solid"/>
          </a:ln>
        </p:spPr>
      </p:sp>
      <p:sp>
        <p:nvSpPr>
          <p:cNvPr id="128" name="Shape 125"/>
          <p:cNvSpPr/>
          <p:nvPr/>
        </p:nvSpPr>
        <p:spPr>
          <a:xfrm>
            <a:off x="2519938" y="3018850"/>
            <a:ext cx="39566" cy="39566"/>
          </a:xfrm>
          <a:prstGeom prst="ellipse">
            <a:avLst/>
          </a:prstGeom>
          <a:solidFill>
            <a:srgbClr val="2F5FA8"/>
          </a:solidFill>
          <a:ln w="12700">
            <a:solidFill>
              <a:srgbClr val="F4F4F2"/>
            </a:solidFill>
            <a:prstDash val="solid"/>
          </a:ln>
        </p:spPr>
      </p:sp>
      <p:sp>
        <p:nvSpPr>
          <p:cNvPr id="129" name="Shape 126"/>
          <p:cNvSpPr/>
          <p:nvPr/>
        </p:nvSpPr>
        <p:spPr>
          <a:xfrm>
            <a:off x="2084108" y="3024291"/>
            <a:ext cx="49810" cy="49810"/>
          </a:xfrm>
          <a:prstGeom prst="ellipse">
            <a:avLst/>
          </a:prstGeom>
          <a:solidFill>
            <a:srgbClr val="2F5FA8"/>
          </a:solidFill>
          <a:ln w="12700">
            <a:solidFill>
              <a:srgbClr val="F4F4F2"/>
            </a:solidFill>
            <a:prstDash val="solid"/>
          </a:ln>
        </p:spPr>
      </p:sp>
      <p:sp>
        <p:nvSpPr>
          <p:cNvPr id="130" name="Shape 127"/>
          <p:cNvSpPr/>
          <p:nvPr/>
        </p:nvSpPr>
        <p:spPr>
          <a:xfrm>
            <a:off x="1937313" y="3603861"/>
            <a:ext cx="38783" cy="38783"/>
          </a:xfrm>
          <a:prstGeom prst="ellipse">
            <a:avLst/>
          </a:prstGeom>
          <a:solidFill>
            <a:srgbClr val="2F5FA8"/>
          </a:solidFill>
          <a:ln w="12700">
            <a:solidFill>
              <a:srgbClr val="F4F4F2"/>
            </a:solidFill>
            <a:prstDash val="solid"/>
          </a:ln>
        </p:spPr>
      </p:sp>
      <p:sp>
        <p:nvSpPr>
          <p:cNvPr id="131" name="Shape 128"/>
          <p:cNvSpPr/>
          <p:nvPr/>
        </p:nvSpPr>
        <p:spPr>
          <a:xfrm>
            <a:off x="1261487" y="3100607"/>
            <a:ext cx="50171" cy="50171"/>
          </a:xfrm>
          <a:prstGeom prst="ellipse">
            <a:avLst/>
          </a:prstGeom>
          <a:solidFill>
            <a:srgbClr val="2F5FA8"/>
          </a:solidFill>
          <a:ln w="12700">
            <a:solidFill>
              <a:srgbClr val="F4F4F2"/>
            </a:solidFill>
            <a:prstDash val="solid"/>
          </a:ln>
        </p:spPr>
      </p:sp>
      <p:sp>
        <p:nvSpPr>
          <p:cNvPr id="132" name="Shape 129"/>
          <p:cNvSpPr/>
          <p:nvPr/>
        </p:nvSpPr>
        <p:spPr>
          <a:xfrm>
            <a:off x="2308069" y="2951856"/>
            <a:ext cx="45763" cy="45763"/>
          </a:xfrm>
          <a:prstGeom prst="ellipse">
            <a:avLst/>
          </a:prstGeom>
          <a:solidFill>
            <a:srgbClr val="2F5FA8"/>
          </a:solidFill>
          <a:ln w="12700">
            <a:solidFill>
              <a:srgbClr val="F4F4F2"/>
            </a:solidFill>
            <a:prstDash val="solid"/>
          </a:ln>
        </p:spPr>
      </p:sp>
      <p:sp>
        <p:nvSpPr>
          <p:cNvPr id="133" name="Shape 130"/>
          <p:cNvSpPr/>
          <p:nvPr/>
        </p:nvSpPr>
        <p:spPr>
          <a:xfrm>
            <a:off x="697326" y="3182336"/>
            <a:ext cx="45506" cy="45506"/>
          </a:xfrm>
          <a:prstGeom prst="ellipse">
            <a:avLst/>
          </a:prstGeom>
          <a:solidFill>
            <a:srgbClr val="7A93B8"/>
          </a:solidFill>
          <a:ln w="12700">
            <a:solidFill>
              <a:srgbClr val="F4F4F2"/>
            </a:solidFill>
            <a:prstDash val="solid"/>
          </a:ln>
        </p:spPr>
      </p:sp>
      <p:sp>
        <p:nvSpPr>
          <p:cNvPr id="134" name="Shape 131"/>
          <p:cNvSpPr/>
          <p:nvPr/>
        </p:nvSpPr>
        <p:spPr>
          <a:xfrm>
            <a:off x="1308258" y="3422939"/>
            <a:ext cx="41884" cy="41884"/>
          </a:xfrm>
          <a:prstGeom prst="ellipse">
            <a:avLst/>
          </a:prstGeom>
          <a:solidFill>
            <a:srgbClr val="2F5FA8"/>
          </a:solidFill>
          <a:ln w="12700">
            <a:solidFill>
              <a:srgbClr val="F4F4F2"/>
            </a:solidFill>
            <a:prstDash val="solid"/>
          </a:ln>
        </p:spPr>
      </p:sp>
      <p:sp>
        <p:nvSpPr>
          <p:cNvPr id="135" name="Shape 132"/>
          <p:cNvSpPr/>
          <p:nvPr/>
        </p:nvSpPr>
        <p:spPr>
          <a:xfrm>
            <a:off x="1474712" y="2874256"/>
            <a:ext cx="36454" cy="36454"/>
          </a:xfrm>
          <a:prstGeom prst="ellipse">
            <a:avLst/>
          </a:prstGeom>
          <a:solidFill>
            <a:srgbClr val="7A93B8"/>
          </a:solidFill>
          <a:ln w="12700">
            <a:solidFill>
              <a:srgbClr val="F4F4F2"/>
            </a:solidFill>
            <a:prstDash val="solid"/>
          </a:ln>
        </p:spPr>
      </p:sp>
      <p:sp>
        <p:nvSpPr>
          <p:cNvPr id="136" name="Shape 133"/>
          <p:cNvSpPr/>
          <p:nvPr/>
        </p:nvSpPr>
        <p:spPr>
          <a:xfrm>
            <a:off x="1882367" y="3529547"/>
            <a:ext cx="32782" cy="32782"/>
          </a:xfrm>
          <a:prstGeom prst="ellipse">
            <a:avLst/>
          </a:prstGeom>
          <a:solidFill>
            <a:srgbClr val="2F5FA8"/>
          </a:solidFill>
          <a:ln w="12700">
            <a:solidFill>
              <a:srgbClr val="F4F4F2"/>
            </a:solidFill>
            <a:prstDash val="solid"/>
          </a:ln>
        </p:spPr>
      </p:sp>
      <p:sp>
        <p:nvSpPr>
          <p:cNvPr id="137" name="Shape 134"/>
          <p:cNvSpPr/>
          <p:nvPr/>
        </p:nvSpPr>
        <p:spPr>
          <a:xfrm>
            <a:off x="1844256" y="3357010"/>
            <a:ext cx="40282" cy="40282"/>
          </a:xfrm>
          <a:prstGeom prst="ellipse">
            <a:avLst/>
          </a:prstGeom>
          <a:solidFill>
            <a:srgbClr val="243B53"/>
          </a:solidFill>
          <a:ln w="12700">
            <a:solidFill>
              <a:srgbClr val="F4F4F2"/>
            </a:solidFill>
            <a:prstDash val="solid"/>
          </a:ln>
        </p:spPr>
      </p:sp>
      <p:sp>
        <p:nvSpPr>
          <p:cNvPr id="138" name="Shape 135"/>
          <p:cNvSpPr/>
          <p:nvPr/>
        </p:nvSpPr>
        <p:spPr>
          <a:xfrm>
            <a:off x="2326361" y="3410042"/>
            <a:ext cx="30321" cy="30321"/>
          </a:xfrm>
          <a:prstGeom prst="ellipse">
            <a:avLst/>
          </a:prstGeom>
          <a:solidFill>
            <a:srgbClr val="2F5FA8"/>
          </a:solidFill>
          <a:ln w="12700">
            <a:solidFill>
              <a:srgbClr val="F4F4F2"/>
            </a:solidFill>
            <a:prstDash val="solid"/>
          </a:ln>
        </p:spPr>
      </p:sp>
      <p:sp>
        <p:nvSpPr>
          <p:cNvPr id="139" name="Shape 136"/>
          <p:cNvSpPr/>
          <p:nvPr/>
        </p:nvSpPr>
        <p:spPr>
          <a:xfrm>
            <a:off x="905918" y="2887620"/>
            <a:ext cx="43898" cy="43898"/>
          </a:xfrm>
          <a:prstGeom prst="ellipse">
            <a:avLst/>
          </a:prstGeom>
          <a:solidFill>
            <a:srgbClr val="7A93B8"/>
          </a:solidFill>
          <a:ln w="12700">
            <a:solidFill>
              <a:srgbClr val="F4F4F2"/>
            </a:solidFill>
            <a:prstDash val="solid"/>
          </a:ln>
        </p:spPr>
      </p:sp>
      <p:sp>
        <p:nvSpPr>
          <p:cNvPr id="140" name="Shape 137"/>
          <p:cNvSpPr/>
          <p:nvPr/>
        </p:nvSpPr>
        <p:spPr>
          <a:xfrm>
            <a:off x="2613963" y="3151026"/>
            <a:ext cx="49751" cy="49751"/>
          </a:xfrm>
          <a:prstGeom prst="ellipse">
            <a:avLst/>
          </a:prstGeom>
          <a:solidFill>
            <a:srgbClr val="2F5FA8"/>
          </a:solidFill>
          <a:ln w="12700">
            <a:solidFill>
              <a:srgbClr val="F4F4F2"/>
            </a:solidFill>
            <a:prstDash val="solid"/>
          </a:ln>
        </p:spPr>
      </p:sp>
      <p:sp>
        <p:nvSpPr>
          <p:cNvPr id="141" name="Shape 138"/>
          <p:cNvSpPr/>
          <p:nvPr/>
        </p:nvSpPr>
        <p:spPr>
          <a:xfrm>
            <a:off x="1581322" y="3446329"/>
            <a:ext cx="27457" cy="27457"/>
          </a:xfrm>
          <a:prstGeom prst="ellipse">
            <a:avLst/>
          </a:prstGeom>
          <a:solidFill>
            <a:srgbClr val="2F5FA8"/>
          </a:solidFill>
          <a:ln w="12700">
            <a:solidFill>
              <a:srgbClr val="F4F4F2"/>
            </a:solidFill>
            <a:prstDash val="solid"/>
          </a:ln>
        </p:spPr>
      </p:sp>
      <p:sp>
        <p:nvSpPr>
          <p:cNvPr id="142" name="Shape 139"/>
          <p:cNvSpPr/>
          <p:nvPr/>
        </p:nvSpPr>
        <p:spPr>
          <a:xfrm>
            <a:off x="1758404" y="3512236"/>
            <a:ext cx="38796" cy="38796"/>
          </a:xfrm>
          <a:prstGeom prst="ellipse">
            <a:avLst/>
          </a:prstGeom>
          <a:solidFill>
            <a:srgbClr val="2F5FA8"/>
          </a:solidFill>
          <a:ln w="12700">
            <a:solidFill>
              <a:srgbClr val="F4F4F2"/>
            </a:solidFill>
            <a:prstDash val="solid"/>
          </a:ln>
        </p:spPr>
      </p:sp>
      <p:sp>
        <p:nvSpPr>
          <p:cNvPr id="143" name="Shape 140"/>
          <p:cNvSpPr/>
          <p:nvPr/>
        </p:nvSpPr>
        <p:spPr>
          <a:xfrm>
            <a:off x="1992502" y="2887926"/>
            <a:ext cx="29155" cy="29155"/>
          </a:xfrm>
          <a:prstGeom prst="ellipse">
            <a:avLst/>
          </a:prstGeom>
          <a:solidFill>
            <a:srgbClr val="2F5FA8"/>
          </a:solidFill>
          <a:ln w="12700">
            <a:solidFill>
              <a:srgbClr val="F4F4F2"/>
            </a:solidFill>
            <a:prstDash val="solid"/>
          </a:ln>
        </p:spPr>
      </p:sp>
      <p:sp>
        <p:nvSpPr>
          <p:cNvPr id="144" name="Shape 141"/>
          <p:cNvSpPr/>
          <p:nvPr/>
        </p:nvSpPr>
        <p:spPr>
          <a:xfrm>
            <a:off x="1099519" y="2914899"/>
            <a:ext cx="35756" cy="35756"/>
          </a:xfrm>
          <a:prstGeom prst="ellipse">
            <a:avLst/>
          </a:prstGeom>
          <a:solidFill>
            <a:srgbClr val="7A93B8"/>
          </a:solidFill>
          <a:ln w="12700">
            <a:solidFill>
              <a:srgbClr val="F4F4F2"/>
            </a:solidFill>
            <a:prstDash val="solid"/>
          </a:ln>
        </p:spPr>
      </p:sp>
      <p:sp>
        <p:nvSpPr>
          <p:cNvPr id="145" name="Shape 142"/>
          <p:cNvSpPr/>
          <p:nvPr/>
        </p:nvSpPr>
        <p:spPr>
          <a:xfrm>
            <a:off x="2171729" y="2972689"/>
            <a:ext cx="50141" cy="50141"/>
          </a:xfrm>
          <a:prstGeom prst="ellipse">
            <a:avLst/>
          </a:prstGeom>
          <a:solidFill>
            <a:srgbClr val="2F5FA8"/>
          </a:solidFill>
          <a:ln w="12700">
            <a:solidFill>
              <a:srgbClr val="F4F4F2"/>
            </a:solidFill>
            <a:prstDash val="solid"/>
          </a:ln>
        </p:spPr>
      </p:sp>
      <p:sp>
        <p:nvSpPr>
          <p:cNvPr id="146" name="Shape 143"/>
          <p:cNvSpPr/>
          <p:nvPr/>
        </p:nvSpPr>
        <p:spPr>
          <a:xfrm>
            <a:off x="1904706" y="3688533"/>
            <a:ext cx="40918" cy="40918"/>
          </a:xfrm>
          <a:prstGeom prst="ellipse">
            <a:avLst/>
          </a:prstGeom>
          <a:solidFill>
            <a:srgbClr val="7A93B8"/>
          </a:solidFill>
          <a:ln w="12700">
            <a:solidFill>
              <a:srgbClr val="F4F4F2"/>
            </a:solidFill>
            <a:prstDash val="solid"/>
          </a:ln>
        </p:spPr>
      </p:sp>
      <p:sp>
        <p:nvSpPr>
          <p:cNvPr id="147" name="Shape 144"/>
          <p:cNvSpPr/>
          <p:nvPr/>
        </p:nvSpPr>
        <p:spPr>
          <a:xfrm>
            <a:off x="1395703" y="3211296"/>
            <a:ext cx="39875" cy="39875"/>
          </a:xfrm>
          <a:prstGeom prst="ellipse">
            <a:avLst/>
          </a:prstGeom>
          <a:solidFill>
            <a:srgbClr val="2F5FA8"/>
          </a:solidFill>
          <a:ln w="12700">
            <a:solidFill>
              <a:srgbClr val="F4F4F2"/>
            </a:solidFill>
            <a:prstDash val="solid"/>
          </a:ln>
        </p:spPr>
      </p:sp>
      <p:sp>
        <p:nvSpPr>
          <p:cNvPr id="148" name="Shape 145"/>
          <p:cNvSpPr/>
          <p:nvPr/>
        </p:nvSpPr>
        <p:spPr>
          <a:xfrm>
            <a:off x="890332" y="3312412"/>
            <a:ext cx="35952" cy="35952"/>
          </a:xfrm>
          <a:prstGeom prst="ellipse">
            <a:avLst/>
          </a:prstGeom>
          <a:solidFill>
            <a:srgbClr val="7A93B8"/>
          </a:solidFill>
          <a:ln w="12700">
            <a:solidFill>
              <a:srgbClr val="F4F4F2"/>
            </a:solidFill>
            <a:prstDash val="solid"/>
          </a:ln>
        </p:spPr>
      </p:sp>
      <p:sp>
        <p:nvSpPr>
          <p:cNvPr id="149" name="Shape 146"/>
          <p:cNvSpPr/>
          <p:nvPr/>
        </p:nvSpPr>
        <p:spPr>
          <a:xfrm>
            <a:off x="1793870" y="3642761"/>
            <a:ext cx="34282" cy="34282"/>
          </a:xfrm>
          <a:prstGeom prst="ellipse">
            <a:avLst/>
          </a:prstGeom>
          <a:solidFill>
            <a:srgbClr val="2F5FA8"/>
          </a:solidFill>
          <a:ln w="12700">
            <a:solidFill>
              <a:srgbClr val="F4F4F2"/>
            </a:solidFill>
            <a:prstDash val="solid"/>
          </a:ln>
        </p:spPr>
      </p:sp>
      <p:sp>
        <p:nvSpPr>
          <p:cNvPr id="150" name="Shape 147"/>
          <p:cNvSpPr/>
          <p:nvPr/>
        </p:nvSpPr>
        <p:spPr>
          <a:xfrm>
            <a:off x="2299457" y="3008938"/>
            <a:ext cx="39888" cy="39888"/>
          </a:xfrm>
          <a:prstGeom prst="ellipse">
            <a:avLst/>
          </a:prstGeom>
          <a:solidFill>
            <a:srgbClr val="2F5FA8"/>
          </a:solidFill>
          <a:ln w="12700">
            <a:solidFill>
              <a:srgbClr val="F4F4F2"/>
            </a:solidFill>
            <a:prstDash val="solid"/>
          </a:ln>
        </p:spPr>
      </p:sp>
      <p:sp>
        <p:nvSpPr>
          <p:cNvPr id="151" name="Shape 148"/>
          <p:cNvSpPr/>
          <p:nvPr/>
        </p:nvSpPr>
        <p:spPr>
          <a:xfrm>
            <a:off x="792009" y="3165340"/>
            <a:ext cx="27668" cy="27668"/>
          </a:xfrm>
          <a:prstGeom prst="ellipse">
            <a:avLst/>
          </a:prstGeom>
          <a:solidFill>
            <a:srgbClr val="7A93B8"/>
          </a:solidFill>
          <a:ln w="12700">
            <a:solidFill>
              <a:srgbClr val="F4F4F2"/>
            </a:solidFill>
            <a:prstDash val="solid"/>
          </a:ln>
        </p:spPr>
      </p:sp>
      <p:sp>
        <p:nvSpPr>
          <p:cNvPr id="152" name="Shape 149"/>
          <p:cNvSpPr/>
          <p:nvPr/>
        </p:nvSpPr>
        <p:spPr>
          <a:xfrm>
            <a:off x="2403034" y="2870453"/>
            <a:ext cx="43287" cy="43287"/>
          </a:xfrm>
          <a:prstGeom prst="ellipse">
            <a:avLst/>
          </a:prstGeom>
          <a:solidFill>
            <a:srgbClr val="7A93B8"/>
          </a:solidFill>
          <a:ln w="12700">
            <a:solidFill>
              <a:srgbClr val="F4F4F2"/>
            </a:solidFill>
            <a:prstDash val="solid"/>
          </a:ln>
        </p:spPr>
      </p:sp>
      <p:sp>
        <p:nvSpPr>
          <p:cNvPr id="153" name="Shape 150"/>
          <p:cNvSpPr/>
          <p:nvPr/>
        </p:nvSpPr>
        <p:spPr>
          <a:xfrm>
            <a:off x="2072023" y="2933167"/>
            <a:ext cx="39326" cy="39326"/>
          </a:xfrm>
          <a:prstGeom prst="ellipse">
            <a:avLst/>
          </a:prstGeom>
          <a:solidFill>
            <a:srgbClr val="2F5FA8"/>
          </a:solidFill>
          <a:ln w="12700">
            <a:solidFill>
              <a:srgbClr val="F4F4F2"/>
            </a:solidFill>
            <a:prstDash val="solid"/>
          </a:ln>
        </p:spPr>
      </p:sp>
      <p:sp>
        <p:nvSpPr>
          <p:cNvPr id="154" name="Shape 151"/>
          <p:cNvSpPr/>
          <p:nvPr/>
        </p:nvSpPr>
        <p:spPr>
          <a:xfrm>
            <a:off x="2457282" y="3670016"/>
            <a:ext cx="46096" cy="46096"/>
          </a:xfrm>
          <a:prstGeom prst="ellipse">
            <a:avLst/>
          </a:prstGeom>
          <a:solidFill>
            <a:srgbClr val="7A93B8"/>
          </a:solidFill>
          <a:ln w="12700">
            <a:solidFill>
              <a:srgbClr val="F4F4F2"/>
            </a:solidFill>
            <a:prstDash val="solid"/>
          </a:ln>
        </p:spPr>
      </p:sp>
      <p:sp>
        <p:nvSpPr>
          <p:cNvPr id="155" name="Shape 152"/>
          <p:cNvSpPr/>
          <p:nvPr/>
        </p:nvSpPr>
        <p:spPr>
          <a:xfrm>
            <a:off x="1423106" y="3167894"/>
            <a:ext cx="29159" cy="29159"/>
          </a:xfrm>
          <a:prstGeom prst="ellipse">
            <a:avLst/>
          </a:prstGeom>
          <a:solidFill>
            <a:srgbClr val="2F5FA8"/>
          </a:solidFill>
          <a:ln w="12700">
            <a:solidFill>
              <a:srgbClr val="F4F4F2"/>
            </a:solidFill>
            <a:prstDash val="solid"/>
          </a:ln>
        </p:spPr>
      </p:sp>
      <p:sp>
        <p:nvSpPr>
          <p:cNvPr id="156" name="Shape 153"/>
          <p:cNvSpPr/>
          <p:nvPr/>
        </p:nvSpPr>
        <p:spPr>
          <a:xfrm>
            <a:off x="1876911" y="3794347"/>
            <a:ext cx="27606" cy="27606"/>
          </a:xfrm>
          <a:prstGeom prst="ellipse">
            <a:avLst/>
          </a:prstGeom>
          <a:solidFill>
            <a:srgbClr val="7A93B8"/>
          </a:solidFill>
          <a:ln w="12700">
            <a:solidFill>
              <a:srgbClr val="F4F4F2"/>
            </a:solidFill>
            <a:prstDash val="solid"/>
          </a:ln>
        </p:spPr>
      </p:sp>
      <p:sp>
        <p:nvSpPr>
          <p:cNvPr id="157" name="Shape 154"/>
          <p:cNvSpPr/>
          <p:nvPr/>
        </p:nvSpPr>
        <p:spPr>
          <a:xfrm>
            <a:off x="1268401" y="2787104"/>
            <a:ext cx="47598" cy="47598"/>
          </a:xfrm>
          <a:prstGeom prst="ellipse">
            <a:avLst/>
          </a:prstGeom>
          <a:solidFill>
            <a:srgbClr val="7A93B8"/>
          </a:solidFill>
          <a:ln w="12700">
            <a:solidFill>
              <a:srgbClr val="F4F4F2"/>
            </a:solidFill>
            <a:prstDash val="solid"/>
          </a:ln>
        </p:spPr>
      </p:sp>
      <p:sp>
        <p:nvSpPr>
          <p:cNvPr id="158" name="Shape 155"/>
          <p:cNvSpPr/>
          <p:nvPr/>
        </p:nvSpPr>
        <p:spPr>
          <a:xfrm>
            <a:off x="843759" y="3571224"/>
            <a:ext cx="47562" cy="47562"/>
          </a:xfrm>
          <a:prstGeom prst="ellipse">
            <a:avLst/>
          </a:prstGeom>
          <a:solidFill>
            <a:srgbClr val="7A93B8"/>
          </a:solidFill>
          <a:ln w="12700">
            <a:solidFill>
              <a:srgbClr val="F4F4F2"/>
            </a:solidFill>
            <a:prstDash val="solid"/>
          </a:ln>
        </p:spPr>
      </p:sp>
      <p:sp>
        <p:nvSpPr>
          <p:cNvPr id="159" name="Shape 156"/>
          <p:cNvSpPr/>
          <p:nvPr/>
        </p:nvSpPr>
        <p:spPr>
          <a:xfrm>
            <a:off x="2204038" y="3208288"/>
            <a:ext cx="45110" cy="45110"/>
          </a:xfrm>
          <a:prstGeom prst="ellipse">
            <a:avLst/>
          </a:prstGeom>
          <a:solidFill>
            <a:srgbClr val="243B53"/>
          </a:solidFill>
          <a:ln w="12700">
            <a:solidFill>
              <a:srgbClr val="F4F4F2"/>
            </a:solidFill>
            <a:prstDash val="solid"/>
          </a:ln>
        </p:spPr>
      </p:sp>
      <p:sp>
        <p:nvSpPr>
          <p:cNvPr id="160" name="Shape 157"/>
          <p:cNvSpPr/>
          <p:nvPr/>
        </p:nvSpPr>
        <p:spPr>
          <a:xfrm>
            <a:off x="1695374" y="3110918"/>
            <a:ext cx="32835" cy="32835"/>
          </a:xfrm>
          <a:prstGeom prst="ellipse">
            <a:avLst/>
          </a:prstGeom>
          <a:solidFill>
            <a:srgbClr val="243B53"/>
          </a:solidFill>
          <a:ln w="12700">
            <a:solidFill>
              <a:srgbClr val="F4F4F2"/>
            </a:solidFill>
            <a:prstDash val="solid"/>
          </a:ln>
        </p:spPr>
      </p:sp>
      <p:sp>
        <p:nvSpPr>
          <p:cNvPr id="161" name="Shape 158"/>
          <p:cNvSpPr/>
          <p:nvPr/>
        </p:nvSpPr>
        <p:spPr>
          <a:xfrm>
            <a:off x="2205373" y="2792394"/>
            <a:ext cx="33289" cy="33289"/>
          </a:xfrm>
          <a:prstGeom prst="ellipse">
            <a:avLst/>
          </a:prstGeom>
          <a:solidFill>
            <a:srgbClr val="7A93B8"/>
          </a:solidFill>
          <a:ln w="12700">
            <a:solidFill>
              <a:srgbClr val="F4F4F2"/>
            </a:solidFill>
            <a:prstDash val="solid"/>
          </a:ln>
        </p:spPr>
      </p:sp>
      <p:sp>
        <p:nvSpPr>
          <p:cNvPr id="162" name="Shape 159"/>
          <p:cNvSpPr/>
          <p:nvPr/>
        </p:nvSpPr>
        <p:spPr>
          <a:xfrm>
            <a:off x="2565604" y="3492545"/>
            <a:ext cx="32512" cy="32512"/>
          </a:xfrm>
          <a:prstGeom prst="ellipse">
            <a:avLst/>
          </a:prstGeom>
          <a:solidFill>
            <a:srgbClr val="2F5FA8"/>
          </a:solidFill>
          <a:ln w="12700">
            <a:solidFill>
              <a:srgbClr val="F4F4F2"/>
            </a:solidFill>
            <a:prstDash val="solid"/>
          </a:ln>
        </p:spPr>
      </p:sp>
      <p:sp>
        <p:nvSpPr>
          <p:cNvPr id="163" name="Shape 160"/>
          <p:cNvSpPr/>
          <p:nvPr/>
        </p:nvSpPr>
        <p:spPr>
          <a:xfrm>
            <a:off x="1856684" y="3179871"/>
            <a:ext cx="32013" cy="32013"/>
          </a:xfrm>
          <a:prstGeom prst="ellipse">
            <a:avLst/>
          </a:prstGeom>
          <a:solidFill>
            <a:srgbClr val="243B53"/>
          </a:solidFill>
          <a:ln w="12700">
            <a:solidFill>
              <a:srgbClr val="F4F4F2"/>
            </a:solidFill>
            <a:prstDash val="solid"/>
          </a:ln>
        </p:spPr>
      </p:sp>
      <p:sp>
        <p:nvSpPr>
          <p:cNvPr id="164" name="Shape 161"/>
          <p:cNvSpPr/>
          <p:nvPr/>
        </p:nvSpPr>
        <p:spPr>
          <a:xfrm>
            <a:off x="1867152" y="3210196"/>
            <a:ext cx="38707" cy="38707"/>
          </a:xfrm>
          <a:prstGeom prst="ellipse">
            <a:avLst/>
          </a:prstGeom>
          <a:solidFill>
            <a:srgbClr val="243B53"/>
          </a:solidFill>
          <a:ln w="12700">
            <a:solidFill>
              <a:srgbClr val="F4F4F2"/>
            </a:solidFill>
            <a:prstDash val="solid"/>
          </a:ln>
        </p:spPr>
      </p:sp>
      <p:sp>
        <p:nvSpPr>
          <p:cNvPr id="165" name="Shape 162"/>
          <p:cNvSpPr/>
          <p:nvPr/>
        </p:nvSpPr>
        <p:spPr>
          <a:xfrm>
            <a:off x="890791" y="3565918"/>
            <a:ext cx="30130" cy="30130"/>
          </a:xfrm>
          <a:prstGeom prst="ellipse">
            <a:avLst/>
          </a:prstGeom>
          <a:solidFill>
            <a:srgbClr val="7A93B8"/>
          </a:solidFill>
          <a:ln w="12700">
            <a:solidFill>
              <a:srgbClr val="F4F4F2"/>
            </a:solidFill>
            <a:prstDash val="solid"/>
          </a:ln>
        </p:spPr>
      </p:sp>
      <p:sp>
        <p:nvSpPr>
          <p:cNvPr id="166" name="Shape 163"/>
          <p:cNvSpPr/>
          <p:nvPr/>
        </p:nvSpPr>
        <p:spPr>
          <a:xfrm>
            <a:off x="1526212" y="2717720"/>
            <a:ext cx="32587" cy="32587"/>
          </a:xfrm>
          <a:prstGeom prst="ellipse">
            <a:avLst/>
          </a:prstGeom>
          <a:solidFill>
            <a:srgbClr val="7A93B8"/>
          </a:solidFill>
          <a:ln w="12700">
            <a:solidFill>
              <a:srgbClr val="F4F4F2"/>
            </a:solidFill>
            <a:prstDash val="solid"/>
          </a:ln>
        </p:spPr>
      </p:sp>
      <p:sp>
        <p:nvSpPr>
          <p:cNvPr id="167" name="Shape 164"/>
          <p:cNvSpPr/>
          <p:nvPr/>
        </p:nvSpPr>
        <p:spPr>
          <a:xfrm>
            <a:off x="1729015" y="3012877"/>
            <a:ext cx="36615" cy="36615"/>
          </a:xfrm>
          <a:prstGeom prst="ellipse">
            <a:avLst/>
          </a:prstGeom>
          <a:solidFill>
            <a:srgbClr val="2F5FA8"/>
          </a:solidFill>
          <a:ln w="12700">
            <a:solidFill>
              <a:srgbClr val="F4F4F2"/>
            </a:solidFill>
            <a:prstDash val="solid"/>
          </a:ln>
        </p:spPr>
      </p:sp>
      <p:sp>
        <p:nvSpPr>
          <p:cNvPr id="168" name="Shape 165"/>
          <p:cNvSpPr/>
          <p:nvPr/>
        </p:nvSpPr>
        <p:spPr>
          <a:xfrm>
            <a:off x="2137437" y="3713073"/>
            <a:ext cx="34609" cy="34609"/>
          </a:xfrm>
          <a:prstGeom prst="ellipse">
            <a:avLst/>
          </a:prstGeom>
          <a:solidFill>
            <a:srgbClr val="7A93B8"/>
          </a:solidFill>
          <a:ln w="12700">
            <a:solidFill>
              <a:srgbClr val="F4F4F2"/>
            </a:solidFill>
            <a:prstDash val="solid"/>
          </a:ln>
        </p:spPr>
      </p:sp>
      <p:sp>
        <p:nvSpPr>
          <p:cNvPr id="169" name="Shape 166"/>
          <p:cNvSpPr/>
          <p:nvPr/>
        </p:nvSpPr>
        <p:spPr>
          <a:xfrm>
            <a:off x="2576808" y="2928965"/>
            <a:ext cx="33868" cy="33868"/>
          </a:xfrm>
          <a:prstGeom prst="ellipse">
            <a:avLst/>
          </a:prstGeom>
          <a:solidFill>
            <a:srgbClr val="7A93B8"/>
          </a:solidFill>
          <a:ln w="12700">
            <a:solidFill>
              <a:srgbClr val="F4F4F2"/>
            </a:solidFill>
            <a:prstDash val="solid"/>
          </a:ln>
        </p:spPr>
      </p:sp>
      <p:sp>
        <p:nvSpPr>
          <p:cNvPr id="170" name="Shape 167"/>
          <p:cNvSpPr/>
          <p:nvPr/>
        </p:nvSpPr>
        <p:spPr>
          <a:xfrm>
            <a:off x="2850152" y="3213358"/>
            <a:ext cx="30789" cy="30789"/>
          </a:xfrm>
          <a:prstGeom prst="ellipse">
            <a:avLst/>
          </a:prstGeom>
          <a:solidFill>
            <a:srgbClr val="7A93B8"/>
          </a:solidFill>
          <a:ln w="12700">
            <a:solidFill>
              <a:srgbClr val="F4F4F2"/>
            </a:solidFill>
            <a:prstDash val="solid"/>
          </a:ln>
        </p:spPr>
      </p:sp>
      <p:sp>
        <p:nvSpPr>
          <p:cNvPr id="171" name="Shape 168"/>
          <p:cNvSpPr/>
          <p:nvPr/>
        </p:nvSpPr>
        <p:spPr>
          <a:xfrm>
            <a:off x="1870568" y="3268427"/>
            <a:ext cx="36405" cy="36405"/>
          </a:xfrm>
          <a:prstGeom prst="ellipse">
            <a:avLst/>
          </a:prstGeom>
          <a:solidFill>
            <a:srgbClr val="243B53"/>
          </a:solidFill>
          <a:ln w="12700">
            <a:solidFill>
              <a:srgbClr val="F4F4F2"/>
            </a:solidFill>
            <a:prstDash val="solid"/>
          </a:ln>
        </p:spPr>
      </p:sp>
      <p:sp>
        <p:nvSpPr>
          <p:cNvPr id="172" name="Shape 169"/>
          <p:cNvSpPr/>
          <p:nvPr/>
        </p:nvSpPr>
        <p:spPr>
          <a:xfrm>
            <a:off x="2112908" y="3280353"/>
            <a:ext cx="38357" cy="38357"/>
          </a:xfrm>
          <a:prstGeom prst="ellipse">
            <a:avLst/>
          </a:prstGeom>
          <a:solidFill>
            <a:srgbClr val="243B53"/>
          </a:solidFill>
          <a:ln w="12700">
            <a:solidFill>
              <a:srgbClr val="F4F4F2"/>
            </a:solidFill>
            <a:prstDash val="solid"/>
          </a:ln>
        </p:spPr>
      </p:sp>
      <p:sp>
        <p:nvSpPr>
          <p:cNvPr id="173" name="Shape 170"/>
          <p:cNvSpPr/>
          <p:nvPr/>
        </p:nvSpPr>
        <p:spPr>
          <a:xfrm>
            <a:off x="1802364" y="3038164"/>
            <a:ext cx="33120" cy="33120"/>
          </a:xfrm>
          <a:prstGeom prst="ellipse">
            <a:avLst/>
          </a:prstGeom>
          <a:solidFill>
            <a:srgbClr val="2F5FA8"/>
          </a:solidFill>
          <a:ln w="12700">
            <a:solidFill>
              <a:srgbClr val="F4F4F2"/>
            </a:solidFill>
            <a:prstDash val="solid"/>
          </a:ln>
        </p:spPr>
      </p:sp>
      <p:sp>
        <p:nvSpPr>
          <p:cNvPr id="174" name="Shape 171"/>
          <p:cNvSpPr/>
          <p:nvPr/>
        </p:nvSpPr>
        <p:spPr>
          <a:xfrm>
            <a:off x="920906" y="3207102"/>
            <a:ext cx="29467" cy="29467"/>
          </a:xfrm>
          <a:prstGeom prst="ellipse">
            <a:avLst/>
          </a:prstGeom>
          <a:solidFill>
            <a:srgbClr val="7A93B8"/>
          </a:solidFill>
          <a:ln w="12700">
            <a:solidFill>
              <a:srgbClr val="F4F4F2"/>
            </a:solidFill>
            <a:prstDash val="solid"/>
          </a:ln>
        </p:spPr>
      </p:sp>
      <p:sp>
        <p:nvSpPr>
          <p:cNvPr id="175" name="Shape 172"/>
          <p:cNvSpPr/>
          <p:nvPr/>
        </p:nvSpPr>
        <p:spPr>
          <a:xfrm>
            <a:off x="1802833" y="3666738"/>
            <a:ext cx="48679" cy="48679"/>
          </a:xfrm>
          <a:prstGeom prst="ellipse">
            <a:avLst/>
          </a:prstGeom>
          <a:solidFill>
            <a:srgbClr val="2F5FA8"/>
          </a:solidFill>
          <a:ln w="12700">
            <a:solidFill>
              <a:srgbClr val="F4F4F2"/>
            </a:solidFill>
            <a:prstDash val="solid"/>
          </a:ln>
        </p:spPr>
      </p:sp>
      <p:sp>
        <p:nvSpPr>
          <p:cNvPr id="176" name="Shape 173"/>
          <p:cNvSpPr/>
          <p:nvPr/>
        </p:nvSpPr>
        <p:spPr>
          <a:xfrm>
            <a:off x="1794904" y="2821882"/>
            <a:ext cx="46009" cy="46009"/>
          </a:xfrm>
          <a:prstGeom prst="ellipse">
            <a:avLst/>
          </a:prstGeom>
          <a:solidFill>
            <a:srgbClr val="7A93B8"/>
          </a:solidFill>
          <a:ln w="12700">
            <a:solidFill>
              <a:srgbClr val="F4F4F2"/>
            </a:solidFill>
            <a:prstDash val="solid"/>
          </a:ln>
        </p:spPr>
      </p:sp>
      <p:sp>
        <p:nvSpPr>
          <p:cNvPr id="177" name="Shape 174"/>
          <p:cNvSpPr/>
          <p:nvPr/>
        </p:nvSpPr>
        <p:spPr>
          <a:xfrm>
            <a:off x="2194341" y="3216154"/>
            <a:ext cx="39436" cy="39436"/>
          </a:xfrm>
          <a:prstGeom prst="ellipse">
            <a:avLst/>
          </a:prstGeom>
          <a:solidFill>
            <a:srgbClr val="243B53"/>
          </a:solidFill>
          <a:ln w="12700">
            <a:solidFill>
              <a:srgbClr val="F4F4F2"/>
            </a:solidFill>
            <a:prstDash val="solid"/>
          </a:ln>
        </p:spPr>
      </p:sp>
      <p:sp>
        <p:nvSpPr>
          <p:cNvPr id="178" name="Shape 175"/>
          <p:cNvSpPr/>
          <p:nvPr/>
        </p:nvSpPr>
        <p:spPr>
          <a:xfrm>
            <a:off x="1532779" y="3198527"/>
            <a:ext cx="44265" cy="44265"/>
          </a:xfrm>
          <a:prstGeom prst="ellipse">
            <a:avLst/>
          </a:prstGeom>
          <a:solidFill>
            <a:srgbClr val="243B53"/>
          </a:solidFill>
          <a:ln w="12700">
            <a:solidFill>
              <a:srgbClr val="F4F4F2"/>
            </a:solidFill>
            <a:prstDash val="solid"/>
          </a:ln>
        </p:spPr>
      </p:sp>
      <p:sp>
        <p:nvSpPr>
          <p:cNvPr id="179" name="Shape 176"/>
          <p:cNvSpPr/>
          <p:nvPr/>
        </p:nvSpPr>
        <p:spPr>
          <a:xfrm>
            <a:off x="2005678" y="3249550"/>
            <a:ext cx="47313" cy="47313"/>
          </a:xfrm>
          <a:prstGeom prst="ellipse">
            <a:avLst/>
          </a:prstGeom>
          <a:solidFill>
            <a:srgbClr val="243B53"/>
          </a:solidFill>
          <a:ln w="12700">
            <a:solidFill>
              <a:srgbClr val="F4F4F2"/>
            </a:solidFill>
            <a:prstDash val="solid"/>
          </a:ln>
        </p:spPr>
      </p:sp>
      <p:sp>
        <p:nvSpPr>
          <p:cNvPr id="180" name="Shape 177"/>
          <p:cNvSpPr/>
          <p:nvPr/>
        </p:nvSpPr>
        <p:spPr>
          <a:xfrm>
            <a:off x="1178723" y="3242219"/>
            <a:ext cx="39229" cy="39229"/>
          </a:xfrm>
          <a:prstGeom prst="ellipse">
            <a:avLst/>
          </a:prstGeom>
          <a:solidFill>
            <a:srgbClr val="2F5FA8"/>
          </a:solidFill>
          <a:ln w="12700">
            <a:solidFill>
              <a:srgbClr val="F4F4F2"/>
            </a:solidFill>
            <a:prstDash val="solid"/>
          </a:ln>
        </p:spPr>
      </p:sp>
      <p:sp>
        <p:nvSpPr>
          <p:cNvPr id="181" name="Shape 178"/>
          <p:cNvSpPr/>
          <p:nvPr/>
        </p:nvSpPr>
        <p:spPr>
          <a:xfrm>
            <a:off x="1876923" y="3336500"/>
            <a:ext cx="49245" cy="49245"/>
          </a:xfrm>
          <a:prstGeom prst="ellipse">
            <a:avLst/>
          </a:prstGeom>
          <a:solidFill>
            <a:srgbClr val="243B53"/>
          </a:solidFill>
          <a:ln w="12700">
            <a:solidFill>
              <a:srgbClr val="F4F4F2"/>
            </a:solidFill>
            <a:prstDash val="solid"/>
          </a:ln>
        </p:spPr>
      </p:sp>
      <p:sp>
        <p:nvSpPr>
          <p:cNvPr id="182" name="Shape 179"/>
          <p:cNvSpPr/>
          <p:nvPr/>
        </p:nvSpPr>
        <p:spPr>
          <a:xfrm>
            <a:off x="2419197" y="3369575"/>
            <a:ext cx="45073" cy="45073"/>
          </a:xfrm>
          <a:prstGeom prst="ellipse">
            <a:avLst/>
          </a:prstGeom>
          <a:solidFill>
            <a:srgbClr val="2F5FA8"/>
          </a:solidFill>
          <a:ln w="12700">
            <a:solidFill>
              <a:srgbClr val="F4F4F2"/>
            </a:solidFill>
            <a:prstDash val="solid"/>
          </a:ln>
        </p:spPr>
      </p:sp>
      <p:sp>
        <p:nvSpPr>
          <p:cNvPr id="183" name="Shape 180"/>
          <p:cNvSpPr/>
          <p:nvPr/>
        </p:nvSpPr>
        <p:spPr>
          <a:xfrm>
            <a:off x="1848293" y="3807274"/>
            <a:ext cx="48450" cy="48450"/>
          </a:xfrm>
          <a:prstGeom prst="ellipse">
            <a:avLst/>
          </a:prstGeom>
          <a:solidFill>
            <a:srgbClr val="7A93B8"/>
          </a:solidFill>
          <a:ln w="12700">
            <a:solidFill>
              <a:srgbClr val="F4F4F2"/>
            </a:solidFill>
            <a:prstDash val="solid"/>
          </a:ln>
        </p:spPr>
      </p:sp>
      <p:sp>
        <p:nvSpPr>
          <p:cNvPr id="184" name="Shape 181"/>
          <p:cNvSpPr/>
          <p:nvPr/>
        </p:nvSpPr>
        <p:spPr>
          <a:xfrm>
            <a:off x="2625123" y="3236909"/>
            <a:ext cx="34783" cy="34783"/>
          </a:xfrm>
          <a:prstGeom prst="ellipse">
            <a:avLst/>
          </a:prstGeom>
          <a:solidFill>
            <a:srgbClr val="2F5FA8"/>
          </a:solidFill>
          <a:ln w="12700">
            <a:solidFill>
              <a:srgbClr val="F4F4F2"/>
            </a:solidFill>
            <a:prstDash val="solid"/>
          </a:ln>
        </p:spPr>
      </p:sp>
      <p:sp>
        <p:nvSpPr>
          <p:cNvPr id="185" name="Shape 182"/>
          <p:cNvSpPr/>
          <p:nvPr/>
        </p:nvSpPr>
        <p:spPr>
          <a:xfrm>
            <a:off x="737280" y="3194371"/>
            <a:ext cx="32624" cy="32624"/>
          </a:xfrm>
          <a:prstGeom prst="ellipse">
            <a:avLst/>
          </a:prstGeom>
          <a:solidFill>
            <a:srgbClr val="7A93B8"/>
          </a:solidFill>
          <a:ln w="12700">
            <a:solidFill>
              <a:srgbClr val="F4F4F2"/>
            </a:solidFill>
            <a:prstDash val="solid"/>
          </a:ln>
        </p:spPr>
      </p:sp>
      <p:sp>
        <p:nvSpPr>
          <p:cNvPr id="186" name="Shape 183"/>
          <p:cNvSpPr/>
          <p:nvPr/>
        </p:nvSpPr>
        <p:spPr>
          <a:xfrm>
            <a:off x="840365" y="3285591"/>
            <a:ext cx="28877" cy="28877"/>
          </a:xfrm>
          <a:prstGeom prst="ellipse">
            <a:avLst/>
          </a:prstGeom>
          <a:solidFill>
            <a:srgbClr val="7A93B8"/>
          </a:solidFill>
          <a:ln w="12700">
            <a:solidFill>
              <a:srgbClr val="F4F4F2"/>
            </a:solidFill>
            <a:prstDash val="solid"/>
          </a:ln>
        </p:spPr>
      </p:sp>
      <p:sp>
        <p:nvSpPr>
          <p:cNvPr id="187" name="Shape 184"/>
          <p:cNvSpPr/>
          <p:nvPr/>
        </p:nvSpPr>
        <p:spPr>
          <a:xfrm>
            <a:off x="1320431" y="3445832"/>
            <a:ext cx="31347" cy="31347"/>
          </a:xfrm>
          <a:prstGeom prst="ellipse">
            <a:avLst/>
          </a:prstGeom>
          <a:solidFill>
            <a:srgbClr val="2F5FA8"/>
          </a:solidFill>
          <a:ln w="12700">
            <a:solidFill>
              <a:srgbClr val="F4F4F2"/>
            </a:solidFill>
            <a:prstDash val="solid"/>
          </a:ln>
        </p:spPr>
      </p:sp>
      <p:sp>
        <p:nvSpPr>
          <p:cNvPr id="188" name="Shape 185"/>
          <p:cNvSpPr/>
          <p:nvPr/>
        </p:nvSpPr>
        <p:spPr>
          <a:xfrm>
            <a:off x="2256383" y="3556833"/>
            <a:ext cx="34745" cy="34745"/>
          </a:xfrm>
          <a:prstGeom prst="ellipse">
            <a:avLst/>
          </a:prstGeom>
          <a:solidFill>
            <a:srgbClr val="2F5FA8"/>
          </a:solidFill>
          <a:ln w="12700">
            <a:solidFill>
              <a:srgbClr val="F4F4F2"/>
            </a:solidFill>
            <a:prstDash val="solid"/>
          </a:ln>
        </p:spPr>
      </p:sp>
      <p:sp>
        <p:nvSpPr>
          <p:cNvPr id="189" name="Shape 186"/>
          <p:cNvSpPr/>
          <p:nvPr/>
        </p:nvSpPr>
        <p:spPr>
          <a:xfrm>
            <a:off x="1711640" y="3221282"/>
            <a:ext cx="48457" cy="48457"/>
          </a:xfrm>
          <a:prstGeom prst="ellipse">
            <a:avLst/>
          </a:prstGeom>
          <a:solidFill>
            <a:srgbClr val="243B53"/>
          </a:solidFill>
          <a:ln w="12700">
            <a:solidFill>
              <a:srgbClr val="F4F4F2"/>
            </a:solidFill>
            <a:prstDash val="solid"/>
          </a:ln>
        </p:spPr>
      </p:sp>
      <p:sp>
        <p:nvSpPr>
          <p:cNvPr id="190" name="Shape 187"/>
          <p:cNvSpPr/>
          <p:nvPr/>
        </p:nvSpPr>
        <p:spPr>
          <a:xfrm>
            <a:off x="946775" y="3442081"/>
            <a:ext cx="41957" cy="41957"/>
          </a:xfrm>
          <a:prstGeom prst="ellipse">
            <a:avLst/>
          </a:prstGeom>
          <a:solidFill>
            <a:srgbClr val="7A93B8"/>
          </a:solidFill>
          <a:ln w="12700">
            <a:solidFill>
              <a:srgbClr val="F4F4F2"/>
            </a:solidFill>
            <a:prstDash val="solid"/>
          </a:ln>
        </p:spPr>
      </p:sp>
      <p:sp>
        <p:nvSpPr>
          <p:cNvPr id="191" name="Shape 188"/>
          <p:cNvSpPr/>
          <p:nvPr/>
        </p:nvSpPr>
        <p:spPr>
          <a:xfrm>
            <a:off x="2010514" y="3233665"/>
            <a:ext cx="32914" cy="32914"/>
          </a:xfrm>
          <a:prstGeom prst="ellipse">
            <a:avLst/>
          </a:prstGeom>
          <a:solidFill>
            <a:srgbClr val="243B53"/>
          </a:solidFill>
          <a:ln w="12700">
            <a:solidFill>
              <a:srgbClr val="F4F4F2"/>
            </a:solidFill>
            <a:prstDash val="solid"/>
          </a:ln>
        </p:spPr>
      </p:sp>
      <p:sp>
        <p:nvSpPr>
          <p:cNvPr id="192" name="Shape 189"/>
          <p:cNvSpPr/>
          <p:nvPr/>
        </p:nvSpPr>
        <p:spPr>
          <a:xfrm>
            <a:off x="2651985" y="3221312"/>
            <a:ext cx="29800" cy="29800"/>
          </a:xfrm>
          <a:prstGeom prst="ellipse">
            <a:avLst/>
          </a:prstGeom>
          <a:solidFill>
            <a:srgbClr val="2F5FA8"/>
          </a:solidFill>
          <a:ln w="12700">
            <a:solidFill>
              <a:srgbClr val="F4F4F2"/>
            </a:solidFill>
            <a:prstDash val="solid"/>
          </a:ln>
        </p:spPr>
      </p:sp>
      <p:sp>
        <p:nvSpPr>
          <p:cNvPr id="193" name="Shape 190"/>
          <p:cNvSpPr/>
          <p:nvPr/>
        </p:nvSpPr>
        <p:spPr>
          <a:xfrm>
            <a:off x="2839647" y="3235454"/>
            <a:ext cx="45715" cy="45715"/>
          </a:xfrm>
          <a:prstGeom prst="ellipse">
            <a:avLst/>
          </a:prstGeom>
          <a:solidFill>
            <a:srgbClr val="7A93B8"/>
          </a:solidFill>
          <a:ln w="12700">
            <a:solidFill>
              <a:srgbClr val="F4F4F2"/>
            </a:solidFill>
            <a:prstDash val="solid"/>
          </a:ln>
        </p:spPr>
      </p:sp>
      <p:sp>
        <p:nvSpPr>
          <p:cNvPr id="194" name="Shape 191"/>
          <p:cNvSpPr/>
          <p:nvPr/>
        </p:nvSpPr>
        <p:spPr>
          <a:xfrm>
            <a:off x="1561406" y="3092011"/>
            <a:ext cx="27775" cy="27775"/>
          </a:xfrm>
          <a:prstGeom prst="ellipse">
            <a:avLst/>
          </a:prstGeom>
          <a:solidFill>
            <a:srgbClr val="2F5FA8"/>
          </a:solidFill>
          <a:ln w="12700">
            <a:solidFill>
              <a:srgbClr val="F4F4F2"/>
            </a:solidFill>
            <a:prstDash val="solid"/>
          </a:ln>
        </p:spPr>
      </p:sp>
      <p:sp>
        <p:nvSpPr>
          <p:cNvPr id="195" name="Shape 192"/>
          <p:cNvSpPr/>
          <p:nvPr/>
        </p:nvSpPr>
        <p:spPr>
          <a:xfrm>
            <a:off x="921062" y="3540920"/>
            <a:ext cx="41224" cy="41224"/>
          </a:xfrm>
          <a:prstGeom prst="ellipse">
            <a:avLst/>
          </a:prstGeom>
          <a:solidFill>
            <a:srgbClr val="7A93B8"/>
          </a:solidFill>
          <a:ln w="12700">
            <a:solidFill>
              <a:srgbClr val="F4F4F2"/>
            </a:solidFill>
            <a:prstDash val="solid"/>
          </a:ln>
        </p:spPr>
      </p:sp>
      <p:sp>
        <p:nvSpPr>
          <p:cNvPr id="196" name="Shape 193"/>
          <p:cNvSpPr/>
          <p:nvPr/>
        </p:nvSpPr>
        <p:spPr>
          <a:xfrm>
            <a:off x="1897580" y="3057019"/>
            <a:ext cx="35849" cy="35849"/>
          </a:xfrm>
          <a:prstGeom prst="ellipse">
            <a:avLst/>
          </a:prstGeom>
          <a:solidFill>
            <a:srgbClr val="2F5FA8"/>
          </a:solidFill>
          <a:ln w="12700">
            <a:solidFill>
              <a:srgbClr val="F4F4F2"/>
            </a:solidFill>
            <a:prstDash val="solid"/>
          </a:ln>
        </p:spPr>
      </p:sp>
      <p:sp>
        <p:nvSpPr>
          <p:cNvPr id="197" name="Shape 194"/>
          <p:cNvSpPr/>
          <p:nvPr/>
        </p:nvSpPr>
        <p:spPr>
          <a:xfrm>
            <a:off x="2497890" y="3270226"/>
            <a:ext cx="29477" cy="29477"/>
          </a:xfrm>
          <a:prstGeom prst="ellipse">
            <a:avLst/>
          </a:prstGeom>
          <a:solidFill>
            <a:srgbClr val="2F5FA8"/>
          </a:solidFill>
          <a:ln w="12700">
            <a:solidFill>
              <a:srgbClr val="F4F4F2"/>
            </a:solidFill>
            <a:prstDash val="solid"/>
          </a:ln>
        </p:spPr>
      </p:sp>
      <p:sp>
        <p:nvSpPr>
          <p:cNvPr id="198" name="Shape 195"/>
          <p:cNvSpPr/>
          <p:nvPr/>
        </p:nvSpPr>
        <p:spPr>
          <a:xfrm>
            <a:off x="981876" y="3323687"/>
            <a:ext cx="49794" cy="49794"/>
          </a:xfrm>
          <a:prstGeom prst="ellipse">
            <a:avLst/>
          </a:prstGeom>
          <a:solidFill>
            <a:srgbClr val="2F5FA8"/>
          </a:solidFill>
          <a:ln w="12700">
            <a:solidFill>
              <a:srgbClr val="F4F4F2"/>
            </a:solidFill>
            <a:prstDash val="solid"/>
          </a:ln>
        </p:spPr>
      </p:sp>
      <p:sp>
        <p:nvSpPr>
          <p:cNvPr id="199" name="Shape 196"/>
          <p:cNvSpPr/>
          <p:nvPr/>
        </p:nvSpPr>
        <p:spPr>
          <a:xfrm>
            <a:off x="1597905" y="3193863"/>
            <a:ext cx="39352" cy="39352"/>
          </a:xfrm>
          <a:prstGeom prst="ellipse">
            <a:avLst/>
          </a:prstGeom>
          <a:solidFill>
            <a:srgbClr val="243B53"/>
          </a:solidFill>
          <a:ln w="12700">
            <a:solidFill>
              <a:srgbClr val="F4F4F2"/>
            </a:solidFill>
            <a:prstDash val="solid"/>
          </a:ln>
        </p:spPr>
      </p:sp>
      <p:sp>
        <p:nvSpPr>
          <p:cNvPr id="200" name="Shape 197"/>
          <p:cNvSpPr/>
          <p:nvPr/>
        </p:nvSpPr>
        <p:spPr>
          <a:xfrm>
            <a:off x="1680477" y="3405740"/>
            <a:ext cx="48197" cy="48197"/>
          </a:xfrm>
          <a:prstGeom prst="ellipse">
            <a:avLst/>
          </a:prstGeom>
          <a:solidFill>
            <a:srgbClr val="243B53"/>
          </a:solidFill>
          <a:ln w="12700">
            <a:solidFill>
              <a:srgbClr val="F4F4F2"/>
            </a:solidFill>
            <a:prstDash val="solid"/>
          </a:ln>
        </p:spPr>
      </p:sp>
      <p:sp>
        <p:nvSpPr>
          <p:cNvPr id="201" name="Shape 198"/>
          <p:cNvSpPr/>
          <p:nvPr/>
        </p:nvSpPr>
        <p:spPr>
          <a:xfrm>
            <a:off x="1732241" y="2976739"/>
            <a:ext cx="31393" cy="31393"/>
          </a:xfrm>
          <a:prstGeom prst="ellipse">
            <a:avLst/>
          </a:prstGeom>
          <a:solidFill>
            <a:srgbClr val="2F5FA8"/>
          </a:solidFill>
          <a:ln w="12700">
            <a:solidFill>
              <a:srgbClr val="F4F4F2"/>
            </a:solidFill>
            <a:prstDash val="solid"/>
          </a:ln>
        </p:spPr>
      </p:sp>
      <p:sp>
        <p:nvSpPr>
          <p:cNvPr id="202" name="Shape 199"/>
          <p:cNvSpPr/>
          <p:nvPr/>
        </p:nvSpPr>
        <p:spPr>
          <a:xfrm>
            <a:off x="2067622" y="2937881"/>
            <a:ext cx="36327" cy="36327"/>
          </a:xfrm>
          <a:prstGeom prst="ellipse">
            <a:avLst/>
          </a:prstGeom>
          <a:solidFill>
            <a:srgbClr val="2F5FA8"/>
          </a:solidFill>
          <a:ln w="12700">
            <a:solidFill>
              <a:srgbClr val="F4F4F2"/>
            </a:solidFill>
            <a:prstDash val="solid"/>
          </a:ln>
        </p:spPr>
      </p:sp>
      <p:sp>
        <p:nvSpPr>
          <p:cNvPr id="203" name="Shape 200"/>
          <p:cNvSpPr/>
          <p:nvPr/>
        </p:nvSpPr>
        <p:spPr>
          <a:xfrm>
            <a:off x="1131474" y="3587650"/>
            <a:ext cx="27660" cy="27660"/>
          </a:xfrm>
          <a:prstGeom prst="ellipse">
            <a:avLst/>
          </a:prstGeom>
          <a:solidFill>
            <a:srgbClr val="7A93B8"/>
          </a:solidFill>
          <a:ln w="12700">
            <a:solidFill>
              <a:srgbClr val="F4F4F2"/>
            </a:solidFill>
            <a:prstDash val="solid"/>
          </a:ln>
        </p:spPr>
      </p:sp>
      <p:sp>
        <p:nvSpPr>
          <p:cNvPr id="204" name="Shape 201"/>
          <p:cNvSpPr/>
          <p:nvPr/>
        </p:nvSpPr>
        <p:spPr>
          <a:xfrm>
            <a:off x="1183980" y="3003435"/>
            <a:ext cx="38449" cy="38449"/>
          </a:xfrm>
          <a:prstGeom prst="ellipse">
            <a:avLst/>
          </a:prstGeom>
          <a:solidFill>
            <a:srgbClr val="7A93B8"/>
          </a:solidFill>
          <a:ln w="12700">
            <a:solidFill>
              <a:srgbClr val="F4F4F2"/>
            </a:solidFill>
            <a:prstDash val="solid"/>
          </a:ln>
        </p:spPr>
      </p:sp>
      <p:sp>
        <p:nvSpPr>
          <p:cNvPr id="205" name="Shape 202"/>
          <p:cNvSpPr/>
          <p:nvPr/>
        </p:nvSpPr>
        <p:spPr>
          <a:xfrm>
            <a:off x="1827133" y="3290384"/>
            <a:ext cx="29550" cy="29550"/>
          </a:xfrm>
          <a:prstGeom prst="ellipse">
            <a:avLst/>
          </a:prstGeom>
          <a:solidFill>
            <a:srgbClr val="243B53"/>
          </a:solidFill>
          <a:ln w="12700">
            <a:solidFill>
              <a:srgbClr val="F4F4F2"/>
            </a:solidFill>
            <a:prstDash val="solid"/>
          </a:ln>
        </p:spPr>
      </p:sp>
      <p:sp>
        <p:nvSpPr>
          <p:cNvPr id="206" name="Shape 203"/>
          <p:cNvSpPr/>
          <p:nvPr/>
        </p:nvSpPr>
        <p:spPr>
          <a:xfrm>
            <a:off x="1954458" y="3627939"/>
            <a:ext cx="30485" cy="30485"/>
          </a:xfrm>
          <a:prstGeom prst="ellipse">
            <a:avLst/>
          </a:prstGeom>
          <a:solidFill>
            <a:srgbClr val="2F5FA8"/>
          </a:solidFill>
          <a:ln w="12700">
            <a:solidFill>
              <a:srgbClr val="F4F4F2"/>
            </a:solidFill>
            <a:prstDash val="solid"/>
          </a:ln>
        </p:spPr>
      </p:sp>
      <p:sp>
        <p:nvSpPr>
          <p:cNvPr id="207" name="Shape 204"/>
          <p:cNvSpPr/>
          <p:nvPr/>
        </p:nvSpPr>
        <p:spPr>
          <a:xfrm>
            <a:off x="1638722" y="2724614"/>
            <a:ext cx="33648" cy="33648"/>
          </a:xfrm>
          <a:prstGeom prst="ellipse">
            <a:avLst/>
          </a:prstGeom>
          <a:solidFill>
            <a:srgbClr val="7A93B8"/>
          </a:solidFill>
          <a:ln w="12700">
            <a:solidFill>
              <a:srgbClr val="F4F4F2"/>
            </a:solidFill>
            <a:prstDash val="solid"/>
          </a:ln>
        </p:spPr>
      </p:sp>
      <p:sp>
        <p:nvSpPr>
          <p:cNvPr id="208" name="Shape 205"/>
          <p:cNvSpPr/>
          <p:nvPr/>
        </p:nvSpPr>
        <p:spPr>
          <a:xfrm>
            <a:off x="1075184" y="3284227"/>
            <a:ext cx="31431" cy="31431"/>
          </a:xfrm>
          <a:prstGeom prst="ellipse">
            <a:avLst/>
          </a:prstGeom>
          <a:solidFill>
            <a:srgbClr val="2F5FA8"/>
          </a:solidFill>
          <a:ln w="12700">
            <a:solidFill>
              <a:srgbClr val="F4F4F2"/>
            </a:solidFill>
            <a:prstDash val="solid"/>
          </a:ln>
        </p:spPr>
      </p:sp>
      <p:sp>
        <p:nvSpPr>
          <p:cNvPr id="209" name="Shape 206"/>
          <p:cNvSpPr/>
          <p:nvPr/>
        </p:nvSpPr>
        <p:spPr>
          <a:xfrm>
            <a:off x="1956195" y="3224874"/>
            <a:ext cx="43292" cy="43292"/>
          </a:xfrm>
          <a:prstGeom prst="ellipse">
            <a:avLst/>
          </a:prstGeom>
          <a:solidFill>
            <a:srgbClr val="243B53"/>
          </a:solidFill>
          <a:ln w="12700">
            <a:solidFill>
              <a:srgbClr val="F4F4F2"/>
            </a:solidFill>
            <a:prstDash val="solid"/>
          </a:ln>
        </p:spPr>
      </p:sp>
      <p:sp>
        <p:nvSpPr>
          <p:cNvPr id="210" name="Shape 207"/>
          <p:cNvSpPr/>
          <p:nvPr/>
        </p:nvSpPr>
        <p:spPr>
          <a:xfrm>
            <a:off x="1652260" y="3300876"/>
            <a:ext cx="27722" cy="27722"/>
          </a:xfrm>
          <a:prstGeom prst="ellipse">
            <a:avLst/>
          </a:prstGeom>
          <a:solidFill>
            <a:srgbClr val="243B53"/>
          </a:solidFill>
          <a:ln w="12700">
            <a:solidFill>
              <a:srgbClr val="F4F4F2"/>
            </a:solidFill>
            <a:prstDash val="solid"/>
          </a:ln>
        </p:spPr>
      </p:sp>
      <p:sp>
        <p:nvSpPr>
          <p:cNvPr id="211" name="Shape 208"/>
          <p:cNvSpPr/>
          <p:nvPr/>
        </p:nvSpPr>
        <p:spPr>
          <a:xfrm>
            <a:off x="2047777" y="3293454"/>
            <a:ext cx="29288" cy="29288"/>
          </a:xfrm>
          <a:prstGeom prst="ellipse">
            <a:avLst/>
          </a:prstGeom>
          <a:solidFill>
            <a:srgbClr val="243B53"/>
          </a:solidFill>
          <a:ln w="12700">
            <a:solidFill>
              <a:srgbClr val="F4F4F2"/>
            </a:solidFill>
            <a:prstDash val="solid"/>
          </a:ln>
        </p:spPr>
      </p:sp>
      <p:sp>
        <p:nvSpPr>
          <p:cNvPr id="212" name="Shape 209"/>
          <p:cNvSpPr/>
          <p:nvPr/>
        </p:nvSpPr>
        <p:spPr>
          <a:xfrm>
            <a:off x="1917018" y="3283561"/>
            <a:ext cx="31950" cy="31950"/>
          </a:xfrm>
          <a:prstGeom prst="ellipse">
            <a:avLst/>
          </a:prstGeom>
          <a:solidFill>
            <a:srgbClr val="243B53"/>
          </a:solidFill>
          <a:ln w="12700">
            <a:solidFill>
              <a:srgbClr val="F4F4F2"/>
            </a:solidFill>
            <a:prstDash val="solid"/>
          </a:ln>
        </p:spPr>
      </p:sp>
      <p:sp>
        <p:nvSpPr>
          <p:cNvPr id="213" name="Shape 210"/>
          <p:cNvSpPr/>
          <p:nvPr/>
        </p:nvSpPr>
        <p:spPr>
          <a:xfrm>
            <a:off x="1828415" y="3299235"/>
            <a:ext cx="48810" cy="48810"/>
          </a:xfrm>
          <a:prstGeom prst="ellipse">
            <a:avLst/>
          </a:prstGeom>
          <a:solidFill>
            <a:srgbClr val="243B53"/>
          </a:solidFill>
          <a:ln w="12700">
            <a:solidFill>
              <a:srgbClr val="F4F4F2"/>
            </a:solidFill>
            <a:prstDash val="solid"/>
          </a:ln>
        </p:spPr>
      </p:sp>
      <p:sp>
        <p:nvSpPr>
          <p:cNvPr id="214" name="Shape 211"/>
          <p:cNvSpPr/>
          <p:nvPr/>
        </p:nvSpPr>
        <p:spPr>
          <a:xfrm>
            <a:off x="2704176" y="3602037"/>
            <a:ext cx="38089" cy="38089"/>
          </a:xfrm>
          <a:prstGeom prst="ellipse">
            <a:avLst/>
          </a:prstGeom>
          <a:solidFill>
            <a:srgbClr val="7A93B8"/>
          </a:solidFill>
          <a:ln w="12700">
            <a:solidFill>
              <a:srgbClr val="F4F4F2"/>
            </a:solidFill>
            <a:prstDash val="solid"/>
          </a:ln>
        </p:spPr>
      </p:sp>
      <p:sp>
        <p:nvSpPr>
          <p:cNvPr id="215" name="Shape 212"/>
          <p:cNvSpPr/>
          <p:nvPr/>
        </p:nvSpPr>
        <p:spPr>
          <a:xfrm>
            <a:off x="1353008" y="3651801"/>
            <a:ext cx="36574" cy="36574"/>
          </a:xfrm>
          <a:prstGeom prst="ellipse">
            <a:avLst/>
          </a:prstGeom>
          <a:solidFill>
            <a:srgbClr val="7A93B8"/>
          </a:solidFill>
          <a:ln w="12700">
            <a:solidFill>
              <a:srgbClr val="F4F4F2"/>
            </a:solidFill>
            <a:prstDash val="solid"/>
          </a:ln>
        </p:spPr>
      </p:sp>
      <p:sp>
        <p:nvSpPr>
          <p:cNvPr id="216" name="Shape 213"/>
          <p:cNvSpPr/>
          <p:nvPr/>
        </p:nvSpPr>
        <p:spPr>
          <a:xfrm>
            <a:off x="1529291" y="3286883"/>
            <a:ext cx="47341" cy="47341"/>
          </a:xfrm>
          <a:prstGeom prst="ellipse">
            <a:avLst/>
          </a:prstGeom>
          <a:solidFill>
            <a:srgbClr val="243B53"/>
          </a:solidFill>
          <a:ln w="12700">
            <a:solidFill>
              <a:srgbClr val="F4F4F2"/>
            </a:solidFill>
            <a:prstDash val="solid"/>
          </a:ln>
        </p:spPr>
      </p:sp>
      <p:sp>
        <p:nvSpPr>
          <p:cNvPr id="217" name="Shape 214"/>
          <p:cNvSpPr/>
          <p:nvPr/>
        </p:nvSpPr>
        <p:spPr>
          <a:xfrm>
            <a:off x="2082104" y="3324200"/>
            <a:ext cx="32984" cy="32984"/>
          </a:xfrm>
          <a:prstGeom prst="ellipse">
            <a:avLst/>
          </a:prstGeom>
          <a:solidFill>
            <a:srgbClr val="243B53"/>
          </a:solidFill>
          <a:ln w="12700">
            <a:solidFill>
              <a:srgbClr val="F4F4F2"/>
            </a:solidFill>
            <a:prstDash val="solid"/>
          </a:ln>
        </p:spPr>
      </p:sp>
      <p:sp>
        <p:nvSpPr>
          <p:cNvPr id="218" name="Shape 215"/>
          <p:cNvSpPr/>
          <p:nvPr/>
        </p:nvSpPr>
        <p:spPr>
          <a:xfrm>
            <a:off x="2140582" y="3164293"/>
            <a:ext cx="31852" cy="31852"/>
          </a:xfrm>
          <a:prstGeom prst="ellipse">
            <a:avLst/>
          </a:prstGeom>
          <a:solidFill>
            <a:srgbClr val="243B53"/>
          </a:solidFill>
          <a:ln w="12700">
            <a:solidFill>
              <a:srgbClr val="F4F4F2"/>
            </a:solidFill>
            <a:prstDash val="solid"/>
          </a:ln>
        </p:spPr>
      </p:sp>
      <p:sp>
        <p:nvSpPr>
          <p:cNvPr id="219" name="Shape 216"/>
          <p:cNvSpPr/>
          <p:nvPr/>
        </p:nvSpPr>
        <p:spPr>
          <a:xfrm>
            <a:off x="1805766" y="3433250"/>
            <a:ext cx="31504" cy="31504"/>
          </a:xfrm>
          <a:prstGeom prst="ellipse">
            <a:avLst/>
          </a:prstGeom>
          <a:solidFill>
            <a:srgbClr val="243B53"/>
          </a:solidFill>
          <a:ln w="12700">
            <a:solidFill>
              <a:srgbClr val="F4F4F2"/>
            </a:solidFill>
            <a:prstDash val="solid"/>
          </a:ln>
        </p:spPr>
      </p:sp>
      <p:sp>
        <p:nvSpPr>
          <p:cNvPr id="220" name="Shape 217"/>
          <p:cNvSpPr/>
          <p:nvPr/>
        </p:nvSpPr>
        <p:spPr>
          <a:xfrm>
            <a:off x="2135444" y="3404502"/>
            <a:ext cx="41028" cy="41028"/>
          </a:xfrm>
          <a:prstGeom prst="ellipse">
            <a:avLst/>
          </a:prstGeom>
          <a:solidFill>
            <a:srgbClr val="243B53"/>
          </a:solidFill>
          <a:ln w="12700">
            <a:solidFill>
              <a:srgbClr val="F4F4F2"/>
            </a:solidFill>
            <a:prstDash val="solid"/>
          </a:ln>
        </p:spPr>
      </p:sp>
      <p:sp>
        <p:nvSpPr>
          <p:cNvPr id="221" name="Shape 218"/>
          <p:cNvSpPr/>
          <p:nvPr/>
        </p:nvSpPr>
        <p:spPr>
          <a:xfrm>
            <a:off x="2410233" y="2986295"/>
            <a:ext cx="37938" cy="37938"/>
          </a:xfrm>
          <a:prstGeom prst="ellipse">
            <a:avLst/>
          </a:prstGeom>
          <a:solidFill>
            <a:srgbClr val="2F5FA8"/>
          </a:solidFill>
          <a:ln w="12700">
            <a:solidFill>
              <a:srgbClr val="F4F4F2"/>
            </a:solidFill>
            <a:prstDash val="solid"/>
          </a:ln>
        </p:spPr>
      </p:sp>
      <p:sp>
        <p:nvSpPr>
          <p:cNvPr id="222" name="Shape 219"/>
          <p:cNvSpPr/>
          <p:nvPr/>
        </p:nvSpPr>
        <p:spPr>
          <a:xfrm>
            <a:off x="725819" y="3163767"/>
            <a:ext cx="31164" cy="31164"/>
          </a:xfrm>
          <a:prstGeom prst="ellipse">
            <a:avLst/>
          </a:prstGeom>
          <a:solidFill>
            <a:srgbClr val="7A93B8"/>
          </a:solidFill>
          <a:ln w="12700">
            <a:solidFill>
              <a:srgbClr val="F4F4F2"/>
            </a:solidFill>
            <a:prstDash val="solid"/>
          </a:ln>
        </p:spPr>
      </p:sp>
      <p:sp>
        <p:nvSpPr>
          <p:cNvPr id="223" name="Shape 220"/>
          <p:cNvSpPr/>
          <p:nvPr/>
        </p:nvSpPr>
        <p:spPr>
          <a:xfrm>
            <a:off x="1323870" y="3375049"/>
            <a:ext cx="39017" cy="39017"/>
          </a:xfrm>
          <a:prstGeom prst="ellipse">
            <a:avLst/>
          </a:prstGeom>
          <a:solidFill>
            <a:srgbClr val="2F5FA8"/>
          </a:solidFill>
          <a:ln w="12700">
            <a:solidFill>
              <a:srgbClr val="F4F4F2"/>
            </a:solidFill>
            <a:prstDash val="solid"/>
          </a:ln>
        </p:spPr>
      </p:sp>
      <p:sp>
        <p:nvSpPr>
          <p:cNvPr id="224" name="Shape 221"/>
          <p:cNvSpPr/>
          <p:nvPr/>
        </p:nvSpPr>
        <p:spPr>
          <a:xfrm>
            <a:off x="1435197" y="3185162"/>
            <a:ext cx="28432" cy="28432"/>
          </a:xfrm>
          <a:prstGeom prst="ellipse">
            <a:avLst/>
          </a:prstGeom>
          <a:solidFill>
            <a:srgbClr val="2F5FA8"/>
          </a:solidFill>
          <a:ln w="12700">
            <a:solidFill>
              <a:srgbClr val="F4F4F2"/>
            </a:solidFill>
            <a:prstDash val="solid"/>
          </a:ln>
        </p:spPr>
      </p:sp>
      <p:sp>
        <p:nvSpPr>
          <p:cNvPr id="225" name="Shape 222"/>
          <p:cNvSpPr/>
          <p:nvPr/>
        </p:nvSpPr>
        <p:spPr>
          <a:xfrm>
            <a:off x="1746123" y="3506118"/>
            <a:ext cx="28497" cy="28497"/>
          </a:xfrm>
          <a:prstGeom prst="ellipse">
            <a:avLst/>
          </a:prstGeom>
          <a:solidFill>
            <a:srgbClr val="2F5FA8"/>
          </a:solidFill>
          <a:ln w="12700">
            <a:solidFill>
              <a:srgbClr val="F4F4F2"/>
            </a:solidFill>
            <a:prstDash val="solid"/>
          </a:ln>
        </p:spPr>
      </p:sp>
      <p:sp>
        <p:nvSpPr>
          <p:cNvPr id="226" name="Shape 223"/>
          <p:cNvSpPr/>
          <p:nvPr/>
        </p:nvSpPr>
        <p:spPr>
          <a:xfrm>
            <a:off x="1684245" y="2903664"/>
            <a:ext cx="41057" cy="41057"/>
          </a:xfrm>
          <a:prstGeom prst="ellipse">
            <a:avLst/>
          </a:prstGeom>
          <a:solidFill>
            <a:srgbClr val="2F5FA8"/>
          </a:solidFill>
          <a:ln w="12700">
            <a:solidFill>
              <a:srgbClr val="F4F4F2"/>
            </a:solidFill>
            <a:prstDash val="solid"/>
          </a:ln>
        </p:spPr>
      </p:sp>
      <p:sp>
        <p:nvSpPr>
          <p:cNvPr id="227" name="Shape 224"/>
          <p:cNvSpPr/>
          <p:nvPr/>
        </p:nvSpPr>
        <p:spPr>
          <a:xfrm>
            <a:off x="2203701" y="2905099"/>
            <a:ext cx="28518" cy="28518"/>
          </a:xfrm>
          <a:prstGeom prst="ellipse">
            <a:avLst/>
          </a:prstGeom>
          <a:solidFill>
            <a:srgbClr val="2F5FA8"/>
          </a:solidFill>
          <a:ln w="12700">
            <a:solidFill>
              <a:srgbClr val="F4F4F2"/>
            </a:solidFill>
            <a:prstDash val="solid"/>
          </a:ln>
        </p:spPr>
      </p:sp>
      <p:sp>
        <p:nvSpPr>
          <p:cNvPr id="228" name="Shape 225"/>
          <p:cNvSpPr/>
          <p:nvPr/>
        </p:nvSpPr>
        <p:spPr>
          <a:xfrm>
            <a:off x="1679689" y="2885638"/>
            <a:ext cx="45061" cy="45061"/>
          </a:xfrm>
          <a:prstGeom prst="ellipse">
            <a:avLst/>
          </a:prstGeom>
          <a:solidFill>
            <a:srgbClr val="2F5FA8"/>
          </a:solidFill>
          <a:ln w="12700">
            <a:solidFill>
              <a:srgbClr val="F4F4F2"/>
            </a:solidFill>
            <a:prstDash val="solid"/>
          </a:ln>
        </p:spPr>
      </p:sp>
      <p:sp>
        <p:nvSpPr>
          <p:cNvPr id="229" name="Shape 226"/>
          <p:cNvSpPr/>
          <p:nvPr/>
        </p:nvSpPr>
        <p:spPr>
          <a:xfrm>
            <a:off x="1066890" y="3210523"/>
            <a:ext cx="46415" cy="46415"/>
          </a:xfrm>
          <a:prstGeom prst="ellipse">
            <a:avLst/>
          </a:prstGeom>
          <a:solidFill>
            <a:srgbClr val="2F5FA8"/>
          </a:solidFill>
          <a:ln w="12700">
            <a:solidFill>
              <a:srgbClr val="F4F4F2"/>
            </a:solidFill>
            <a:prstDash val="solid"/>
          </a:ln>
        </p:spPr>
      </p:sp>
      <p:sp>
        <p:nvSpPr>
          <p:cNvPr id="230" name="Shape 227"/>
          <p:cNvSpPr/>
          <p:nvPr/>
        </p:nvSpPr>
        <p:spPr>
          <a:xfrm>
            <a:off x="1628315" y="3470820"/>
            <a:ext cx="44101" cy="44101"/>
          </a:xfrm>
          <a:prstGeom prst="ellipse">
            <a:avLst/>
          </a:prstGeom>
          <a:solidFill>
            <a:srgbClr val="2F5FA8"/>
          </a:solidFill>
          <a:ln w="12700">
            <a:solidFill>
              <a:srgbClr val="F4F4F2"/>
            </a:solidFill>
            <a:prstDash val="solid"/>
          </a:ln>
        </p:spPr>
      </p:sp>
      <p:sp>
        <p:nvSpPr>
          <p:cNvPr id="231" name="Shape 228"/>
          <p:cNvSpPr/>
          <p:nvPr/>
        </p:nvSpPr>
        <p:spPr>
          <a:xfrm>
            <a:off x="1253145" y="3404490"/>
            <a:ext cx="39380" cy="39380"/>
          </a:xfrm>
          <a:prstGeom prst="ellipse">
            <a:avLst/>
          </a:prstGeom>
          <a:solidFill>
            <a:srgbClr val="2F5FA8"/>
          </a:solidFill>
          <a:ln w="12700">
            <a:solidFill>
              <a:srgbClr val="F4F4F2"/>
            </a:solidFill>
            <a:prstDash val="solid"/>
          </a:ln>
        </p:spPr>
      </p:sp>
      <p:sp>
        <p:nvSpPr>
          <p:cNvPr id="232" name="Shape 229"/>
          <p:cNvSpPr/>
          <p:nvPr/>
        </p:nvSpPr>
        <p:spPr>
          <a:xfrm>
            <a:off x="2140981" y="3496035"/>
            <a:ext cx="47561" cy="47561"/>
          </a:xfrm>
          <a:prstGeom prst="ellipse">
            <a:avLst/>
          </a:prstGeom>
          <a:solidFill>
            <a:srgbClr val="2F5FA8"/>
          </a:solidFill>
          <a:ln w="12700">
            <a:solidFill>
              <a:srgbClr val="F4F4F2"/>
            </a:solidFill>
            <a:prstDash val="solid"/>
          </a:ln>
        </p:spPr>
      </p:sp>
      <p:sp>
        <p:nvSpPr>
          <p:cNvPr id="233" name="Shape 230"/>
          <p:cNvSpPr/>
          <p:nvPr/>
        </p:nvSpPr>
        <p:spPr>
          <a:xfrm>
            <a:off x="1128108" y="3138772"/>
            <a:ext cx="45677" cy="45677"/>
          </a:xfrm>
          <a:prstGeom prst="ellipse">
            <a:avLst/>
          </a:prstGeom>
          <a:solidFill>
            <a:srgbClr val="2F5FA8"/>
          </a:solidFill>
          <a:ln w="12700">
            <a:solidFill>
              <a:srgbClr val="F4F4F2"/>
            </a:solidFill>
            <a:prstDash val="solid"/>
          </a:ln>
        </p:spPr>
      </p:sp>
      <p:sp>
        <p:nvSpPr>
          <p:cNvPr id="234" name="Shape 231"/>
          <p:cNvSpPr/>
          <p:nvPr/>
        </p:nvSpPr>
        <p:spPr>
          <a:xfrm>
            <a:off x="1035991" y="3556314"/>
            <a:ext cx="48797" cy="48797"/>
          </a:xfrm>
          <a:prstGeom prst="ellipse">
            <a:avLst/>
          </a:prstGeom>
          <a:solidFill>
            <a:srgbClr val="7A93B8"/>
          </a:solidFill>
          <a:ln w="12700">
            <a:solidFill>
              <a:srgbClr val="F4F4F2"/>
            </a:solidFill>
            <a:prstDash val="solid"/>
          </a:ln>
        </p:spPr>
      </p:sp>
      <p:sp>
        <p:nvSpPr>
          <p:cNvPr id="235" name="Shape 232"/>
          <p:cNvSpPr/>
          <p:nvPr/>
        </p:nvSpPr>
        <p:spPr>
          <a:xfrm>
            <a:off x="1259230" y="3617905"/>
            <a:ext cx="30618" cy="30618"/>
          </a:xfrm>
          <a:prstGeom prst="ellipse">
            <a:avLst/>
          </a:prstGeom>
          <a:solidFill>
            <a:srgbClr val="7A93B8"/>
          </a:solidFill>
          <a:ln w="12700">
            <a:solidFill>
              <a:srgbClr val="F4F4F2"/>
            </a:solidFill>
            <a:prstDash val="solid"/>
          </a:ln>
        </p:spPr>
      </p:sp>
      <p:sp>
        <p:nvSpPr>
          <p:cNvPr id="236" name="Shape 233"/>
          <p:cNvSpPr/>
          <p:nvPr/>
        </p:nvSpPr>
        <p:spPr>
          <a:xfrm>
            <a:off x="1994666" y="3733742"/>
            <a:ext cx="35898" cy="35898"/>
          </a:xfrm>
          <a:prstGeom prst="ellipse">
            <a:avLst/>
          </a:prstGeom>
          <a:solidFill>
            <a:srgbClr val="7A93B8"/>
          </a:solidFill>
          <a:ln w="12700">
            <a:solidFill>
              <a:srgbClr val="F4F4F2"/>
            </a:solidFill>
            <a:prstDash val="solid"/>
          </a:ln>
        </p:spPr>
      </p:sp>
      <p:sp>
        <p:nvSpPr>
          <p:cNvPr id="237" name="Shape 234"/>
          <p:cNvSpPr/>
          <p:nvPr/>
        </p:nvSpPr>
        <p:spPr>
          <a:xfrm>
            <a:off x="2164524" y="3512043"/>
            <a:ext cx="28518" cy="28518"/>
          </a:xfrm>
          <a:prstGeom prst="ellipse">
            <a:avLst/>
          </a:prstGeom>
          <a:solidFill>
            <a:srgbClr val="2F5FA8"/>
          </a:solidFill>
          <a:ln w="12700">
            <a:solidFill>
              <a:srgbClr val="F4F4F2"/>
            </a:solidFill>
            <a:prstDash val="solid"/>
          </a:ln>
        </p:spPr>
      </p:sp>
      <p:sp>
        <p:nvSpPr>
          <p:cNvPr id="238" name="Shape 235"/>
          <p:cNvSpPr/>
          <p:nvPr/>
        </p:nvSpPr>
        <p:spPr>
          <a:xfrm>
            <a:off x="2287394" y="3090245"/>
            <a:ext cx="37241" cy="37241"/>
          </a:xfrm>
          <a:prstGeom prst="ellipse">
            <a:avLst/>
          </a:prstGeom>
          <a:solidFill>
            <a:srgbClr val="2F5FA8"/>
          </a:solidFill>
          <a:ln w="12700">
            <a:solidFill>
              <a:srgbClr val="F4F4F2"/>
            </a:solidFill>
            <a:prstDash val="solid"/>
          </a:ln>
        </p:spPr>
      </p:sp>
      <p:sp>
        <p:nvSpPr>
          <p:cNvPr id="239" name="Shape 236"/>
          <p:cNvSpPr/>
          <p:nvPr/>
        </p:nvSpPr>
        <p:spPr>
          <a:xfrm>
            <a:off x="1113457" y="2936995"/>
            <a:ext cx="33501" cy="33501"/>
          </a:xfrm>
          <a:prstGeom prst="ellipse">
            <a:avLst/>
          </a:prstGeom>
          <a:solidFill>
            <a:srgbClr val="7A93B8"/>
          </a:solidFill>
          <a:ln w="12700">
            <a:solidFill>
              <a:srgbClr val="F4F4F2"/>
            </a:solidFill>
            <a:prstDash val="solid"/>
          </a:ln>
        </p:spPr>
      </p:sp>
      <p:sp>
        <p:nvSpPr>
          <p:cNvPr id="240" name="Shape 237"/>
          <p:cNvSpPr/>
          <p:nvPr/>
        </p:nvSpPr>
        <p:spPr>
          <a:xfrm>
            <a:off x="1673006" y="3275965"/>
            <a:ext cx="40498" cy="40498"/>
          </a:xfrm>
          <a:prstGeom prst="ellipse">
            <a:avLst/>
          </a:prstGeom>
          <a:solidFill>
            <a:srgbClr val="243B53"/>
          </a:solidFill>
          <a:ln w="12700">
            <a:solidFill>
              <a:srgbClr val="F4F4F2"/>
            </a:solidFill>
            <a:prstDash val="solid"/>
          </a:ln>
        </p:spPr>
      </p:sp>
      <p:sp>
        <p:nvSpPr>
          <p:cNvPr id="241" name="Shape 238"/>
          <p:cNvSpPr/>
          <p:nvPr/>
        </p:nvSpPr>
        <p:spPr>
          <a:xfrm>
            <a:off x="2462829" y="2991919"/>
            <a:ext cx="48214" cy="48214"/>
          </a:xfrm>
          <a:prstGeom prst="ellipse">
            <a:avLst/>
          </a:prstGeom>
          <a:solidFill>
            <a:srgbClr val="2F5FA8"/>
          </a:solidFill>
          <a:ln w="12700">
            <a:solidFill>
              <a:srgbClr val="F4F4F2"/>
            </a:solidFill>
            <a:prstDash val="solid"/>
          </a:ln>
        </p:spPr>
      </p:sp>
      <p:sp>
        <p:nvSpPr>
          <p:cNvPr id="242" name="Shape 239"/>
          <p:cNvSpPr/>
          <p:nvPr/>
        </p:nvSpPr>
        <p:spPr>
          <a:xfrm>
            <a:off x="2210138" y="2750945"/>
            <a:ext cx="37644" cy="37644"/>
          </a:xfrm>
          <a:prstGeom prst="ellipse">
            <a:avLst/>
          </a:prstGeom>
          <a:solidFill>
            <a:srgbClr val="7A93B8"/>
          </a:solidFill>
          <a:ln w="12700">
            <a:solidFill>
              <a:srgbClr val="F4F4F2"/>
            </a:solidFill>
            <a:prstDash val="solid"/>
          </a:ln>
        </p:spPr>
      </p:sp>
      <p:sp>
        <p:nvSpPr>
          <p:cNvPr id="243" name="Shape 240"/>
          <p:cNvSpPr/>
          <p:nvPr/>
        </p:nvSpPr>
        <p:spPr>
          <a:xfrm>
            <a:off x="1772870" y="3243035"/>
            <a:ext cx="46535" cy="46535"/>
          </a:xfrm>
          <a:prstGeom prst="ellipse">
            <a:avLst/>
          </a:prstGeom>
          <a:solidFill>
            <a:srgbClr val="243B53"/>
          </a:solidFill>
          <a:ln w="12700">
            <a:solidFill>
              <a:srgbClr val="F4F4F2"/>
            </a:solidFill>
            <a:prstDash val="solid"/>
          </a:ln>
        </p:spPr>
      </p:sp>
      <p:sp>
        <p:nvSpPr>
          <p:cNvPr id="244" name="Shape 241"/>
          <p:cNvSpPr/>
          <p:nvPr/>
        </p:nvSpPr>
        <p:spPr>
          <a:xfrm>
            <a:off x="1708538" y="3412886"/>
            <a:ext cx="33604" cy="33604"/>
          </a:xfrm>
          <a:prstGeom prst="ellipse">
            <a:avLst/>
          </a:prstGeom>
          <a:solidFill>
            <a:srgbClr val="243B53"/>
          </a:solidFill>
          <a:ln w="12700">
            <a:solidFill>
              <a:srgbClr val="F4F4F2"/>
            </a:solidFill>
            <a:prstDash val="solid"/>
          </a:ln>
        </p:spPr>
      </p:sp>
      <p:sp>
        <p:nvSpPr>
          <p:cNvPr id="245" name="Shape 242"/>
          <p:cNvSpPr/>
          <p:nvPr/>
        </p:nvSpPr>
        <p:spPr>
          <a:xfrm>
            <a:off x="1158548" y="3128628"/>
            <a:ext cx="38760" cy="38760"/>
          </a:xfrm>
          <a:prstGeom prst="ellipse">
            <a:avLst/>
          </a:prstGeom>
          <a:solidFill>
            <a:srgbClr val="2F5FA8"/>
          </a:solidFill>
          <a:ln w="12700">
            <a:solidFill>
              <a:srgbClr val="F4F4F2"/>
            </a:solidFill>
            <a:prstDash val="solid"/>
          </a:ln>
        </p:spPr>
      </p:sp>
      <p:sp>
        <p:nvSpPr>
          <p:cNvPr id="246" name="Shape 243"/>
          <p:cNvSpPr/>
          <p:nvPr/>
        </p:nvSpPr>
        <p:spPr>
          <a:xfrm>
            <a:off x="1498244" y="3437615"/>
            <a:ext cx="41380" cy="41380"/>
          </a:xfrm>
          <a:prstGeom prst="ellipse">
            <a:avLst/>
          </a:prstGeom>
          <a:solidFill>
            <a:srgbClr val="2F5FA8"/>
          </a:solidFill>
          <a:ln w="12700">
            <a:solidFill>
              <a:srgbClr val="F4F4F2"/>
            </a:solidFill>
            <a:prstDash val="solid"/>
          </a:ln>
        </p:spPr>
      </p:sp>
      <p:sp>
        <p:nvSpPr>
          <p:cNvPr id="247" name="Shape 244"/>
          <p:cNvSpPr/>
          <p:nvPr/>
        </p:nvSpPr>
        <p:spPr>
          <a:xfrm>
            <a:off x="2571251" y="3285718"/>
            <a:ext cx="45719" cy="45719"/>
          </a:xfrm>
          <a:prstGeom prst="ellipse">
            <a:avLst/>
          </a:prstGeom>
          <a:solidFill>
            <a:srgbClr val="2F5FA8"/>
          </a:solidFill>
          <a:ln w="12700">
            <a:solidFill>
              <a:srgbClr val="F4F4F2"/>
            </a:solidFill>
            <a:prstDash val="solid"/>
          </a:ln>
        </p:spPr>
      </p:sp>
      <p:sp>
        <p:nvSpPr>
          <p:cNvPr id="248" name="Shape 245"/>
          <p:cNvSpPr/>
          <p:nvPr/>
        </p:nvSpPr>
        <p:spPr>
          <a:xfrm>
            <a:off x="1854465" y="3319463"/>
            <a:ext cx="28153" cy="28153"/>
          </a:xfrm>
          <a:prstGeom prst="ellipse">
            <a:avLst/>
          </a:prstGeom>
          <a:solidFill>
            <a:srgbClr val="243B53"/>
          </a:solidFill>
          <a:ln w="12700">
            <a:solidFill>
              <a:srgbClr val="F4F4F2"/>
            </a:solidFill>
            <a:prstDash val="solid"/>
          </a:ln>
        </p:spPr>
      </p:sp>
      <p:sp>
        <p:nvSpPr>
          <p:cNvPr id="249" name="Shape 246"/>
          <p:cNvSpPr/>
          <p:nvPr/>
        </p:nvSpPr>
        <p:spPr>
          <a:xfrm>
            <a:off x="1821655" y="3334514"/>
            <a:ext cx="43270" cy="43270"/>
          </a:xfrm>
          <a:prstGeom prst="ellipse">
            <a:avLst/>
          </a:prstGeom>
          <a:solidFill>
            <a:srgbClr val="243B53"/>
          </a:solidFill>
          <a:ln w="12700">
            <a:solidFill>
              <a:srgbClr val="F4F4F2"/>
            </a:solidFill>
            <a:prstDash val="solid"/>
          </a:ln>
        </p:spPr>
      </p:sp>
      <p:sp>
        <p:nvSpPr>
          <p:cNvPr id="250" name="Shape 247"/>
          <p:cNvSpPr/>
          <p:nvPr/>
        </p:nvSpPr>
        <p:spPr>
          <a:xfrm>
            <a:off x="1108436" y="3565757"/>
            <a:ext cx="40743" cy="40743"/>
          </a:xfrm>
          <a:prstGeom prst="ellipse">
            <a:avLst/>
          </a:prstGeom>
          <a:solidFill>
            <a:srgbClr val="7A93B8"/>
          </a:solidFill>
          <a:ln w="12700">
            <a:solidFill>
              <a:srgbClr val="F4F4F2"/>
            </a:solidFill>
            <a:prstDash val="solid"/>
          </a:ln>
        </p:spPr>
      </p:sp>
      <p:sp>
        <p:nvSpPr>
          <p:cNvPr id="251" name="Shape 248"/>
          <p:cNvSpPr/>
          <p:nvPr/>
        </p:nvSpPr>
        <p:spPr>
          <a:xfrm>
            <a:off x="1162328" y="3084611"/>
            <a:ext cx="46326" cy="46326"/>
          </a:xfrm>
          <a:prstGeom prst="ellipse">
            <a:avLst/>
          </a:prstGeom>
          <a:solidFill>
            <a:srgbClr val="2F5FA8"/>
          </a:solidFill>
          <a:ln w="12700">
            <a:solidFill>
              <a:srgbClr val="F4F4F2"/>
            </a:solidFill>
            <a:prstDash val="solid"/>
          </a:ln>
        </p:spPr>
      </p:sp>
      <p:sp>
        <p:nvSpPr>
          <p:cNvPr id="252" name="Shape 249"/>
          <p:cNvSpPr/>
          <p:nvPr/>
        </p:nvSpPr>
        <p:spPr>
          <a:xfrm>
            <a:off x="2111271" y="3551904"/>
            <a:ext cx="27535" cy="27535"/>
          </a:xfrm>
          <a:prstGeom prst="ellipse">
            <a:avLst/>
          </a:prstGeom>
          <a:solidFill>
            <a:srgbClr val="2F5FA8"/>
          </a:solidFill>
          <a:ln w="12700">
            <a:solidFill>
              <a:srgbClr val="F4F4F2"/>
            </a:solidFill>
            <a:prstDash val="solid"/>
          </a:ln>
        </p:spPr>
      </p:sp>
      <p:sp>
        <p:nvSpPr>
          <p:cNvPr id="253" name="Shape 250"/>
          <p:cNvSpPr/>
          <p:nvPr/>
        </p:nvSpPr>
        <p:spPr>
          <a:xfrm>
            <a:off x="1370128" y="3208306"/>
            <a:ext cx="35140" cy="35140"/>
          </a:xfrm>
          <a:prstGeom prst="ellipse">
            <a:avLst/>
          </a:prstGeom>
          <a:solidFill>
            <a:srgbClr val="2F5FA8"/>
          </a:solidFill>
          <a:ln w="12700">
            <a:solidFill>
              <a:srgbClr val="F4F4F2"/>
            </a:solidFill>
            <a:prstDash val="solid"/>
          </a:ln>
        </p:spPr>
      </p:sp>
      <p:sp>
        <p:nvSpPr>
          <p:cNvPr id="254" name="Shape 251"/>
          <p:cNvSpPr/>
          <p:nvPr/>
        </p:nvSpPr>
        <p:spPr>
          <a:xfrm>
            <a:off x="1354104" y="3031262"/>
            <a:ext cx="31365" cy="31365"/>
          </a:xfrm>
          <a:prstGeom prst="ellipse">
            <a:avLst/>
          </a:prstGeom>
          <a:solidFill>
            <a:srgbClr val="2F5FA8"/>
          </a:solidFill>
          <a:ln w="12700">
            <a:solidFill>
              <a:srgbClr val="F4F4F2"/>
            </a:solidFill>
            <a:prstDash val="solid"/>
          </a:ln>
        </p:spPr>
      </p:sp>
      <p:sp>
        <p:nvSpPr>
          <p:cNvPr id="255" name="Shape 252"/>
          <p:cNvSpPr/>
          <p:nvPr/>
        </p:nvSpPr>
        <p:spPr>
          <a:xfrm>
            <a:off x="1190616" y="3304509"/>
            <a:ext cx="35146" cy="35146"/>
          </a:xfrm>
          <a:prstGeom prst="ellipse">
            <a:avLst/>
          </a:prstGeom>
          <a:solidFill>
            <a:srgbClr val="2F5FA8"/>
          </a:solidFill>
          <a:ln w="12700">
            <a:solidFill>
              <a:srgbClr val="F4F4F2"/>
            </a:solidFill>
            <a:prstDash val="solid"/>
          </a:ln>
        </p:spPr>
      </p:sp>
      <p:sp>
        <p:nvSpPr>
          <p:cNvPr id="256" name="Shape 253"/>
          <p:cNvSpPr/>
          <p:nvPr/>
        </p:nvSpPr>
        <p:spPr>
          <a:xfrm>
            <a:off x="1730160" y="3536362"/>
            <a:ext cx="27522" cy="27522"/>
          </a:xfrm>
          <a:prstGeom prst="ellipse">
            <a:avLst/>
          </a:prstGeom>
          <a:solidFill>
            <a:srgbClr val="2F5FA8"/>
          </a:solidFill>
          <a:ln w="12700">
            <a:solidFill>
              <a:srgbClr val="F4F4F2"/>
            </a:solidFill>
            <a:prstDash val="solid"/>
          </a:ln>
        </p:spPr>
      </p:sp>
      <p:sp>
        <p:nvSpPr>
          <p:cNvPr id="257" name="Shape 254"/>
          <p:cNvSpPr/>
          <p:nvPr/>
        </p:nvSpPr>
        <p:spPr>
          <a:xfrm>
            <a:off x="1853784" y="3217618"/>
            <a:ext cx="41967" cy="41967"/>
          </a:xfrm>
          <a:prstGeom prst="ellipse">
            <a:avLst/>
          </a:prstGeom>
          <a:solidFill>
            <a:srgbClr val="243B53"/>
          </a:solidFill>
          <a:ln w="12700">
            <a:solidFill>
              <a:srgbClr val="F4F4F2"/>
            </a:solidFill>
            <a:prstDash val="solid"/>
          </a:ln>
        </p:spPr>
      </p:sp>
      <p:sp>
        <p:nvSpPr>
          <p:cNvPr id="258" name="Shape 255"/>
          <p:cNvSpPr/>
          <p:nvPr/>
        </p:nvSpPr>
        <p:spPr>
          <a:xfrm>
            <a:off x="1795579" y="3830357"/>
            <a:ext cx="35111" cy="35111"/>
          </a:xfrm>
          <a:prstGeom prst="ellipse">
            <a:avLst/>
          </a:prstGeom>
          <a:solidFill>
            <a:srgbClr val="7A93B8"/>
          </a:solidFill>
          <a:ln w="12700">
            <a:solidFill>
              <a:srgbClr val="F4F4F2"/>
            </a:solidFill>
            <a:prstDash val="solid"/>
          </a:ln>
        </p:spPr>
      </p:sp>
      <p:sp>
        <p:nvSpPr>
          <p:cNvPr id="259" name="Shape 256"/>
          <p:cNvSpPr/>
          <p:nvPr/>
        </p:nvSpPr>
        <p:spPr>
          <a:xfrm>
            <a:off x="1755617" y="3410374"/>
            <a:ext cx="40839" cy="40839"/>
          </a:xfrm>
          <a:prstGeom prst="ellipse">
            <a:avLst/>
          </a:prstGeom>
          <a:solidFill>
            <a:srgbClr val="243B53"/>
          </a:solidFill>
          <a:ln w="12700">
            <a:solidFill>
              <a:srgbClr val="F4F4F2"/>
            </a:solidFill>
            <a:prstDash val="solid"/>
          </a:ln>
        </p:spPr>
      </p:sp>
      <p:sp>
        <p:nvSpPr>
          <p:cNvPr id="260" name="Shape 257"/>
          <p:cNvSpPr/>
          <p:nvPr/>
        </p:nvSpPr>
        <p:spPr>
          <a:xfrm>
            <a:off x="2361449" y="3409450"/>
            <a:ext cx="46100" cy="46100"/>
          </a:xfrm>
          <a:prstGeom prst="ellipse">
            <a:avLst/>
          </a:prstGeom>
          <a:solidFill>
            <a:srgbClr val="2F5FA8"/>
          </a:solidFill>
          <a:ln w="12700">
            <a:solidFill>
              <a:srgbClr val="F4F4F2"/>
            </a:solidFill>
            <a:prstDash val="solid"/>
          </a:ln>
        </p:spPr>
      </p:sp>
      <p:sp>
        <p:nvSpPr>
          <p:cNvPr id="261" name="Shape 258"/>
          <p:cNvSpPr/>
          <p:nvPr/>
        </p:nvSpPr>
        <p:spPr>
          <a:xfrm>
            <a:off x="1806244" y="3680507"/>
            <a:ext cx="39669" cy="39669"/>
          </a:xfrm>
          <a:prstGeom prst="ellipse">
            <a:avLst/>
          </a:prstGeom>
          <a:solidFill>
            <a:srgbClr val="2F5FA8"/>
          </a:solidFill>
          <a:ln w="12700">
            <a:solidFill>
              <a:srgbClr val="F4F4F2"/>
            </a:solidFill>
            <a:prstDash val="solid"/>
          </a:ln>
        </p:spPr>
      </p:sp>
      <p:sp>
        <p:nvSpPr>
          <p:cNvPr id="262" name="Shape 259"/>
          <p:cNvSpPr/>
          <p:nvPr/>
        </p:nvSpPr>
        <p:spPr>
          <a:xfrm>
            <a:off x="2426386" y="3031595"/>
            <a:ext cx="36727" cy="36727"/>
          </a:xfrm>
          <a:prstGeom prst="ellipse">
            <a:avLst/>
          </a:prstGeom>
          <a:solidFill>
            <a:srgbClr val="2F5FA8"/>
          </a:solidFill>
          <a:ln w="12700">
            <a:solidFill>
              <a:srgbClr val="F4F4F2"/>
            </a:solidFill>
            <a:prstDash val="solid"/>
          </a:ln>
        </p:spPr>
      </p:sp>
      <p:sp>
        <p:nvSpPr>
          <p:cNvPr id="263" name="Shape 260"/>
          <p:cNvSpPr/>
          <p:nvPr/>
        </p:nvSpPr>
        <p:spPr>
          <a:xfrm>
            <a:off x="1976297" y="3381813"/>
            <a:ext cx="29253" cy="29253"/>
          </a:xfrm>
          <a:prstGeom prst="ellipse">
            <a:avLst/>
          </a:prstGeom>
          <a:solidFill>
            <a:srgbClr val="243B53"/>
          </a:solidFill>
          <a:ln w="12700">
            <a:solidFill>
              <a:srgbClr val="F4F4F2"/>
            </a:solidFill>
            <a:prstDash val="solid"/>
          </a:ln>
        </p:spPr>
      </p:sp>
      <p:sp>
        <p:nvSpPr>
          <p:cNvPr id="264" name="Shape 261"/>
          <p:cNvSpPr/>
          <p:nvPr/>
        </p:nvSpPr>
        <p:spPr>
          <a:xfrm>
            <a:off x="1249251" y="3497036"/>
            <a:ext cx="37180" cy="37180"/>
          </a:xfrm>
          <a:prstGeom prst="ellipse">
            <a:avLst/>
          </a:prstGeom>
          <a:solidFill>
            <a:srgbClr val="2F5FA8"/>
          </a:solidFill>
          <a:ln w="12700">
            <a:solidFill>
              <a:srgbClr val="F4F4F2"/>
            </a:solidFill>
            <a:prstDash val="solid"/>
          </a:ln>
        </p:spPr>
      </p:sp>
      <p:sp>
        <p:nvSpPr>
          <p:cNvPr id="265" name="Shape 262"/>
          <p:cNvSpPr/>
          <p:nvPr/>
        </p:nvSpPr>
        <p:spPr>
          <a:xfrm>
            <a:off x="1966876" y="2695725"/>
            <a:ext cx="34667" cy="34667"/>
          </a:xfrm>
          <a:prstGeom prst="ellipse">
            <a:avLst/>
          </a:prstGeom>
          <a:solidFill>
            <a:srgbClr val="7A93B8"/>
          </a:solidFill>
          <a:ln w="12700">
            <a:solidFill>
              <a:srgbClr val="F4F4F2"/>
            </a:solidFill>
            <a:prstDash val="solid"/>
          </a:ln>
        </p:spPr>
      </p:sp>
      <p:sp>
        <p:nvSpPr>
          <p:cNvPr id="266" name="Shape 263"/>
          <p:cNvSpPr/>
          <p:nvPr/>
        </p:nvSpPr>
        <p:spPr>
          <a:xfrm>
            <a:off x="2399429" y="3122103"/>
            <a:ext cx="39969" cy="39969"/>
          </a:xfrm>
          <a:prstGeom prst="ellipse">
            <a:avLst/>
          </a:prstGeom>
          <a:solidFill>
            <a:srgbClr val="2F5FA8"/>
          </a:solidFill>
          <a:ln w="12700">
            <a:solidFill>
              <a:srgbClr val="F4F4F2"/>
            </a:solidFill>
            <a:prstDash val="solid"/>
          </a:ln>
        </p:spPr>
      </p:sp>
      <p:sp>
        <p:nvSpPr>
          <p:cNvPr id="267" name="Shape 264"/>
          <p:cNvSpPr/>
          <p:nvPr/>
        </p:nvSpPr>
        <p:spPr>
          <a:xfrm>
            <a:off x="1867768" y="3187849"/>
            <a:ext cx="44447" cy="44447"/>
          </a:xfrm>
          <a:prstGeom prst="ellipse">
            <a:avLst/>
          </a:prstGeom>
          <a:solidFill>
            <a:srgbClr val="243B53"/>
          </a:solidFill>
          <a:ln w="12700">
            <a:solidFill>
              <a:srgbClr val="F4F4F2"/>
            </a:solidFill>
            <a:prstDash val="solid"/>
          </a:ln>
        </p:spPr>
      </p:sp>
      <p:sp>
        <p:nvSpPr>
          <p:cNvPr id="268" name="Shape 265"/>
          <p:cNvSpPr/>
          <p:nvPr/>
        </p:nvSpPr>
        <p:spPr>
          <a:xfrm>
            <a:off x="1960332" y="3855045"/>
            <a:ext cx="30181" cy="30181"/>
          </a:xfrm>
          <a:prstGeom prst="ellipse">
            <a:avLst/>
          </a:prstGeom>
          <a:solidFill>
            <a:srgbClr val="7A93B8"/>
          </a:solidFill>
          <a:ln w="12700">
            <a:solidFill>
              <a:srgbClr val="F4F4F2"/>
            </a:solidFill>
            <a:prstDash val="solid"/>
          </a:ln>
        </p:spPr>
      </p:sp>
      <p:sp>
        <p:nvSpPr>
          <p:cNvPr id="269" name="Shape 266"/>
          <p:cNvSpPr/>
          <p:nvPr/>
        </p:nvSpPr>
        <p:spPr>
          <a:xfrm>
            <a:off x="1643837" y="3244259"/>
            <a:ext cx="28474" cy="28474"/>
          </a:xfrm>
          <a:prstGeom prst="ellipse">
            <a:avLst/>
          </a:prstGeom>
          <a:solidFill>
            <a:srgbClr val="243B53"/>
          </a:solidFill>
          <a:ln w="12700">
            <a:solidFill>
              <a:srgbClr val="F4F4F2"/>
            </a:solidFill>
            <a:prstDash val="solid"/>
          </a:ln>
        </p:spPr>
      </p:sp>
      <p:sp>
        <p:nvSpPr>
          <p:cNvPr id="270" name="Shape 267"/>
          <p:cNvSpPr/>
          <p:nvPr/>
        </p:nvSpPr>
        <p:spPr>
          <a:xfrm>
            <a:off x="1686714" y="3745788"/>
            <a:ext cx="42691" cy="42691"/>
          </a:xfrm>
          <a:prstGeom prst="ellipse">
            <a:avLst/>
          </a:prstGeom>
          <a:solidFill>
            <a:srgbClr val="7A93B8"/>
          </a:solidFill>
          <a:ln w="12700">
            <a:solidFill>
              <a:srgbClr val="F4F4F2"/>
            </a:solidFill>
            <a:prstDash val="solid"/>
          </a:ln>
        </p:spPr>
      </p:sp>
      <p:sp>
        <p:nvSpPr>
          <p:cNvPr id="271" name="Shape 268"/>
          <p:cNvSpPr/>
          <p:nvPr/>
        </p:nvSpPr>
        <p:spPr>
          <a:xfrm>
            <a:off x="1944996" y="3329635"/>
            <a:ext cx="30939" cy="30939"/>
          </a:xfrm>
          <a:prstGeom prst="ellipse">
            <a:avLst/>
          </a:prstGeom>
          <a:solidFill>
            <a:srgbClr val="243B53"/>
          </a:solidFill>
          <a:ln w="12700">
            <a:solidFill>
              <a:srgbClr val="F4F4F2"/>
            </a:solidFill>
            <a:prstDash val="solid"/>
          </a:ln>
        </p:spPr>
      </p:sp>
      <p:sp>
        <p:nvSpPr>
          <p:cNvPr id="272" name="Shape 269"/>
          <p:cNvSpPr/>
          <p:nvPr/>
        </p:nvSpPr>
        <p:spPr>
          <a:xfrm>
            <a:off x="2024372" y="3103522"/>
            <a:ext cx="29074" cy="29074"/>
          </a:xfrm>
          <a:prstGeom prst="ellipse">
            <a:avLst/>
          </a:prstGeom>
          <a:solidFill>
            <a:srgbClr val="243B53"/>
          </a:solidFill>
          <a:ln w="12700">
            <a:solidFill>
              <a:srgbClr val="F4F4F2"/>
            </a:solidFill>
            <a:prstDash val="solid"/>
          </a:ln>
        </p:spPr>
      </p:sp>
      <p:sp>
        <p:nvSpPr>
          <p:cNvPr id="273" name="Shape 270"/>
          <p:cNvSpPr/>
          <p:nvPr/>
        </p:nvSpPr>
        <p:spPr>
          <a:xfrm>
            <a:off x="2028097" y="3604453"/>
            <a:ext cx="45956" cy="45956"/>
          </a:xfrm>
          <a:prstGeom prst="ellipse">
            <a:avLst/>
          </a:prstGeom>
          <a:solidFill>
            <a:srgbClr val="2F5FA8"/>
          </a:solidFill>
          <a:ln w="12700">
            <a:solidFill>
              <a:srgbClr val="F4F4F2"/>
            </a:solidFill>
            <a:prstDash val="solid"/>
          </a:ln>
        </p:spPr>
      </p:sp>
      <p:sp>
        <p:nvSpPr>
          <p:cNvPr id="274" name="Text 271"/>
          <p:cNvSpPr/>
          <p:nvPr/>
        </p:nvSpPr>
        <p:spPr>
          <a:xfrm>
            <a:off x="365760" y="3986784"/>
            <a:ext cx="3017520" cy="219456"/>
          </a:xfrm>
          <a:prstGeom prst="rect">
            <a:avLst/>
          </a:prstGeom>
          <a:noFill/>
          <a:ln/>
        </p:spPr>
        <p:txBody>
          <a:bodyPr wrap="square" lIns="0" tIns="0" rIns="0" bIns="0" rtlCol="0" anchor="t"/>
          <a:lstStyle/>
          <a:p>
            <a:pPr algn="ctr" indent="0" marL="0">
              <a:buNone/>
            </a:pPr>
            <a:r>
              <a:rPr lang="en-US" sz="1050" i="1" dirty="0">
                <a:solidFill>
                  <a:srgbClr val="2E3A48"/>
                </a:solidFill>
                <a:latin typeface="Arial" pitchFamily="34" charset="0"/>
                <a:ea typeface="Arial" pitchFamily="34" charset="-122"/>
                <a:cs typeface="Arial" pitchFamily="34" charset="-120"/>
              </a:rPr>
              <a:t>~124k 3D points every scan</a:t>
            </a:r>
            <a:endParaRPr lang="en-US" sz="1050" dirty="0"/>
          </a:p>
        </p:txBody>
      </p:sp>
      <p:sp>
        <p:nvSpPr>
          <p:cNvPr id="275" name="Shape 272"/>
          <p:cNvSpPr/>
          <p:nvPr/>
        </p:nvSpPr>
        <p:spPr>
          <a:xfrm>
            <a:off x="3429000" y="3264408"/>
            <a:ext cx="502920" cy="0"/>
          </a:xfrm>
          <a:prstGeom prst="line">
            <a:avLst/>
          </a:prstGeom>
          <a:noFill/>
          <a:ln w="28575">
            <a:solidFill>
              <a:srgbClr val="243B53"/>
            </a:solidFill>
            <a:prstDash val="solid"/>
            <a:tailEnd type="triangle"/>
          </a:ln>
        </p:spPr>
      </p:sp>
      <p:sp>
        <p:nvSpPr>
          <p:cNvPr id="276" name="Shape 273"/>
          <p:cNvSpPr/>
          <p:nvPr/>
        </p:nvSpPr>
        <p:spPr>
          <a:xfrm>
            <a:off x="3977640" y="2212848"/>
            <a:ext cx="3611880" cy="2103120"/>
          </a:xfrm>
          <a:prstGeom prst="roundRect">
            <a:avLst>
              <a:gd name="adj" fmla="val 5217"/>
            </a:avLst>
          </a:prstGeom>
          <a:solidFill>
            <a:srgbClr val="FFFFFF"/>
          </a:solidFill>
          <a:ln w="22225">
            <a:solidFill>
              <a:srgbClr val="243B53"/>
            </a:solidFill>
            <a:prstDash val="solid"/>
          </a:ln>
        </p:spPr>
      </p:sp>
      <p:sp>
        <p:nvSpPr>
          <p:cNvPr id="277" name="Text 274"/>
          <p:cNvSpPr/>
          <p:nvPr/>
        </p:nvSpPr>
        <p:spPr>
          <a:xfrm>
            <a:off x="3977640" y="2322576"/>
            <a:ext cx="3611880" cy="292608"/>
          </a:xfrm>
          <a:prstGeom prst="rect">
            <a:avLst/>
          </a:prstGeom>
          <a:noFill/>
          <a:ln/>
        </p:spPr>
        <p:txBody>
          <a:bodyPr wrap="square" lIns="0" tIns="0" rIns="0" bIns="0" rtlCol="0" anchor="t"/>
          <a:lstStyle/>
          <a:p>
            <a:pPr algn="ctr" indent="0" marL="0">
              <a:buNone/>
            </a:pPr>
            <a:r>
              <a:rPr lang="en-US" sz="1600" b="1" dirty="0">
                <a:solidFill>
                  <a:srgbClr val="243B53"/>
                </a:solidFill>
                <a:latin typeface="Comic Sans MS" pitchFamily="34" charset="0"/>
                <a:ea typeface="Comic Sans MS" pitchFamily="34" charset="-122"/>
                <a:cs typeface="Comic Sans MS" pitchFamily="34" charset="-120"/>
              </a:rPr>
              <a:t>DRISHTI-2.5</a:t>
            </a:r>
            <a:endParaRPr lang="en-US" sz="1600" dirty="0"/>
          </a:p>
        </p:txBody>
      </p:sp>
      <p:sp>
        <p:nvSpPr>
          <p:cNvPr id="278" name="Shape 275"/>
          <p:cNvSpPr/>
          <p:nvPr/>
        </p:nvSpPr>
        <p:spPr>
          <a:xfrm>
            <a:off x="4297680" y="2715768"/>
            <a:ext cx="2971800" cy="301752"/>
          </a:xfrm>
          <a:prstGeom prst="roundRect">
            <a:avLst>
              <a:gd name="adj" fmla="val 24242"/>
            </a:avLst>
          </a:prstGeom>
          <a:solidFill>
            <a:srgbClr val="FBE0C3"/>
          </a:solidFill>
          <a:ln w="12700">
            <a:solidFill>
              <a:srgbClr val="243B53"/>
            </a:solidFill>
            <a:prstDash val="solid"/>
          </a:ln>
        </p:spPr>
      </p:sp>
      <p:sp>
        <p:nvSpPr>
          <p:cNvPr id="279" name="Text 276"/>
          <p:cNvSpPr/>
          <p:nvPr/>
        </p:nvSpPr>
        <p:spPr>
          <a:xfrm>
            <a:off x="4480560" y="2715768"/>
            <a:ext cx="2606040" cy="301752"/>
          </a:xfrm>
          <a:prstGeom prst="rect">
            <a:avLst/>
          </a:prstGeom>
          <a:noFill/>
          <a:ln/>
        </p:spPr>
        <p:txBody>
          <a:bodyPr wrap="square" lIns="0" tIns="0" rIns="0" bIns="0" rtlCol="0" anchor="ctr"/>
          <a:lstStyle/>
          <a:p>
            <a:pPr indent="0" marL="0">
              <a:buNone/>
            </a:pPr>
            <a:r>
              <a:rPr lang="en-US" sz="1150" b="1" dirty="0">
                <a:solidFill>
                  <a:srgbClr val="243B53"/>
                </a:solidFill>
                <a:latin typeface="Arial" pitchFamily="34" charset="0"/>
                <a:ea typeface="Arial" pitchFamily="34" charset="-122"/>
                <a:cs typeface="Arial" pitchFamily="34" charset="-120"/>
              </a:rPr>
              <a:t>1  Find the ground</a:t>
            </a:r>
            <a:endParaRPr lang="en-US" sz="1150" dirty="0"/>
          </a:p>
        </p:txBody>
      </p:sp>
      <p:sp>
        <p:nvSpPr>
          <p:cNvPr id="280" name="Shape 277"/>
          <p:cNvSpPr/>
          <p:nvPr/>
        </p:nvSpPr>
        <p:spPr>
          <a:xfrm>
            <a:off x="4297680" y="3090672"/>
            <a:ext cx="2971800" cy="301752"/>
          </a:xfrm>
          <a:prstGeom prst="roundRect">
            <a:avLst>
              <a:gd name="adj" fmla="val 24242"/>
            </a:avLst>
          </a:prstGeom>
          <a:solidFill>
            <a:srgbClr val="DCEEDB"/>
          </a:solidFill>
          <a:ln w="12700">
            <a:solidFill>
              <a:srgbClr val="243B53"/>
            </a:solidFill>
            <a:prstDash val="solid"/>
          </a:ln>
        </p:spPr>
      </p:sp>
      <p:sp>
        <p:nvSpPr>
          <p:cNvPr id="281" name="Text 278"/>
          <p:cNvSpPr/>
          <p:nvPr/>
        </p:nvSpPr>
        <p:spPr>
          <a:xfrm>
            <a:off x="4480560" y="3090672"/>
            <a:ext cx="2606040" cy="301752"/>
          </a:xfrm>
          <a:prstGeom prst="rect">
            <a:avLst/>
          </a:prstGeom>
          <a:noFill/>
          <a:ln/>
        </p:spPr>
        <p:txBody>
          <a:bodyPr wrap="square" lIns="0" tIns="0" rIns="0" bIns="0" rtlCol="0" anchor="ctr"/>
          <a:lstStyle/>
          <a:p>
            <a:pPr indent="0" marL="0">
              <a:buNone/>
            </a:pPr>
            <a:r>
              <a:rPr lang="en-US" sz="1150" b="1" dirty="0">
                <a:solidFill>
                  <a:srgbClr val="243B53"/>
                </a:solidFill>
                <a:latin typeface="Arial" pitchFamily="34" charset="0"/>
                <a:ea typeface="Arial" pitchFamily="34" charset="-122"/>
                <a:cs typeface="Arial" pitchFamily="34" charset="-120"/>
              </a:rPr>
              <a:t>2  Label every point</a:t>
            </a:r>
            <a:endParaRPr lang="en-US" sz="1150" dirty="0"/>
          </a:p>
        </p:txBody>
      </p:sp>
      <p:sp>
        <p:nvSpPr>
          <p:cNvPr id="282" name="Shape 279"/>
          <p:cNvSpPr/>
          <p:nvPr/>
        </p:nvSpPr>
        <p:spPr>
          <a:xfrm>
            <a:off x="4297680" y="3465576"/>
            <a:ext cx="2971800" cy="301752"/>
          </a:xfrm>
          <a:prstGeom prst="roundRect">
            <a:avLst>
              <a:gd name="adj" fmla="val 24242"/>
            </a:avLst>
          </a:prstGeom>
          <a:solidFill>
            <a:srgbClr val="F4E6B4"/>
          </a:solidFill>
          <a:ln w="12700">
            <a:solidFill>
              <a:srgbClr val="243B53"/>
            </a:solidFill>
            <a:prstDash val="solid"/>
          </a:ln>
        </p:spPr>
      </p:sp>
      <p:sp>
        <p:nvSpPr>
          <p:cNvPr id="283" name="Text 280"/>
          <p:cNvSpPr/>
          <p:nvPr/>
        </p:nvSpPr>
        <p:spPr>
          <a:xfrm>
            <a:off x="4480560" y="3465576"/>
            <a:ext cx="2606040" cy="301752"/>
          </a:xfrm>
          <a:prstGeom prst="rect">
            <a:avLst/>
          </a:prstGeom>
          <a:noFill/>
          <a:ln/>
        </p:spPr>
        <p:txBody>
          <a:bodyPr wrap="square" lIns="0" tIns="0" rIns="0" bIns="0" rtlCol="0" anchor="ctr"/>
          <a:lstStyle/>
          <a:p>
            <a:pPr indent="0" marL="0">
              <a:buNone/>
            </a:pPr>
            <a:r>
              <a:rPr lang="en-US" sz="1150" b="1" dirty="0">
                <a:solidFill>
                  <a:srgbClr val="243B53"/>
                </a:solidFill>
                <a:latin typeface="Arial" pitchFamily="34" charset="0"/>
                <a:ea typeface="Arial" pitchFamily="34" charset="-122"/>
                <a:cs typeface="Arial" pitchFamily="34" charset="-120"/>
              </a:rPr>
              <a:t>3  Build the adaptive grid</a:t>
            </a:r>
            <a:endParaRPr lang="en-US" sz="1150" dirty="0"/>
          </a:p>
        </p:txBody>
      </p:sp>
      <p:sp>
        <p:nvSpPr>
          <p:cNvPr id="284" name="Shape 281"/>
          <p:cNvSpPr/>
          <p:nvPr/>
        </p:nvSpPr>
        <p:spPr>
          <a:xfrm>
            <a:off x="4297680" y="3840480"/>
            <a:ext cx="2971800" cy="301752"/>
          </a:xfrm>
          <a:prstGeom prst="roundRect">
            <a:avLst>
              <a:gd name="adj" fmla="val 24242"/>
            </a:avLst>
          </a:prstGeom>
          <a:solidFill>
            <a:srgbClr val="DDD2F0"/>
          </a:solidFill>
          <a:ln w="12700">
            <a:solidFill>
              <a:srgbClr val="243B53"/>
            </a:solidFill>
            <a:prstDash val="solid"/>
          </a:ln>
        </p:spPr>
      </p:sp>
      <p:sp>
        <p:nvSpPr>
          <p:cNvPr id="285" name="Text 282"/>
          <p:cNvSpPr/>
          <p:nvPr/>
        </p:nvSpPr>
        <p:spPr>
          <a:xfrm>
            <a:off x="4480560" y="3840480"/>
            <a:ext cx="2606040" cy="301752"/>
          </a:xfrm>
          <a:prstGeom prst="rect">
            <a:avLst/>
          </a:prstGeom>
          <a:noFill/>
          <a:ln/>
        </p:spPr>
        <p:txBody>
          <a:bodyPr wrap="square" lIns="0" tIns="0" rIns="0" bIns="0" rtlCol="0" anchor="ctr"/>
          <a:lstStyle/>
          <a:p>
            <a:pPr indent="0" marL="0">
              <a:buNone/>
            </a:pPr>
            <a:r>
              <a:rPr lang="en-US" sz="1150" b="1" dirty="0">
                <a:solidFill>
                  <a:srgbClr val="243B53"/>
                </a:solidFill>
                <a:latin typeface="Arial" pitchFamily="34" charset="0"/>
                <a:ea typeface="Arial" pitchFamily="34" charset="-122"/>
                <a:cs typeface="Arial" pitchFamily="34" charset="-120"/>
              </a:rPr>
              <a:t>4  Group obstacles</a:t>
            </a:r>
            <a:endParaRPr lang="en-US" sz="1150" dirty="0"/>
          </a:p>
        </p:txBody>
      </p:sp>
      <p:sp>
        <p:nvSpPr>
          <p:cNvPr id="286" name="Shape 283"/>
          <p:cNvSpPr/>
          <p:nvPr/>
        </p:nvSpPr>
        <p:spPr>
          <a:xfrm>
            <a:off x="7635240" y="3264408"/>
            <a:ext cx="457200" cy="0"/>
          </a:xfrm>
          <a:prstGeom prst="line">
            <a:avLst/>
          </a:prstGeom>
          <a:noFill/>
          <a:ln w="28575">
            <a:solidFill>
              <a:srgbClr val="243B53"/>
            </a:solidFill>
            <a:prstDash val="solid"/>
            <a:tailEnd type="triangle"/>
          </a:ln>
        </p:spPr>
      </p:sp>
      <p:sp>
        <p:nvSpPr>
          <p:cNvPr id="287" name="Shape 284"/>
          <p:cNvSpPr/>
          <p:nvPr/>
        </p:nvSpPr>
        <p:spPr>
          <a:xfrm>
            <a:off x="8138160" y="2212848"/>
            <a:ext cx="3687775" cy="2103120"/>
          </a:xfrm>
          <a:prstGeom prst="roundRect">
            <a:avLst>
              <a:gd name="adj" fmla="val 5217"/>
            </a:avLst>
          </a:prstGeom>
          <a:solidFill>
            <a:srgbClr val="FFFFFF"/>
          </a:solidFill>
          <a:ln w="22225">
            <a:solidFill>
              <a:srgbClr val="243B53"/>
            </a:solidFill>
            <a:prstDash val="solid"/>
          </a:ln>
        </p:spPr>
      </p:sp>
      <p:sp>
        <p:nvSpPr>
          <p:cNvPr id="288" name="Text 285"/>
          <p:cNvSpPr/>
          <p:nvPr/>
        </p:nvSpPr>
        <p:spPr>
          <a:xfrm>
            <a:off x="8138160" y="2322576"/>
            <a:ext cx="3687775" cy="256032"/>
          </a:xfrm>
          <a:prstGeom prst="rect">
            <a:avLst/>
          </a:prstGeom>
          <a:noFill/>
          <a:ln/>
        </p:spPr>
        <p:txBody>
          <a:bodyPr wrap="square" lIns="0" tIns="0" rIns="0" bIns="0" rtlCol="0" anchor="t"/>
          <a:lstStyle/>
          <a:p>
            <a:pPr algn="ctr" indent="0" marL="0">
              <a:buNone/>
            </a:pPr>
            <a:r>
              <a:rPr lang="en-US" sz="1200" b="1" dirty="0">
                <a:solidFill>
                  <a:srgbClr val="243B53"/>
                </a:solidFill>
                <a:latin typeface="Comic Sans MS" pitchFamily="34" charset="0"/>
                <a:ea typeface="Comic Sans MS" pitchFamily="34" charset="-122"/>
                <a:cs typeface="Comic Sans MS" pitchFamily="34" charset="-120"/>
              </a:rPr>
              <a:t>2.5D MAP OUTPUT</a:t>
            </a:r>
            <a:endParaRPr lang="en-US" sz="1200" dirty="0"/>
          </a:p>
        </p:txBody>
      </p:sp>
      <p:sp>
        <p:nvSpPr>
          <p:cNvPr id="289" name="Shape 286"/>
          <p:cNvSpPr/>
          <p:nvPr/>
        </p:nvSpPr>
        <p:spPr>
          <a:xfrm>
            <a:off x="8412480" y="2596896"/>
            <a:ext cx="1426464" cy="1426464"/>
          </a:xfrm>
          <a:prstGeom prst="ellipse">
            <a:avLst/>
          </a:prstGeom>
          <a:solidFill>
            <a:srgbClr val="DDE8F7"/>
          </a:solidFill>
          <a:ln w="12700">
            <a:solidFill>
              <a:srgbClr val="243B53"/>
            </a:solidFill>
            <a:prstDash val="solid"/>
          </a:ln>
        </p:spPr>
      </p:sp>
      <p:sp>
        <p:nvSpPr>
          <p:cNvPr id="290" name="Shape 287"/>
          <p:cNvSpPr/>
          <p:nvPr/>
        </p:nvSpPr>
        <p:spPr>
          <a:xfrm>
            <a:off x="8683508" y="2867924"/>
            <a:ext cx="884408" cy="884408"/>
          </a:xfrm>
          <a:prstGeom prst="ellipse">
            <a:avLst/>
          </a:prstGeom>
          <a:solidFill>
            <a:srgbClr val="DCEEDB"/>
          </a:solidFill>
          <a:ln w="12700">
            <a:solidFill>
              <a:srgbClr val="243B53"/>
            </a:solidFill>
            <a:prstDash val="solid"/>
          </a:ln>
        </p:spPr>
      </p:sp>
      <p:sp>
        <p:nvSpPr>
          <p:cNvPr id="291" name="Shape 288"/>
          <p:cNvSpPr/>
          <p:nvPr/>
        </p:nvSpPr>
        <p:spPr>
          <a:xfrm>
            <a:off x="8897478" y="3081894"/>
            <a:ext cx="456468" cy="456468"/>
          </a:xfrm>
          <a:prstGeom prst="ellipse">
            <a:avLst/>
          </a:prstGeom>
          <a:solidFill>
            <a:srgbClr val="F4E6B4"/>
          </a:solidFill>
          <a:ln w="12700">
            <a:solidFill>
              <a:srgbClr val="243B53"/>
            </a:solidFill>
            <a:prstDash val="solid"/>
          </a:ln>
        </p:spPr>
      </p:sp>
      <p:sp>
        <p:nvSpPr>
          <p:cNvPr id="292" name="Shape 289"/>
          <p:cNvSpPr/>
          <p:nvPr/>
        </p:nvSpPr>
        <p:spPr>
          <a:xfrm>
            <a:off x="9061704" y="3209544"/>
            <a:ext cx="128016" cy="201168"/>
          </a:xfrm>
          <a:prstGeom prst="rect">
            <a:avLst/>
          </a:prstGeom>
          <a:solidFill>
            <a:srgbClr val="243B53"/>
          </a:solidFill>
          <a:ln w="12700">
            <a:solidFill>
              <a:srgbClr val="243B53"/>
            </a:solidFill>
            <a:prstDash val="solid"/>
          </a:ln>
        </p:spPr>
      </p:sp>
      <p:sp>
        <p:nvSpPr>
          <p:cNvPr id="293" name="Shape 290"/>
          <p:cNvSpPr/>
          <p:nvPr/>
        </p:nvSpPr>
        <p:spPr>
          <a:xfrm>
            <a:off x="10040112" y="2816352"/>
            <a:ext cx="237744" cy="237744"/>
          </a:xfrm>
          <a:prstGeom prst="roundRect">
            <a:avLst>
              <a:gd name="adj" fmla="val 19231"/>
            </a:avLst>
          </a:prstGeom>
          <a:solidFill>
            <a:srgbClr val="F4E6B4"/>
          </a:solidFill>
          <a:ln w="12700">
            <a:solidFill>
              <a:srgbClr val="243B53"/>
            </a:solidFill>
            <a:prstDash val="solid"/>
          </a:ln>
        </p:spPr>
      </p:sp>
      <p:sp>
        <p:nvSpPr>
          <p:cNvPr id="294" name="Text 291"/>
          <p:cNvSpPr/>
          <p:nvPr/>
        </p:nvSpPr>
        <p:spPr>
          <a:xfrm>
            <a:off x="10369296" y="2779776"/>
            <a:ext cx="1371600" cy="365760"/>
          </a:xfrm>
          <a:prstGeom prst="rect">
            <a:avLst/>
          </a:prstGeom>
          <a:noFill/>
          <a:ln/>
        </p:spPr>
        <p:txBody>
          <a:bodyPr wrap="square" lIns="0" tIns="0" rIns="0" bIns="0" rtlCol="0" anchor="t"/>
          <a:lstStyle/>
          <a:p>
            <a:pPr indent="0" marL="0">
              <a:buNone/>
            </a:pPr>
            <a:r>
              <a:rPr lang="en-US" sz="1000" b="1" dirty="0">
                <a:solidFill>
                  <a:srgbClr val="2E3A48"/>
                </a:solidFill>
                <a:latin typeface="Arial" pitchFamily="34" charset="0"/>
                <a:ea typeface="Arial" pitchFamily="34" charset="-122"/>
                <a:cs typeface="Arial" pitchFamily="34" charset="-120"/>
              </a:rPr>
              <a:t>5 cm cells</a:t>
            </a:r>
            <a:endParaRPr lang="en-US" sz="1000" dirty="0"/>
          </a:p>
          <a:p>
            <a:pPr indent="0" marL="0">
              <a:buNone/>
            </a:pPr>
            <a:r>
              <a:rPr lang="en-US" sz="1000" dirty="0">
                <a:solidFill>
                  <a:srgbClr val="2E3A48"/>
                </a:solidFill>
                <a:latin typeface="Arial" pitchFamily="34" charset="0"/>
                <a:ea typeface="Arial" pitchFamily="34" charset="-122"/>
                <a:cs typeface="Arial" pitchFamily="34" charset="-120"/>
              </a:rPr>
              <a:t>to 10 m</a:t>
            </a:r>
            <a:endParaRPr lang="en-US" sz="1000" dirty="0"/>
          </a:p>
        </p:txBody>
      </p:sp>
      <p:sp>
        <p:nvSpPr>
          <p:cNvPr id="295" name="Shape 292"/>
          <p:cNvSpPr/>
          <p:nvPr/>
        </p:nvSpPr>
        <p:spPr>
          <a:xfrm>
            <a:off x="10040112" y="3218688"/>
            <a:ext cx="237744" cy="237744"/>
          </a:xfrm>
          <a:prstGeom prst="roundRect">
            <a:avLst>
              <a:gd name="adj" fmla="val 19231"/>
            </a:avLst>
          </a:prstGeom>
          <a:solidFill>
            <a:srgbClr val="DCEEDB"/>
          </a:solidFill>
          <a:ln w="12700">
            <a:solidFill>
              <a:srgbClr val="243B53"/>
            </a:solidFill>
            <a:prstDash val="solid"/>
          </a:ln>
        </p:spPr>
      </p:sp>
      <p:sp>
        <p:nvSpPr>
          <p:cNvPr id="296" name="Text 293"/>
          <p:cNvSpPr/>
          <p:nvPr/>
        </p:nvSpPr>
        <p:spPr>
          <a:xfrm>
            <a:off x="10369296" y="3182112"/>
            <a:ext cx="1371600" cy="365760"/>
          </a:xfrm>
          <a:prstGeom prst="rect">
            <a:avLst/>
          </a:prstGeom>
          <a:noFill/>
          <a:ln/>
        </p:spPr>
        <p:txBody>
          <a:bodyPr wrap="square" lIns="0" tIns="0" rIns="0" bIns="0" rtlCol="0" anchor="t"/>
          <a:lstStyle/>
          <a:p>
            <a:pPr indent="0" marL="0">
              <a:buNone/>
            </a:pPr>
            <a:r>
              <a:rPr lang="en-US" sz="1000" b="1" dirty="0">
                <a:solidFill>
                  <a:srgbClr val="2E3A48"/>
                </a:solidFill>
                <a:latin typeface="Arial" pitchFamily="34" charset="0"/>
                <a:ea typeface="Arial" pitchFamily="34" charset="-122"/>
                <a:cs typeface="Arial" pitchFamily="34" charset="-120"/>
              </a:rPr>
              <a:t>10 cm cells</a:t>
            </a:r>
            <a:endParaRPr lang="en-US" sz="1000" dirty="0"/>
          </a:p>
          <a:p>
            <a:pPr indent="0" marL="0">
              <a:buNone/>
            </a:pPr>
            <a:r>
              <a:rPr lang="en-US" sz="1000" dirty="0">
                <a:solidFill>
                  <a:srgbClr val="2E3A48"/>
                </a:solidFill>
                <a:latin typeface="Arial" pitchFamily="34" charset="0"/>
                <a:ea typeface="Arial" pitchFamily="34" charset="-122"/>
                <a:cs typeface="Arial" pitchFamily="34" charset="-120"/>
              </a:rPr>
              <a:t>to 25 m</a:t>
            </a:r>
            <a:endParaRPr lang="en-US" sz="1000" dirty="0"/>
          </a:p>
        </p:txBody>
      </p:sp>
      <p:sp>
        <p:nvSpPr>
          <p:cNvPr id="297" name="Shape 294"/>
          <p:cNvSpPr/>
          <p:nvPr/>
        </p:nvSpPr>
        <p:spPr>
          <a:xfrm>
            <a:off x="10040112" y="3621024"/>
            <a:ext cx="237744" cy="237744"/>
          </a:xfrm>
          <a:prstGeom prst="roundRect">
            <a:avLst>
              <a:gd name="adj" fmla="val 19231"/>
            </a:avLst>
          </a:prstGeom>
          <a:solidFill>
            <a:srgbClr val="DDE8F7"/>
          </a:solidFill>
          <a:ln w="12700">
            <a:solidFill>
              <a:srgbClr val="243B53"/>
            </a:solidFill>
            <a:prstDash val="solid"/>
          </a:ln>
        </p:spPr>
      </p:sp>
      <p:sp>
        <p:nvSpPr>
          <p:cNvPr id="298" name="Text 295"/>
          <p:cNvSpPr/>
          <p:nvPr/>
        </p:nvSpPr>
        <p:spPr>
          <a:xfrm>
            <a:off x="10369296" y="3584448"/>
            <a:ext cx="1371600" cy="365760"/>
          </a:xfrm>
          <a:prstGeom prst="rect">
            <a:avLst/>
          </a:prstGeom>
          <a:noFill/>
          <a:ln/>
        </p:spPr>
        <p:txBody>
          <a:bodyPr wrap="square" lIns="0" tIns="0" rIns="0" bIns="0" rtlCol="0" anchor="t"/>
          <a:lstStyle/>
          <a:p>
            <a:pPr indent="0" marL="0">
              <a:buNone/>
            </a:pPr>
            <a:r>
              <a:rPr lang="en-US" sz="1000" b="1" dirty="0">
                <a:solidFill>
                  <a:srgbClr val="2E3A48"/>
                </a:solidFill>
                <a:latin typeface="Arial" pitchFamily="34" charset="0"/>
                <a:ea typeface="Arial" pitchFamily="34" charset="-122"/>
                <a:cs typeface="Arial" pitchFamily="34" charset="-120"/>
              </a:rPr>
              <a:t>50 cm cells</a:t>
            </a:r>
            <a:endParaRPr lang="en-US" sz="1000" dirty="0"/>
          </a:p>
          <a:p>
            <a:pPr indent="0" marL="0">
              <a:buNone/>
            </a:pPr>
            <a:r>
              <a:rPr lang="en-US" sz="1000" dirty="0">
                <a:solidFill>
                  <a:srgbClr val="2E3A48"/>
                </a:solidFill>
                <a:latin typeface="Arial" pitchFamily="34" charset="0"/>
                <a:ea typeface="Arial" pitchFamily="34" charset="-122"/>
                <a:cs typeface="Arial" pitchFamily="34" charset="-120"/>
              </a:rPr>
              <a:t>to 100 m</a:t>
            </a:r>
            <a:endParaRPr lang="en-US" sz="1000" dirty="0"/>
          </a:p>
        </p:txBody>
      </p:sp>
      <p:sp>
        <p:nvSpPr>
          <p:cNvPr id="299" name="Text 296"/>
          <p:cNvSpPr/>
          <p:nvPr/>
        </p:nvSpPr>
        <p:spPr>
          <a:xfrm>
            <a:off x="8138160" y="3986784"/>
            <a:ext cx="3687775" cy="219456"/>
          </a:xfrm>
          <a:prstGeom prst="rect">
            <a:avLst/>
          </a:prstGeom>
          <a:noFill/>
          <a:ln/>
        </p:spPr>
        <p:txBody>
          <a:bodyPr wrap="square" lIns="0" tIns="0" rIns="0" bIns="0" rtlCol="0" anchor="t"/>
          <a:lstStyle/>
          <a:p>
            <a:pPr algn="ctr" indent="0" marL="0">
              <a:buNone/>
            </a:pPr>
            <a:r>
              <a:rPr lang="en-US" sz="1050" i="1" dirty="0">
                <a:solidFill>
                  <a:srgbClr val="2E3A48"/>
                </a:solidFill>
                <a:latin typeface="Arial" pitchFamily="34" charset="0"/>
                <a:ea typeface="Arial" pitchFamily="34" charset="-122"/>
                <a:cs typeface="Arial" pitchFamily="34" charset="-120"/>
              </a:rPr>
              <a:t>Height + class in every cell · not to scale</a:t>
            </a:r>
            <a:endParaRPr lang="en-US" sz="1050" dirty="0"/>
          </a:p>
        </p:txBody>
      </p:sp>
      <p:sp>
        <p:nvSpPr>
          <p:cNvPr id="300" name="Shape 297"/>
          <p:cNvSpPr/>
          <p:nvPr/>
        </p:nvSpPr>
        <p:spPr>
          <a:xfrm>
            <a:off x="365760" y="4498848"/>
            <a:ext cx="2727884" cy="1481328"/>
          </a:xfrm>
          <a:prstGeom prst="roundRect">
            <a:avLst>
              <a:gd name="adj" fmla="val 7407"/>
            </a:avLst>
          </a:prstGeom>
          <a:solidFill>
            <a:srgbClr val="FBE0C3"/>
          </a:solidFill>
          <a:ln w="15875">
            <a:solidFill>
              <a:srgbClr val="243B53"/>
            </a:solidFill>
            <a:prstDash val="solid"/>
          </a:ln>
        </p:spPr>
      </p:sp>
      <p:sp>
        <p:nvSpPr>
          <p:cNvPr id="301" name="Shape 298"/>
          <p:cNvSpPr/>
          <p:nvPr/>
        </p:nvSpPr>
        <p:spPr>
          <a:xfrm>
            <a:off x="512064" y="4626864"/>
            <a:ext cx="475488" cy="475488"/>
          </a:xfrm>
          <a:prstGeom prst="ellipse">
            <a:avLst/>
          </a:prstGeom>
          <a:solidFill>
            <a:srgbClr val="FFFFFF"/>
          </a:solidFill>
          <a:ln w="15875">
            <a:solidFill>
              <a:srgbClr val="243B53"/>
            </a:solidFill>
            <a:prstDash val="solid"/>
          </a:ln>
        </p:spPr>
      </p:sp>
      <p:pic>
        <p:nvPicPr>
          <p:cNvPr id="302" name="Image 1" descr="assets/icons/mountain.png">    </p:cNvPr>
          <p:cNvPicPr>
            <a:picLocks noChangeAspect="1"/>
          </p:cNvPicPr>
          <p:nvPr/>
        </p:nvPicPr>
        <p:blipFill>
          <a:blip r:embed="rId2"/>
          <a:stretch>
            <a:fillRect/>
          </a:stretch>
        </p:blipFill>
        <p:spPr>
          <a:xfrm>
            <a:off x="616671" y="4731471"/>
            <a:ext cx="266273" cy="266273"/>
          </a:xfrm>
          <a:prstGeom prst="rect">
            <a:avLst/>
          </a:prstGeom>
        </p:spPr>
      </p:pic>
      <p:sp>
        <p:nvSpPr>
          <p:cNvPr id="303" name="Text 299"/>
          <p:cNvSpPr/>
          <p:nvPr/>
        </p:nvSpPr>
        <p:spPr>
          <a:xfrm>
            <a:off x="1078992" y="4626864"/>
            <a:ext cx="1904924" cy="475488"/>
          </a:xfrm>
          <a:prstGeom prst="rect">
            <a:avLst/>
          </a:prstGeom>
          <a:noFill/>
          <a:ln/>
        </p:spPr>
        <p:txBody>
          <a:bodyPr wrap="square" lIns="0" tIns="0" rIns="0" bIns="0" rtlCol="0" anchor="ctr"/>
          <a:lstStyle/>
          <a:p>
            <a:pPr indent="0" marL="0">
              <a:buNone/>
            </a:pPr>
            <a:r>
              <a:rPr lang="en-US" sz="1350" b="1" dirty="0">
                <a:solidFill>
                  <a:srgbClr val="243B53"/>
                </a:solidFill>
                <a:latin typeface="Arial" pitchFamily="34" charset="0"/>
                <a:ea typeface="Arial" pitchFamily="34" charset="-122"/>
                <a:cs typeface="Arial" pitchFamily="34" charset="-120"/>
              </a:rPr>
              <a:t>Ground Separation</a:t>
            </a:r>
            <a:endParaRPr lang="en-US" sz="1350" dirty="0"/>
          </a:p>
        </p:txBody>
      </p:sp>
      <p:sp>
        <p:nvSpPr>
          <p:cNvPr id="304" name="Text 300"/>
          <p:cNvSpPr/>
          <p:nvPr/>
        </p:nvSpPr>
        <p:spPr>
          <a:xfrm>
            <a:off x="530352" y="5157216"/>
            <a:ext cx="2398700" cy="512064"/>
          </a:xfrm>
          <a:prstGeom prst="rect">
            <a:avLst/>
          </a:prstGeom>
          <a:noFill/>
          <a:ln/>
        </p:spPr>
        <p:txBody>
          <a:bodyPr wrap="square" lIns="0" tIns="0" rIns="0" bIns="0" rtlCol="0" anchor="t"/>
          <a:lstStyle/>
          <a:p>
            <a:pPr indent="0" marL="0">
              <a:buNone/>
            </a:pPr>
            <a:r>
              <a:rPr lang="en-US" sz="1050" dirty="0">
                <a:solidFill>
                  <a:srgbClr val="2E3A48"/>
                </a:solidFill>
                <a:latin typeface="Arial" pitchFamily="34" charset="0"/>
                <a:ea typeface="Arial" pitchFamily="34" charset="-122"/>
                <a:cs typeface="Arial" pitchFamily="34" charset="-120"/>
              </a:rPr>
              <a:t>Separates ground from everything above it, so terrain height is correct.</a:t>
            </a:r>
            <a:endParaRPr lang="en-US" sz="1050" dirty="0"/>
          </a:p>
        </p:txBody>
      </p:sp>
      <p:sp>
        <p:nvSpPr>
          <p:cNvPr id="305" name="Shape 301"/>
          <p:cNvSpPr/>
          <p:nvPr/>
        </p:nvSpPr>
        <p:spPr>
          <a:xfrm>
            <a:off x="530352" y="5715000"/>
            <a:ext cx="2398700" cy="182880"/>
          </a:xfrm>
          <a:prstGeom prst="roundRect">
            <a:avLst>
              <a:gd name="adj" fmla="val 50000"/>
            </a:avLst>
          </a:prstGeom>
          <a:solidFill>
            <a:srgbClr val="FFFFFF"/>
          </a:solidFill>
          <a:ln w="9525">
            <a:solidFill>
              <a:srgbClr val="243B53"/>
            </a:solidFill>
            <a:prstDash val="solid"/>
          </a:ln>
        </p:spPr>
      </p:sp>
      <p:sp>
        <p:nvSpPr>
          <p:cNvPr id="306" name="Text 302"/>
          <p:cNvSpPr/>
          <p:nvPr/>
        </p:nvSpPr>
        <p:spPr>
          <a:xfrm>
            <a:off x="530352" y="5715000"/>
            <a:ext cx="2398700" cy="182880"/>
          </a:xfrm>
          <a:prstGeom prst="rect">
            <a:avLst/>
          </a:prstGeom>
          <a:noFill/>
          <a:ln/>
        </p:spPr>
        <p:txBody>
          <a:bodyPr wrap="square" lIns="0" tIns="0" rIns="0" bIns="0" rtlCol="0" anchor="ctr"/>
          <a:lstStyle/>
          <a:p>
            <a:pPr algn="ctr" indent="0" marL="0">
              <a:buNone/>
            </a:pPr>
            <a:r>
              <a:rPr lang="en-US" sz="850" b="1" dirty="0">
                <a:solidFill>
                  <a:srgbClr val="243B53"/>
                </a:solidFill>
                <a:latin typeface="Arial" pitchFamily="34" charset="0"/>
                <a:ea typeface="Arial" pitchFamily="34" charset="-122"/>
                <a:cs typeface="Arial" pitchFamily="34" charset="-120"/>
              </a:rPr>
              <a:t>Patchwork++</a:t>
            </a:r>
            <a:endParaRPr lang="en-US" sz="850" dirty="0"/>
          </a:p>
        </p:txBody>
      </p:sp>
      <p:sp>
        <p:nvSpPr>
          <p:cNvPr id="307" name="Shape 303"/>
          <p:cNvSpPr/>
          <p:nvPr/>
        </p:nvSpPr>
        <p:spPr>
          <a:xfrm>
            <a:off x="3276524" y="4498848"/>
            <a:ext cx="2727884" cy="1481328"/>
          </a:xfrm>
          <a:prstGeom prst="roundRect">
            <a:avLst>
              <a:gd name="adj" fmla="val 7407"/>
            </a:avLst>
          </a:prstGeom>
          <a:solidFill>
            <a:srgbClr val="DCEEDB"/>
          </a:solidFill>
          <a:ln w="15875">
            <a:solidFill>
              <a:srgbClr val="243B53"/>
            </a:solidFill>
            <a:prstDash val="solid"/>
          </a:ln>
        </p:spPr>
      </p:sp>
      <p:sp>
        <p:nvSpPr>
          <p:cNvPr id="308" name="Shape 304"/>
          <p:cNvSpPr/>
          <p:nvPr/>
        </p:nvSpPr>
        <p:spPr>
          <a:xfrm>
            <a:off x="3422828" y="4626864"/>
            <a:ext cx="475488" cy="475488"/>
          </a:xfrm>
          <a:prstGeom prst="ellipse">
            <a:avLst/>
          </a:prstGeom>
          <a:solidFill>
            <a:srgbClr val="FFFFFF"/>
          </a:solidFill>
          <a:ln w="15875">
            <a:solidFill>
              <a:srgbClr val="243B53"/>
            </a:solidFill>
            <a:prstDash val="solid"/>
          </a:ln>
        </p:spPr>
      </p:sp>
      <p:pic>
        <p:nvPicPr>
          <p:cNvPr id="309" name="Image 2" descr="assets/icons/tags.png">    </p:cNvPr>
          <p:cNvPicPr>
            <a:picLocks noChangeAspect="1"/>
          </p:cNvPicPr>
          <p:nvPr/>
        </p:nvPicPr>
        <p:blipFill>
          <a:blip r:embed="rId3"/>
          <a:stretch>
            <a:fillRect/>
          </a:stretch>
        </p:blipFill>
        <p:spPr>
          <a:xfrm>
            <a:off x="3527435" y="4731471"/>
            <a:ext cx="266273" cy="266273"/>
          </a:xfrm>
          <a:prstGeom prst="rect">
            <a:avLst/>
          </a:prstGeom>
        </p:spPr>
      </p:pic>
      <p:sp>
        <p:nvSpPr>
          <p:cNvPr id="310" name="Text 305"/>
          <p:cNvSpPr/>
          <p:nvPr/>
        </p:nvSpPr>
        <p:spPr>
          <a:xfrm>
            <a:off x="3989756" y="4626864"/>
            <a:ext cx="1904924" cy="475488"/>
          </a:xfrm>
          <a:prstGeom prst="rect">
            <a:avLst/>
          </a:prstGeom>
          <a:noFill/>
          <a:ln/>
        </p:spPr>
        <p:txBody>
          <a:bodyPr wrap="square" lIns="0" tIns="0" rIns="0" bIns="0" rtlCol="0" anchor="ctr"/>
          <a:lstStyle/>
          <a:p>
            <a:pPr indent="0" marL="0">
              <a:buNone/>
            </a:pPr>
            <a:r>
              <a:rPr lang="en-US" sz="1350" b="1" dirty="0">
                <a:solidFill>
                  <a:srgbClr val="243B53"/>
                </a:solidFill>
                <a:latin typeface="Arial" pitchFamily="34" charset="0"/>
                <a:ea typeface="Arial" pitchFamily="34" charset="-122"/>
                <a:cs typeface="Arial" pitchFamily="34" charset="-120"/>
              </a:rPr>
              <a:t>Point-Level Labels</a:t>
            </a:r>
            <a:endParaRPr lang="en-US" sz="1350" dirty="0"/>
          </a:p>
        </p:txBody>
      </p:sp>
      <p:sp>
        <p:nvSpPr>
          <p:cNvPr id="311" name="Text 306"/>
          <p:cNvSpPr/>
          <p:nvPr/>
        </p:nvSpPr>
        <p:spPr>
          <a:xfrm>
            <a:off x="3441116" y="5157216"/>
            <a:ext cx="2398700" cy="512064"/>
          </a:xfrm>
          <a:prstGeom prst="rect">
            <a:avLst/>
          </a:prstGeom>
          <a:noFill/>
          <a:ln/>
        </p:spPr>
        <p:txBody>
          <a:bodyPr wrap="square" lIns="0" tIns="0" rIns="0" bIns="0" rtlCol="0" anchor="t"/>
          <a:lstStyle/>
          <a:p>
            <a:pPr indent="0" marL="0">
              <a:buNone/>
            </a:pPr>
            <a:r>
              <a:rPr lang="en-US" sz="1050" dirty="0">
                <a:solidFill>
                  <a:srgbClr val="2E3A48"/>
                </a:solidFill>
                <a:latin typeface="Arial" pitchFamily="34" charset="0"/>
                <a:ea typeface="Arial" pitchFamily="34" charset="-122"/>
                <a:cs typeface="Arial" pitchFamily="34" charset="-120"/>
              </a:rPr>
              <a:t>Labels each laser point as road, vehicle, person, pole or 15 other classes.</a:t>
            </a:r>
            <a:endParaRPr lang="en-US" sz="1050" dirty="0"/>
          </a:p>
        </p:txBody>
      </p:sp>
      <p:sp>
        <p:nvSpPr>
          <p:cNvPr id="312" name="Shape 307"/>
          <p:cNvSpPr/>
          <p:nvPr/>
        </p:nvSpPr>
        <p:spPr>
          <a:xfrm>
            <a:off x="3441116" y="5715000"/>
            <a:ext cx="2398700" cy="182880"/>
          </a:xfrm>
          <a:prstGeom prst="roundRect">
            <a:avLst>
              <a:gd name="adj" fmla="val 50000"/>
            </a:avLst>
          </a:prstGeom>
          <a:solidFill>
            <a:srgbClr val="FFFFFF"/>
          </a:solidFill>
          <a:ln w="9525">
            <a:solidFill>
              <a:srgbClr val="243B53"/>
            </a:solidFill>
            <a:prstDash val="solid"/>
          </a:ln>
        </p:spPr>
      </p:sp>
      <p:sp>
        <p:nvSpPr>
          <p:cNvPr id="313" name="Text 308"/>
          <p:cNvSpPr/>
          <p:nvPr/>
        </p:nvSpPr>
        <p:spPr>
          <a:xfrm>
            <a:off x="3441116" y="5715000"/>
            <a:ext cx="2398700" cy="182880"/>
          </a:xfrm>
          <a:prstGeom prst="rect">
            <a:avLst/>
          </a:prstGeom>
          <a:noFill/>
          <a:ln/>
        </p:spPr>
        <p:txBody>
          <a:bodyPr wrap="square" lIns="0" tIns="0" rIns="0" bIns="0" rtlCol="0" anchor="ctr"/>
          <a:lstStyle/>
          <a:p>
            <a:pPr algn="ctr" indent="0" marL="0">
              <a:buNone/>
            </a:pPr>
            <a:r>
              <a:rPr lang="en-US" sz="850" b="1" dirty="0">
                <a:solidFill>
                  <a:srgbClr val="243B53"/>
                </a:solidFill>
                <a:latin typeface="Arial" pitchFamily="34" charset="0"/>
                <a:ea typeface="Arial" pitchFamily="34" charset="-122"/>
                <a:cs typeface="Arial" pitchFamily="34" charset="-120"/>
              </a:rPr>
              <a:t>FRNet · 19 classes</a:t>
            </a:r>
            <a:endParaRPr lang="en-US" sz="850" dirty="0"/>
          </a:p>
        </p:txBody>
      </p:sp>
      <p:sp>
        <p:nvSpPr>
          <p:cNvPr id="314" name="Shape 309"/>
          <p:cNvSpPr/>
          <p:nvPr/>
        </p:nvSpPr>
        <p:spPr>
          <a:xfrm>
            <a:off x="6187288" y="4498848"/>
            <a:ext cx="2727884" cy="1481328"/>
          </a:xfrm>
          <a:prstGeom prst="roundRect">
            <a:avLst>
              <a:gd name="adj" fmla="val 7407"/>
            </a:avLst>
          </a:prstGeom>
          <a:solidFill>
            <a:srgbClr val="F4E6B4"/>
          </a:solidFill>
          <a:ln w="15875">
            <a:solidFill>
              <a:srgbClr val="243B53"/>
            </a:solidFill>
            <a:prstDash val="solid"/>
          </a:ln>
        </p:spPr>
      </p:sp>
      <p:sp>
        <p:nvSpPr>
          <p:cNvPr id="315" name="Shape 310"/>
          <p:cNvSpPr/>
          <p:nvPr/>
        </p:nvSpPr>
        <p:spPr>
          <a:xfrm>
            <a:off x="6333592" y="4626864"/>
            <a:ext cx="475488" cy="475488"/>
          </a:xfrm>
          <a:prstGeom prst="ellipse">
            <a:avLst/>
          </a:prstGeom>
          <a:solidFill>
            <a:srgbClr val="FFFFFF"/>
          </a:solidFill>
          <a:ln w="15875">
            <a:solidFill>
              <a:srgbClr val="243B53"/>
            </a:solidFill>
            <a:prstDash val="solid"/>
          </a:ln>
        </p:spPr>
      </p:sp>
      <p:pic>
        <p:nvPicPr>
          <p:cNvPr id="316" name="Image 3" descr="assets/icons/grid-3x3.png">    </p:cNvPr>
          <p:cNvPicPr>
            <a:picLocks noChangeAspect="1"/>
          </p:cNvPicPr>
          <p:nvPr/>
        </p:nvPicPr>
        <p:blipFill>
          <a:blip r:embed="rId4"/>
          <a:stretch>
            <a:fillRect/>
          </a:stretch>
        </p:blipFill>
        <p:spPr>
          <a:xfrm>
            <a:off x="6438199" y="4731471"/>
            <a:ext cx="266273" cy="266273"/>
          </a:xfrm>
          <a:prstGeom prst="rect">
            <a:avLst/>
          </a:prstGeom>
        </p:spPr>
      </p:pic>
      <p:sp>
        <p:nvSpPr>
          <p:cNvPr id="317" name="Text 311"/>
          <p:cNvSpPr/>
          <p:nvPr/>
        </p:nvSpPr>
        <p:spPr>
          <a:xfrm>
            <a:off x="6900520" y="4626864"/>
            <a:ext cx="1904924" cy="475488"/>
          </a:xfrm>
          <a:prstGeom prst="rect">
            <a:avLst/>
          </a:prstGeom>
          <a:noFill/>
          <a:ln/>
        </p:spPr>
        <p:txBody>
          <a:bodyPr wrap="square" lIns="0" tIns="0" rIns="0" bIns="0" rtlCol="0" anchor="ctr"/>
          <a:lstStyle/>
          <a:p>
            <a:pPr indent="0" marL="0">
              <a:buNone/>
            </a:pPr>
            <a:r>
              <a:rPr lang="en-US" sz="1350" b="1" dirty="0">
                <a:solidFill>
                  <a:srgbClr val="243B53"/>
                </a:solidFill>
                <a:latin typeface="Arial" pitchFamily="34" charset="0"/>
                <a:ea typeface="Arial" pitchFamily="34" charset="-122"/>
                <a:cs typeface="Arial" pitchFamily="34" charset="-120"/>
              </a:rPr>
              <a:t>Foveated 2.5D Grid</a:t>
            </a:r>
            <a:endParaRPr lang="en-US" sz="1350" dirty="0"/>
          </a:p>
        </p:txBody>
      </p:sp>
      <p:sp>
        <p:nvSpPr>
          <p:cNvPr id="318" name="Text 312"/>
          <p:cNvSpPr/>
          <p:nvPr/>
        </p:nvSpPr>
        <p:spPr>
          <a:xfrm>
            <a:off x="6351880" y="5157216"/>
            <a:ext cx="2398700" cy="512064"/>
          </a:xfrm>
          <a:prstGeom prst="rect">
            <a:avLst/>
          </a:prstGeom>
          <a:noFill/>
          <a:ln/>
        </p:spPr>
        <p:txBody>
          <a:bodyPr wrap="square" lIns="0" tIns="0" rIns="0" bIns="0" rtlCol="0" anchor="t"/>
          <a:lstStyle/>
          <a:p>
            <a:pPr indent="0" marL="0">
              <a:buNone/>
            </a:pPr>
            <a:r>
              <a:rPr lang="en-US" sz="1050" dirty="0">
                <a:solidFill>
                  <a:srgbClr val="2E3A48"/>
                </a:solidFill>
                <a:latin typeface="Arial" pitchFamily="34" charset="0"/>
                <a:ea typeface="Arial" pitchFamily="34" charset="-122"/>
                <a:cs typeface="Arial" pitchFamily="34" charset="-120"/>
              </a:rPr>
              <a:t>Uses fine 5 cm cells near the vehicle, growing to 50 cm at 100 m.</a:t>
            </a:r>
            <a:endParaRPr lang="en-US" sz="1050" dirty="0"/>
          </a:p>
        </p:txBody>
      </p:sp>
      <p:sp>
        <p:nvSpPr>
          <p:cNvPr id="319" name="Shape 313"/>
          <p:cNvSpPr/>
          <p:nvPr/>
        </p:nvSpPr>
        <p:spPr>
          <a:xfrm>
            <a:off x="6351880" y="5715000"/>
            <a:ext cx="2398700" cy="182880"/>
          </a:xfrm>
          <a:prstGeom prst="roundRect">
            <a:avLst>
              <a:gd name="adj" fmla="val 50000"/>
            </a:avLst>
          </a:prstGeom>
          <a:solidFill>
            <a:srgbClr val="FFFFFF"/>
          </a:solidFill>
          <a:ln w="9525">
            <a:solidFill>
              <a:srgbClr val="243B53"/>
            </a:solidFill>
            <a:prstDash val="solid"/>
          </a:ln>
        </p:spPr>
      </p:sp>
      <p:sp>
        <p:nvSpPr>
          <p:cNvPr id="320" name="Text 314"/>
          <p:cNvSpPr/>
          <p:nvPr/>
        </p:nvSpPr>
        <p:spPr>
          <a:xfrm>
            <a:off x="6351880" y="5715000"/>
            <a:ext cx="2398700" cy="182880"/>
          </a:xfrm>
          <a:prstGeom prst="rect">
            <a:avLst/>
          </a:prstGeom>
          <a:noFill/>
          <a:ln/>
        </p:spPr>
        <p:txBody>
          <a:bodyPr wrap="square" lIns="0" tIns="0" rIns="0" bIns="0" rtlCol="0" anchor="ctr"/>
          <a:lstStyle/>
          <a:p>
            <a:pPr algn="ctr" indent="0" marL="0">
              <a:buNone/>
            </a:pPr>
            <a:r>
              <a:rPr lang="en-US" sz="850" b="1" dirty="0">
                <a:solidFill>
                  <a:srgbClr val="243B53"/>
                </a:solidFill>
                <a:latin typeface="Arial" pitchFamily="34" charset="0"/>
                <a:ea typeface="Arial" pitchFamily="34" charset="-122"/>
                <a:cs typeface="Arial" pitchFamily="34" charset="-120"/>
              </a:rPr>
              <a:t>Integer ring lattice</a:t>
            </a:r>
            <a:endParaRPr lang="en-US" sz="850" dirty="0"/>
          </a:p>
        </p:txBody>
      </p:sp>
      <p:sp>
        <p:nvSpPr>
          <p:cNvPr id="321" name="Shape 315"/>
          <p:cNvSpPr/>
          <p:nvPr/>
        </p:nvSpPr>
        <p:spPr>
          <a:xfrm>
            <a:off x="9098051" y="4498848"/>
            <a:ext cx="2727884" cy="1481328"/>
          </a:xfrm>
          <a:prstGeom prst="roundRect">
            <a:avLst>
              <a:gd name="adj" fmla="val 7407"/>
            </a:avLst>
          </a:prstGeom>
          <a:solidFill>
            <a:srgbClr val="DDD2F0"/>
          </a:solidFill>
          <a:ln w="15875">
            <a:solidFill>
              <a:srgbClr val="243B53"/>
            </a:solidFill>
            <a:prstDash val="solid"/>
          </a:ln>
        </p:spPr>
      </p:sp>
      <p:sp>
        <p:nvSpPr>
          <p:cNvPr id="322" name="Shape 316"/>
          <p:cNvSpPr/>
          <p:nvPr/>
        </p:nvSpPr>
        <p:spPr>
          <a:xfrm>
            <a:off x="9244355" y="4626864"/>
            <a:ext cx="475488" cy="475488"/>
          </a:xfrm>
          <a:prstGeom prst="ellipse">
            <a:avLst/>
          </a:prstGeom>
          <a:solidFill>
            <a:srgbClr val="FFFFFF"/>
          </a:solidFill>
          <a:ln w="15875">
            <a:solidFill>
              <a:srgbClr val="243B53"/>
            </a:solidFill>
            <a:prstDash val="solid"/>
          </a:ln>
        </p:spPr>
      </p:sp>
      <p:pic>
        <p:nvPicPr>
          <p:cNvPr id="323" name="Image 4" descr="assets/icons/boxes.png">    </p:cNvPr>
          <p:cNvPicPr>
            <a:picLocks noChangeAspect="1"/>
          </p:cNvPicPr>
          <p:nvPr/>
        </p:nvPicPr>
        <p:blipFill>
          <a:blip r:embed="rId5"/>
          <a:stretch>
            <a:fillRect/>
          </a:stretch>
        </p:blipFill>
        <p:spPr>
          <a:xfrm>
            <a:off x="9348963" y="4731471"/>
            <a:ext cx="266273" cy="266273"/>
          </a:xfrm>
          <a:prstGeom prst="rect">
            <a:avLst/>
          </a:prstGeom>
        </p:spPr>
      </p:pic>
      <p:sp>
        <p:nvSpPr>
          <p:cNvPr id="324" name="Text 317"/>
          <p:cNvSpPr/>
          <p:nvPr/>
        </p:nvSpPr>
        <p:spPr>
          <a:xfrm>
            <a:off x="9811283" y="4626864"/>
            <a:ext cx="1904924" cy="475488"/>
          </a:xfrm>
          <a:prstGeom prst="rect">
            <a:avLst/>
          </a:prstGeom>
          <a:noFill/>
          <a:ln/>
        </p:spPr>
        <p:txBody>
          <a:bodyPr wrap="square" lIns="0" tIns="0" rIns="0" bIns="0" rtlCol="0" anchor="ctr"/>
          <a:lstStyle/>
          <a:p>
            <a:pPr indent="0" marL="0">
              <a:buNone/>
            </a:pPr>
            <a:r>
              <a:rPr lang="en-US" sz="1350" b="1" dirty="0">
                <a:solidFill>
                  <a:srgbClr val="243B53"/>
                </a:solidFill>
                <a:latin typeface="Arial" pitchFamily="34" charset="0"/>
                <a:ea typeface="Arial" pitchFamily="34" charset="-122"/>
                <a:cs typeface="Arial" pitchFamily="34" charset="-120"/>
              </a:rPr>
              <a:t>Obstacle Evidence</a:t>
            </a:r>
            <a:endParaRPr lang="en-US" sz="1350" dirty="0"/>
          </a:p>
        </p:txBody>
      </p:sp>
      <p:sp>
        <p:nvSpPr>
          <p:cNvPr id="325" name="Text 318"/>
          <p:cNvSpPr/>
          <p:nvPr/>
        </p:nvSpPr>
        <p:spPr>
          <a:xfrm>
            <a:off x="9262643" y="5157216"/>
            <a:ext cx="2398700" cy="512064"/>
          </a:xfrm>
          <a:prstGeom prst="rect">
            <a:avLst/>
          </a:prstGeom>
          <a:noFill/>
          <a:ln/>
        </p:spPr>
        <p:txBody>
          <a:bodyPr wrap="square" lIns="0" tIns="0" rIns="0" bIns="0" rtlCol="0" anchor="t"/>
          <a:lstStyle/>
          <a:p>
            <a:pPr indent="0" marL="0">
              <a:buNone/>
            </a:pPr>
            <a:r>
              <a:rPr lang="en-US" sz="1050" dirty="0">
                <a:solidFill>
                  <a:srgbClr val="2E3A48"/>
                </a:solidFill>
                <a:latin typeface="Arial" pitchFamily="34" charset="0"/>
                <a:ea typeface="Arial" pitchFamily="34" charset="-122"/>
                <a:cs typeface="Arial" pitchFamily="34" charset="-120"/>
              </a:rPr>
              <a:t>Groups labelled points into obstacles; tracks vehicles and people over time.</a:t>
            </a:r>
            <a:endParaRPr lang="en-US" sz="1050" dirty="0"/>
          </a:p>
        </p:txBody>
      </p:sp>
      <p:sp>
        <p:nvSpPr>
          <p:cNvPr id="326" name="Shape 319"/>
          <p:cNvSpPr/>
          <p:nvPr/>
        </p:nvSpPr>
        <p:spPr>
          <a:xfrm>
            <a:off x="9262643" y="5715000"/>
            <a:ext cx="2398700" cy="182880"/>
          </a:xfrm>
          <a:prstGeom prst="roundRect">
            <a:avLst>
              <a:gd name="adj" fmla="val 50000"/>
            </a:avLst>
          </a:prstGeom>
          <a:solidFill>
            <a:srgbClr val="FFFFFF"/>
          </a:solidFill>
          <a:ln w="9525">
            <a:solidFill>
              <a:srgbClr val="243B53"/>
            </a:solidFill>
            <a:prstDash val="solid"/>
          </a:ln>
        </p:spPr>
      </p:sp>
      <p:sp>
        <p:nvSpPr>
          <p:cNvPr id="327" name="Text 320"/>
          <p:cNvSpPr/>
          <p:nvPr/>
        </p:nvSpPr>
        <p:spPr>
          <a:xfrm>
            <a:off x="9262643" y="5715000"/>
            <a:ext cx="2398700" cy="182880"/>
          </a:xfrm>
          <a:prstGeom prst="rect">
            <a:avLst/>
          </a:prstGeom>
          <a:noFill/>
          <a:ln/>
        </p:spPr>
        <p:txBody>
          <a:bodyPr wrap="square" lIns="0" tIns="0" rIns="0" bIns="0" rtlCol="0" anchor="ctr"/>
          <a:lstStyle/>
          <a:p>
            <a:pPr algn="ctr" indent="0" marL="0">
              <a:buNone/>
            </a:pPr>
            <a:r>
              <a:rPr lang="en-US" sz="850" b="1" dirty="0">
                <a:solidFill>
                  <a:srgbClr val="243B53"/>
                </a:solidFill>
                <a:latin typeface="Arial" pitchFamily="34" charset="0"/>
                <a:ea typeface="Arial" pitchFamily="34" charset="-122"/>
                <a:cs typeface="Arial" pitchFamily="34" charset="-120"/>
              </a:rPr>
              <a:t>Candidates + track IDs</a:t>
            </a:r>
            <a:endParaRPr lang="en-US" sz="850" dirty="0"/>
          </a:p>
        </p:txBody>
      </p:sp>
      <p:sp>
        <p:nvSpPr>
          <p:cNvPr id="328" name="Shape 321"/>
          <p:cNvSpPr/>
          <p:nvPr/>
        </p:nvSpPr>
        <p:spPr>
          <a:xfrm>
            <a:off x="365760" y="6108192"/>
            <a:ext cx="11460175" cy="310896"/>
          </a:xfrm>
          <a:prstGeom prst="roundRect">
            <a:avLst>
              <a:gd name="adj" fmla="val 23529"/>
            </a:avLst>
          </a:prstGeom>
          <a:solidFill>
            <a:srgbClr val="243B53"/>
          </a:solidFill>
          <a:ln w="15875">
            <a:solidFill>
              <a:srgbClr val="243B53"/>
            </a:solidFill>
            <a:prstDash val="solid"/>
          </a:ln>
        </p:spPr>
      </p:sp>
      <p:sp>
        <p:nvSpPr>
          <p:cNvPr id="329" name="Text 322"/>
          <p:cNvSpPr/>
          <p:nvPr/>
        </p:nvSpPr>
        <p:spPr>
          <a:xfrm>
            <a:off x="548640" y="6108192"/>
            <a:ext cx="11094415" cy="310896"/>
          </a:xfrm>
          <a:prstGeom prst="rect">
            <a:avLst/>
          </a:prstGeom>
          <a:noFill/>
          <a:ln/>
        </p:spPr>
        <p:txBody>
          <a:bodyPr wrap="square" lIns="0" tIns="0" rIns="0" bIns="0" rtlCol="0" anchor="ctr"/>
          <a:lstStyle/>
          <a:p>
            <a:pPr indent="0" marL="0">
              <a:buNone/>
            </a:pPr>
            <a:r>
              <a:rPr lang="en-US" sz="1050" b="1" dirty="0">
                <a:solidFill>
                  <a:srgbClr val="F4E6B4"/>
                </a:solidFill>
                <a:latin typeface="Arial" pitchFamily="34" charset="0"/>
                <a:ea typeface="Arial" pitchFamily="34" charset="-122"/>
                <a:cs typeface="Arial" pitchFamily="34" charset="-120"/>
              </a:rPr>
              <a:t>What makes it different:  </a:t>
            </a:r>
            <a:pPr indent="0" marL="0">
              <a:buNone/>
            </a:pPr>
            <a:r>
              <a:rPr lang="en-US" sz="1050" dirty="0">
                <a:solidFill>
                  <a:srgbClr val="FFFFFF"/>
                </a:solidFill>
                <a:latin typeface="Arial" pitchFamily="34" charset="0"/>
                <a:ea typeface="Arial" pitchFamily="34" charset="-122"/>
                <a:cs typeface="Arial" pitchFamily="34" charset="-120"/>
              </a:rPr>
              <a:t>every point lands in exactly one cell - no gaps or double counts at ring edges. Unknown stays unknown, never silently marked safe.</a:t>
            </a:r>
            <a:endParaRPr lang="en-US" sz="1050" dirty="0"/>
          </a:p>
        </p:txBody>
      </p:sp>
      <p:sp>
        <p:nvSpPr>
          <p:cNvPr id="330" name="Text 323"/>
          <p:cNvSpPr/>
          <p:nvPr/>
        </p:nvSpPr>
        <p:spPr>
          <a:xfrm>
            <a:off x="3813048" y="6510528"/>
            <a:ext cx="4572000" cy="201168"/>
          </a:xfrm>
          <a:prstGeom prst="rect">
            <a:avLst/>
          </a:prstGeom>
          <a:noFill/>
          <a:ln/>
        </p:spPr>
        <p:txBody>
          <a:bodyPr wrap="square" lIns="0" tIns="0" rIns="0" bIns="0" rtlCol="0" anchor="ctr"/>
          <a:lstStyle/>
          <a:p>
            <a:pPr algn="ctr" indent="0" marL="0">
              <a:buNone/>
            </a:pPr>
            <a:r>
              <a:rPr lang="en-US" sz="900" spc="200" kern="0" dirty="0">
                <a:solidFill>
                  <a:srgbClr val="4A5563"/>
                </a:solidFill>
                <a:latin typeface="Arial" pitchFamily="34" charset="0"/>
                <a:ea typeface="Arial" pitchFamily="34" charset="-122"/>
                <a:cs typeface="Arial" pitchFamily="34" charset="-120"/>
              </a:rPr>
              <a:t>SMART INDIA HACKATHON 2026  ·  SIH26053</a:t>
            </a:r>
            <a:endParaRPr lang="en-US" sz="900" dirty="0"/>
          </a:p>
        </p:txBody>
      </p:sp>
      <p:sp>
        <p:nvSpPr>
          <p:cNvPr id="331" name="Text 324"/>
          <p:cNvSpPr/>
          <p:nvPr/>
        </p:nvSpPr>
        <p:spPr>
          <a:xfrm>
            <a:off x="11368735" y="6483096"/>
            <a:ext cx="457200" cy="237744"/>
          </a:xfrm>
          <a:prstGeom prst="rect">
            <a:avLst/>
          </a:prstGeom>
          <a:noFill/>
          <a:ln/>
        </p:spPr>
        <p:txBody>
          <a:bodyPr wrap="square" lIns="0" tIns="0" rIns="0" bIns="0" rtlCol="0" anchor="ctr"/>
          <a:lstStyle/>
          <a:p>
            <a:pPr algn="r" indent="0" marL="0">
              <a:buNone/>
            </a:pPr>
            <a:r>
              <a:rPr lang="en-US" sz="1200" dirty="0">
                <a:solidFill>
                  <a:srgbClr val="243B53"/>
                </a:solidFill>
                <a:latin typeface="Comic Sans MS" pitchFamily="34" charset="0"/>
                <a:ea typeface="Comic Sans MS" pitchFamily="34" charset="-122"/>
                <a:cs typeface="Comic Sans MS" pitchFamily="34" charset="-120"/>
              </a:rPr>
              <a:t>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2"/>
        </a:solidFill>
      </p:bgPr>
    </p:bg>
    <p:spTree>
      <p:nvGrpSpPr>
        <p:cNvPr id="1" name=""/>
        <p:cNvGrpSpPr/>
        <p:nvPr/>
      </p:nvGrpSpPr>
      <p:grpSpPr>
        <a:xfrm>
          <a:off x="0" y="0"/>
          <a:ext cx="0" cy="0"/>
          <a:chOff x="0" y="0"/>
          <a:chExt cx="0" cy="0"/>
        </a:xfrm>
      </p:grpSpPr>
      <p:sp>
        <p:nvSpPr>
          <p:cNvPr id="2" name="Text 0"/>
          <p:cNvSpPr/>
          <p:nvPr/>
        </p:nvSpPr>
        <p:spPr>
          <a:xfrm>
            <a:off x="365760" y="256032"/>
            <a:ext cx="1828800" cy="274320"/>
          </a:xfrm>
          <a:prstGeom prst="rect">
            <a:avLst/>
          </a:prstGeom>
          <a:noFill/>
          <a:ln/>
        </p:spPr>
        <p:txBody>
          <a:bodyPr wrap="square" lIns="0" tIns="0" rIns="0" bIns="0" rtlCol="0" anchor="t"/>
          <a:lstStyle/>
          <a:p>
            <a:pPr indent="0" marL="0">
              <a:buNone/>
            </a:pPr>
            <a:r>
              <a:rPr lang="en-US" sz="1300" dirty="0">
                <a:solidFill>
                  <a:srgbClr val="243B53"/>
                </a:solidFill>
                <a:latin typeface="Comic Sans MS" pitchFamily="34" charset="0"/>
                <a:ea typeface="Comic Sans MS" pitchFamily="34" charset="-122"/>
                <a:cs typeface="Comic Sans MS" pitchFamily="34" charset="-120"/>
              </a:rPr>
              <a:t>AstroNex</a:t>
            </a:r>
            <a:endParaRPr lang="en-US" sz="1300" dirty="0"/>
          </a:p>
        </p:txBody>
      </p:sp>
      <p:sp>
        <p:nvSpPr>
          <p:cNvPr id="3" name="Text 1"/>
          <p:cNvSpPr/>
          <p:nvPr/>
        </p:nvSpPr>
        <p:spPr>
          <a:xfrm>
            <a:off x="2194560" y="128016"/>
            <a:ext cx="7799832" cy="566928"/>
          </a:xfrm>
          <a:prstGeom prst="rect">
            <a:avLst/>
          </a:prstGeom>
          <a:noFill/>
          <a:ln/>
        </p:spPr>
        <p:txBody>
          <a:bodyPr wrap="square" lIns="0" tIns="0" rIns="0" bIns="0" rtlCol="0" anchor="ctr"/>
          <a:lstStyle/>
          <a:p>
            <a:pPr algn="ctr" indent="0" marL="0">
              <a:buNone/>
            </a:pPr>
            <a:r>
              <a:rPr lang="en-US" sz="3200" b="1" dirty="0">
                <a:solidFill>
                  <a:srgbClr val="243B53"/>
                </a:solidFill>
                <a:latin typeface="Comic Sans MS" pitchFamily="34" charset="0"/>
                <a:ea typeface="Comic Sans MS" pitchFamily="34" charset="-122"/>
                <a:cs typeface="Comic Sans MS" pitchFamily="34" charset="-120"/>
              </a:rPr>
              <a:t>TECHNICAL APPROACH</a:t>
            </a:r>
            <a:endParaRPr lang="en-US" sz="3200" dirty="0"/>
          </a:p>
        </p:txBody>
      </p:sp>
      <p:sp>
        <p:nvSpPr>
          <p:cNvPr id="4" name="Text 2"/>
          <p:cNvSpPr/>
          <p:nvPr/>
        </p:nvSpPr>
        <p:spPr>
          <a:xfrm>
            <a:off x="2194560" y="694944"/>
            <a:ext cx="7799832" cy="274320"/>
          </a:xfrm>
          <a:prstGeom prst="rect">
            <a:avLst/>
          </a:prstGeom>
          <a:noFill/>
          <a:ln/>
        </p:spPr>
        <p:txBody>
          <a:bodyPr wrap="square" lIns="0" tIns="0" rIns="0" bIns="0" rtlCol="0" anchor="t"/>
          <a:lstStyle/>
          <a:p>
            <a:pPr algn="ctr" indent="0" marL="0">
              <a:buNone/>
            </a:pPr>
            <a:r>
              <a:rPr lang="en-US" sz="1400" i="1" dirty="0">
                <a:solidFill>
                  <a:srgbClr val="2F6B52"/>
                </a:solidFill>
                <a:latin typeface="Arial" pitchFamily="34" charset="0"/>
                <a:ea typeface="Arial" pitchFamily="34" charset="-122"/>
                <a:cs typeface="Arial" pitchFamily="34" charset="-120"/>
              </a:rPr>
              <a:t>One pipeline: raw scan in → labelled 2.5D map out</a:t>
            </a:r>
            <a:endParaRPr lang="en-US" sz="1400" dirty="0"/>
          </a:p>
        </p:txBody>
      </p:sp>
      <p:pic>
        <p:nvPicPr>
          <p:cNvPr id="5" name="Image 0" descr="assets/sih-2026-logo.png">    </p:cNvPr>
          <p:cNvPicPr>
            <a:picLocks noChangeAspect="1"/>
          </p:cNvPicPr>
          <p:nvPr/>
        </p:nvPicPr>
        <p:blipFill>
          <a:blip r:embed="rId1"/>
          <a:stretch>
            <a:fillRect/>
          </a:stretch>
        </p:blipFill>
        <p:spPr>
          <a:xfrm>
            <a:off x="10451592" y="146304"/>
            <a:ext cx="1371600" cy="637337"/>
          </a:xfrm>
          <a:prstGeom prst="rect">
            <a:avLst/>
          </a:prstGeom>
        </p:spPr>
      </p:pic>
      <p:sp>
        <p:nvSpPr>
          <p:cNvPr id="6" name="Shape 3"/>
          <p:cNvSpPr/>
          <p:nvPr/>
        </p:nvSpPr>
        <p:spPr>
          <a:xfrm>
            <a:off x="365760" y="1243584"/>
            <a:ext cx="1681429" cy="0"/>
          </a:xfrm>
          <a:prstGeom prst="line">
            <a:avLst/>
          </a:prstGeom>
          <a:noFill/>
          <a:ln w="19050">
            <a:solidFill>
              <a:srgbClr val="2F5FA8"/>
            </a:solidFill>
            <a:prstDash val="solid"/>
          </a:ln>
        </p:spPr>
      </p:sp>
      <p:sp>
        <p:nvSpPr>
          <p:cNvPr id="7" name="Shape 4"/>
          <p:cNvSpPr/>
          <p:nvPr/>
        </p:nvSpPr>
        <p:spPr>
          <a:xfrm>
            <a:off x="703555" y="1133856"/>
            <a:ext cx="1005840" cy="219456"/>
          </a:xfrm>
          <a:prstGeom prst="roundRect">
            <a:avLst>
              <a:gd name="adj" fmla="val 50000"/>
            </a:avLst>
          </a:prstGeom>
          <a:solidFill>
            <a:srgbClr val="F4F4F2"/>
          </a:solidFill>
          <a:ln w="9525">
            <a:solidFill>
              <a:srgbClr val="243B53"/>
            </a:solidFill>
            <a:prstDash val="solid"/>
          </a:ln>
        </p:spPr>
      </p:sp>
      <p:sp>
        <p:nvSpPr>
          <p:cNvPr id="8" name="Text 5"/>
          <p:cNvSpPr/>
          <p:nvPr/>
        </p:nvSpPr>
        <p:spPr>
          <a:xfrm>
            <a:off x="703555" y="1133856"/>
            <a:ext cx="1005840" cy="219456"/>
          </a:xfrm>
          <a:prstGeom prst="rect">
            <a:avLst/>
          </a:prstGeom>
          <a:noFill/>
          <a:ln/>
        </p:spPr>
        <p:txBody>
          <a:bodyPr wrap="square" lIns="0" tIns="0" rIns="0" bIns="0" rtlCol="0" anchor="ctr"/>
          <a:lstStyle/>
          <a:p>
            <a:pPr algn="ctr" indent="0" marL="0">
              <a:buNone/>
            </a:pPr>
            <a:r>
              <a:rPr lang="en-US" sz="900" b="1" dirty="0">
                <a:solidFill>
                  <a:srgbClr val="2F5FA8"/>
                </a:solidFill>
                <a:latin typeface="Arial" pitchFamily="34" charset="0"/>
                <a:ea typeface="Arial" pitchFamily="34" charset="-122"/>
                <a:cs typeface="Arial" pitchFamily="34" charset="-120"/>
              </a:rPr>
              <a:t>IN</a:t>
            </a:r>
            <a:endParaRPr lang="en-US" sz="900" dirty="0"/>
          </a:p>
        </p:txBody>
      </p:sp>
      <p:sp>
        <p:nvSpPr>
          <p:cNvPr id="9" name="Shape 6"/>
          <p:cNvSpPr/>
          <p:nvPr/>
        </p:nvSpPr>
        <p:spPr>
          <a:xfrm>
            <a:off x="2321509" y="1243584"/>
            <a:ext cx="7548677" cy="0"/>
          </a:xfrm>
          <a:prstGeom prst="line">
            <a:avLst/>
          </a:prstGeom>
          <a:noFill/>
          <a:ln w="19050">
            <a:solidFill>
              <a:srgbClr val="2F6B52"/>
            </a:solidFill>
            <a:prstDash val="solid"/>
          </a:ln>
        </p:spPr>
      </p:sp>
      <p:sp>
        <p:nvSpPr>
          <p:cNvPr id="10" name="Shape 7"/>
          <p:cNvSpPr/>
          <p:nvPr/>
        </p:nvSpPr>
        <p:spPr>
          <a:xfrm>
            <a:off x="5592928" y="1133856"/>
            <a:ext cx="1005840" cy="219456"/>
          </a:xfrm>
          <a:prstGeom prst="roundRect">
            <a:avLst>
              <a:gd name="adj" fmla="val 50000"/>
            </a:avLst>
          </a:prstGeom>
          <a:solidFill>
            <a:srgbClr val="F4F4F2"/>
          </a:solidFill>
          <a:ln w="9525">
            <a:solidFill>
              <a:srgbClr val="243B53"/>
            </a:solidFill>
            <a:prstDash val="solid"/>
          </a:ln>
        </p:spPr>
      </p:sp>
      <p:sp>
        <p:nvSpPr>
          <p:cNvPr id="11" name="Text 8"/>
          <p:cNvSpPr/>
          <p:nvPr/>
        </p:nvSpPr>
        <p:spPr>
          <a:xfrm>
            <a:off x="5592928" y="1133856"/>
            <a:ext cx="1005840" cy="219456"/>
          </a:xfrm>
          <a:prstGeom prst="rect">
            <a:avLst/>
          </a:prstGeom>
          <a:noFill/>
          <a:ln/>
        </p:spPr>
        <p:txBody>
          <a:bodyPr wrap="square" lIns="0" tIns="0" rIns="0" bIns="0" rtlCol="0" anchor="ctr"/>
          <a:lstStyle/>
          <a:p>
            <a:pPr algn="ctr" indent="0" marL="0">
              <a:buNone/>
            </a:pPr>
            <a:r>
              <a:rPr lang="en-US" sz="900" b="1" dirty="0">
                <a:solidFill>
                  <a:srgbClr val="2F6B52"/>
                </a:solidFill>
                <a:latin typeface="Arial" pitchFamily="34" charset="0"/>
                <a:ea typeface="Arial" pitchFamily="34" charset="-122"/>
                <a:cs typeface="Arial" pitchFamily="34" charset="-120"/>
              </a:rPr>
              <a:t>PROCESS</a:t>
            </a:r>
            <a:endParaRPr lang="en-US" sz="900" dirty="0"/>
          </a:p>
        </p:txBody>
      </p:sp>
      <p:sp>
        <p:nvSpPr>
          <p:cNvPr id="12" name="Shape 9"/>
          <p:cNvSpPr/>
          <p:nvPr/>
        </p:nvSpPr>
        <p:spPr>
          <a:xfrm>
            <a:off x="10144506" y="1243584"/>
            <a:ext cx="1681429" cy="0"/>
          </a:xfrm>
          <a:prstGeom prst="line">
            <a:avLst/>
          </a:prstGeom>
          <a:noFill/>
          <a:ln w="19050">
            <a:solidFill>
              <a:srgbClr val="2F5FA8"/>
            </a:solidFill>
            <a:prstDash val="solid"/>
          </a:ln>
        </p:spPr>
      </p:sp>
      <p:sp>
        <p:nvSpPr>
          <p:cNvPr id="13" name="Shape 10"/>
          <p:cNvSpPr/>
          <p:nvPr/>
        </p:nvSpPr>
        <p:spPr>
          <a:xfrm>
            <a:off x="10482301" y="1133856"/>
            <a:ext cx="1005840" cy="219456"/>
          </a:xfrm>
          <a:prstGeom prst="roundRect">
            <a:avLst>
              <a:gd name="adj" fmla="val 50000"/>
            </a:avLst>
          </a:prstGeom>
          <a:solidFill>
            <a:srgbClr val="F4F4F2"/>
          </a:solidFill>
          <a:ln w="9525">
            <a:solidFill>
              <a:srgbClr val="243B53"/>
            </a:solidFill>
            <a:prstDash val="solid"/>
          </a:ln>
        </p:spPr>
      </p:sp>
      <p:sp>
        <p:nvSpPr>
          <p:cNvPr id="14" name="Text 11"/>
          <p:cNvSpPr/>
          <p:nvPr/>
        </p:nvSpPr>
        <p:spPr>
          <a:xfrm>
            <a:off x="10482301" y="1133856"/>
            <a:ext cx="1005840" cy="219456"/>
          </a:xfrm>
          <a:prstGeom prst="rect">
            <a:avLst/>
          </a:prstGeom>
          <a:noFill/>
          <a:ln/>
        </p:spPr>
        <p:txBody>
          <a:bodyPr wrap="square" lIns="0" tIns="0" rIns="0" bIns="0" rtlCol="0" anchor="ctr"/>
          <a:lstStyle/>
          <a:p>
            <a:pPr algn="ctr" indent="0" marL="0">
              <a:buNone/>
            </a:pPr>
            <a:r>
              <a:rPr lang="en-US" sz="900" b="1" dirty="0">
                <a:solidFill>
                  <a:srgbClr val="2F5FA8"/>
                </a:solidFill>
                <a:latin typeface="Arial" pitchFamily="34" charset="0"/>
                <a:ea typeface="Arial" pitchFamily="34" charset="-122"/>
                <a:cs typeface="Arial" pitchFamily="34" charset="-120"/>
              </a:rPr>
              <a:t>OUT</a:t>
            </a:r>
            <a:endParaRPr lang="en-US" sz="900" dirty="0"/>
          </a:p>
        </p:txBody>
      </p:sp>
      <p:sp>
        <p:nvSpPr>
          <p:cNvPr id="15" name="Shape 12"/>
          <p:cNvSpPr/>
          <p:nvPr/>
        </p:nvSpPr>
        <p:spPr>
          <a:xfrm>
            <a:off x="365760" y="1481328"/>
            <a:ext cx="1681429" cy="2487168"/>
          </a:xfrm>
          <a:prstGeom prst="roundRect">
            <a:avLst>
              <a:gd name="adj" fmla="val 6526"/>
            </a:avLst>
          </a:prstGeom>
          <a:solidFill>
            <a:srgbClr val="DDE8F7"/>
          </a:solidFill>
          <a:ln w="15875">
            <a:solidFill>
              <a:srgbClr val="243B53"/>
            </a:solidFill>
            <a:prstDash val="solid"/>
          </a:ln>
        </p:spPr>
      </p:sp>
      <p:sp>
        <p:nvSpPr>
          <p:cNvPr id="16" name="Text 13"/>
          <p:cNvSpPr/>
          <p:nvPr/>
        </p:nvSpPr>
        <p:spPr>
          <a:xfrm>
            <a:off x="475488" y="1572768"/>
            <a:ext cx="274320" cy="274320"/>
          </a:xfrm>
          <a:prstGeom prst="rect">
            <a:avLst/>
          </a:prstGeom>
          <a:noFill/>
          <a:ln/>
        </p:spPr>
        <p:txBody>
          <a:bodyPr wrap="square" lIns="0" tIns="0" rIns="0" bIns="0" rtlCol="0" anchor="t"/>
          <a:lstStyle/>
          <a:p>
            <a:pPr indent="0" marL="0">
              <a:buNone/>
            </a:pPr>
            <a:r>
              <a:rPr lang="en-US" sz="1400" b="1" dirty="0">
                <a:solidFill>
                  <a:srgbClr val="243B53"/>
                </a:solidFill>
                <a:latin typeface="Comic Sans MS" pitchFamily="34" charset="0"/>
                <a:ea typeface="Comic Sans MS" pitchFamily="34" charset="-122"/>
                <a:cs typeface="Comic Sans MS" pitchFamily="34" charset="-120"/>
              </a:rPr>
              <a:t>1</a:t>
            </a:r>
            <a:endParaRPr lang="en-US" sz="1400" dirty="0"/>
          </a:p>
        </p:txBody>
      </p:sp>
      <p:sp>
        <p:nvSpPr>
          <p:cNvPr id="17" name="Shape 14"/>
          <p:cNvSpPr/>
          <p:nvPr/>
        </p:nvSpPr>
        <p:spPr>
          <a:xfrm>
            <a:off x="932155" y="1609344"/>
            <a:ext cx="548640" cy="548640"/>
          </a:xfrm>
          <a:prstGeom prst="ellipse">
            <a:avLst/>
          </a:prstGeom>
          <a:solidFill>
            <a:srgbClr val="FFFFFF"/>
          </a:solidFill>
          <a:ln w="15875">
            <a:solidFill>
              <a:srgbClr val="243B53"/>
            </a:solidFill>
            <a:prstDash val="solid"/>
          </a:ln>
        </p:spPr>
      </p:sp>
      <p:pic>
        <p:nvPicPr>
          <p:cNvPr id="18" name="Image 1" descr="assets/icons/radar.png">    </p:cNvPr>
          <p:cNvPicPr>
            <a:picLocks noChangeAspect="1"/>
          </p:cNvPicPr>
          <p:nvPr/>
        </p:nvPicPr>
        <p:blipFill>
          <a:blip r:embed="rId2"/>
          <a:stretch>
            <a:fillRect/>
          </a:stretch>
        </p:blipFill>
        <p:spPr>
          <a:xfrm>
            <a:off x="1052855" y="1730045"/>
            <a:ext cx="307238" cy="307238"/>
          </a:xfrm>
          <a:prstGeom prst="rect">
            <a:avLst/>
          </a:prstGeom>
        </p:spPr>
      </p:pic>
      <p:sp>
        <p:nvSpPr>
          <p:cNvPr id="19" name="Text 15"/>
          <p:cNvSpPr/>
          <p:nvPr/>
        </p:nvSpPr>
        <p:spPr>
          <a:xfrm>
            <a:off x="457200" y="2231136"/>
            <a:ext cx="1498549" cy="457200"/>
          </a:xfrm>
          <a:prstGeom prst="rect">
            <a:avLst/>
          </a:prstGeom>
          <a:noFill/>
          <a:ln/>
        </p:spPr>
        <p:txBody>
          <a:bodyPr wrap="square" lIns="0" tIns="0" rIns="0" bIns="0" rtlCol="0" anchor="ctr"/>
          <a:lstStyle/>
          <a:p>
            <a:pPr algn="ctr" indent="0" marL="0">
              <a:buNone/>
            </a:pPr>
            <a:r>
              <a:rPr lang="en-US" sz="1300" b="1" dirty="0">
                <a:solidFill>
                  <a:srgbClr val="243B53"/>
                </a:solidFill>
                <a:latin typeface="Arial" pitchFamily="34" charset="0"/>
                <a:ea typeface="Arial" pitchFamily="34" charset="-122"/>
                <a:cs typeface="Arial" pitchFamily="34" charset="-120"/>
              </a:rPr>
              <a:t>Scan Input</a:t>
            </a:r>
            <a:endParaRPr lang="en-US" sz="1300" dirty="0"/>
          </a:p>
        </p:txBody>
      </p:sp>
      <p:sp>
        <p:nvSpPr>
          <p:cNvPr id="20" name="Text 16"/>
          <p:cNvSpPr/>
          <p:nvPr/>
        </p:nvSpPr>
        <p:spPr>
          <a:xfrm>
            <a:off x="493776" y="2724912"/>
            <a:ext cx="1425397" cy="731520"/>
          </a:xfrm>
          <a:prstGeom prst="rect">
            <a:avLst/>
          </a:prstGeom>
          <a:noFill/>
          <a:ln/>
        </p:spPr>
        <p:txBody>
          <a:bodyPr wrap="square" lIns="0" tIns="0" rIns="0" bIns="0" rtlCol="0" anchor="t"/>
          <a:lstStyle/>
          <a:p>
            <a:pPr algn="ctr" indent="0" marL="0">
              <a:buNone/>
            </a:pPr>
            <a:r>
              <a:rPr lang="en-US" sz="1050" dirty="0">
                <a:solidFill>
                  <a:srgbClr val="2E3A48"/>
                </a:solidFill>
                <a:latin typeface="Arial" pitchFamily="34" charset="0"/>
                <a:ea typeface="Arial" pitchFamily="34" charset="-122"/>
                <a:cs typeface="Arial" pitchFamily="34" charset="-120"/>
              </a:rPr>
              <a:t>Reads each scan with time and pose; rejects invalid points.</a:t>
            </a:r>
            <a:endParaRPr lang="en-US" sz="1050" dirty="0"/>
          </a:p>
        </p:txBody>
      </p:sp>
      <p:sp>
        <p:nvSpPr>
          <p:cNvPr id="21" name="Shape 17"/>
          <p:cNvSpPr/>
          <p:nvPr/>
        </p:nvSpPr>
        <p:spPr>
          <a:xfrm>
            <a:off x="457200" y="3493008"/>
            <a:ext cx="1498549" cy="384048"/>
          </a:xfrm>
          <a:prstGeom prst="roundRect">
            <a:avLst>
              <a:gd name="adj" fmla="val 19048"/>
            </a:avLst>
          </a:prstGeom>
          <a:solidFill>
            <a:srgbClr val="FFFFFF"/>
          </a:solidFill>
          <a:ln w="9525">
            <a:solidFill>
              <a:srgbClr val="243B53"/>
            </a:solidFill>
            <a:prstDash val="solid"/>
          </a:ln>
        </p:spPr>
      </p:sp>
      <p:sp>
        <p:nvSpPr>
          <p:cNvPr id="22" name="Text 18"/>
          <p:cNvSpPr/>
          <p:nvPr/>
        </p:nvSpPr>
        <p:spPr>
          <a:xfrm>
            <a:off x="493776" y="3493008"/>
            <a:ext cx="1425397" cy="384048"/>
          </a:xfrm>
          <a:prstGeom prst="rect">
            <a:avLst/>
          </a:prstGeom>
          <a:noFill/>
          <a:ln/>
        </p:spPr>
        <p:txBody>
          <a:bodyPr wrap="square" lIns="0" tIns="0" rIns="0" bIns="0" rtlCol="0" anchor="ctr"/>
          <a:lstStyle/>
          <a:p>
            <a:pPr algn="ctr" indent="0" marL="0">
              <a:buNone/>
            </a:pPr>
            <a:r>
              <a:rPr lang="en-US" sz="850" b="1" dirty="0">
                <a:solidFill>
                  <a:srgbClr val="243B53"/>
                </a:solidFill>
                <a:latin typeface="Arial" pitchFamily="34" charset="0"/>
                <a:ea typeface="Arial" pitchFamily="34" charset="-122"/>
                <a:cs typeface="Arial" pitchFamily="34" charset="-120"/>
              </a:rPr>
              <a:t>64-beam LiDAR replay · ROS 2 proposed</a:t>
            </a:r>
            <a:endParaRPr lang="en-US" sz="850" dirty="0"/>
          </a:p>
        </p:txBody>
      </p:sp>
      <p:sp>
        <p:nvSpPr>
          <p:cNvPr id="23" name="Shape 19"/>
          <p:cNvSpPr/>
          <p:nvPr/>
        </p:nvSpPr>
        <p:spPr>
          <a:xfrm>
            <a:off x="2074621" y="2724912"/>
            <a:ext cx="219456" cy="0"/>
          </a:xfrm>
          <a:prstGeom prst="line">
            <a:avLst/>
          </a:prstGeom>
          <a:noFill/>
          <a:ln w="25400">
            <a:solidFill>
              <a:srgbClr val="243B53"/>
            </a:solidFill>
            <a:prstDash val="solid"/>
            <a:tailEnd type="triangle"/>
          </a:ln>
        </p:spPr>
      </p:sp>
      <p:sp>
        <p:nvSpPr>
          <p:cNvPr id="24" name="Shape 20"/>
          <p:cNvSpPr/>
          <p:nvPr/>
        </p:nvSpPr>
        <p:spPr>
          <a:xfrm>
            <a:off x="2321509" y="1481328"/>
            <a:ext cx="1681429" cy="2487168"/>
          </a:xfrm>
          <a:prstGeom prst="roundRect">
            <a:avLst>
              <a:gd name="adj" fmla="val 6526"/>
            </a:avLst>
          </a:prstGeom>
          <a:solidFill>
            <a:srgbClr val="FBE0C3"/>
          </a:solidFill>
          <a:ln w="15875">
            <a:solidFill>
              <a:srgbClr val="243B53"/>
            </a:solidFill>
            <a:prstDash val="solid"/>
          </a:ln>
        </p:spPr>
      </p:sp>
      <p:sp>
        <p:nvSpPr>
          <p:cNvPr id="25" name="Text 21"/>
          <p:cNvSpPr/>
          <p:nvPr/>
        </p:nvSpPr>
        <p:spPr>
          <a:xfrm>
            <a:off x="2431237" y="1572768"/>
            <a:ext cx="274320" cy="274320"/>
          </a:xfrm>
          <a:prstGeom prst="rect">
            <a:avLst/>
          </a:prstGeom>
          <a:noFill/>
          <a:ln/>
        </p:spPr>
        <p:txBody>
          <a:bodyPr wrap="square" lIns="0" tIns="0" rIns="0" bIns="0" rtlCol="0" anchor="t"/>
          <a:lstStyle/>
          <a:p>
            <a:pPr indent="0" marL="0">
              <a:buNone/>
            </a:pPr>
            <a:r>
              <a:rPr lang="en-US" sz="1400" b="1" dirty="0">
                <a:solidFill>
                  <a:srgbClr val="243B53"/>
                </a:solidFill>
                <a:latin typeface="Comic Sans MS" pitchFamily="34" charset="0"/>
                <a:ea typeface="Comic Sans MS" pitchFamily="34" charset="-122"/>
                <a:cs typeface="Comic Sans MS" pitchFamily="34" charset="-120"/>
              </a:rPr>
              <a:t>2</a:t>
            </a:r>
            <a:endParaRPr lang="en-US" sz="1400" dirty="0"/>
          </a:p>
        </p:txBody>
      </p:sp>
      <p:sp>
        <p:nvSpPr>
          <p:cNvPr id="26" name="Shape 22"/>
          <p:cNvSpPr/>
          <p:nvPr/>
        </p:nvSpPr>
        <p:spPr>
          <a:xfrm>
            <a:off x="2887904" y="1609344"/>
            <a:ext cx="548640" cy="548640"/>
          </a:xfrm>
          <a:prstGeom prst="ellipse">
            <a:avLst/>
          </a:prstGeom>
          <a:solidFill>
            <a:srgbClr val="FFFFFF"/>
          </a:solidFill>
          <a:ln w="15875">
            <a:solidFill>
              <a:srgbClr val="243B53"/>
            </a:solidFill>
            <a:prstDash val="solid"/>
          </a:ln>
        </p:spPr>
      </p:sp>
      <p:pic>
        <p:nvPicPr>
          <p:cNvPr id="27" name="Image 2" descr="assets/icons/mountain.png">    </p:cNvPr>
          <p:cNvPicPr>
            <a:picLocks noChangeAspect="1"/>
          </p:cNvPicPr>
          <p:nvPr/>
        </p:nvPicPr>
        <p:blipFill>
          <a:blip r:embed="rId3"/>
          <a:stretch>
            <a:fillRect/>
          </a:stretch>
        </p:blipFill>
        <p:spPr>
          <a:xfrm>
            <a:off x="3008605" y="1730045"/>
            <a:ext cx="307238" cy="307238"/>
          </a:xfrm>
          <a:prstGeom prst="rect">
            <a:avLst/>
          </a:prstGeom>
        </p:spPr>
      </p:pic>
      <p:sp>
        <p:nvSpPr>
          <p:cNvPr id="28" name="Text 23"/>
          <p:cNvSpPr/>
          <p:nvPr/>
        </p:nvSpPr>
        <p:spPr>
          <a:xfrm>
            <a:off x="2412949" y="2231136"/>
            <a:ext cx="1498549" cy="457200"/>
          </a:xfrm>
          <a:prstGeom prst="rect">
            <a:avLst/>
          </a:prstGeom>
          <a:noFill/>
          <a:ln/>
        </p:spPr>
        <p:txBody>
          <a:bodyPr wrap="square" lIns="0" tIns="0" rIns="0" bIns="0" rtlCol="0" anchor="ctr"/>
          <a:lstStyle/>
          <a:p>
            <a:pPr algn="ctr" indent="0" marL="0">
              <a:buNone/>
            </a:pPr>
            <a:r>
              <a:rPr lang="en-US" sz="1300" b="1" dirty="0">
                <a:solidFill>
                  <a:srgbClr val="243B53"/>
                </a:solidFill>
                <a:latin typeface="Arial" pitchFamily="34" charset="0"/>
                <a:ea typeface="Arial" pitchFamily="34" charset="-122"/>
                <a:cs typeface="Arial" pitchFamily="34" charset="-120"/>
              </a:rPr>
              <a:t>Ground Segmentation</a:t>
            </a:r>
            <a:endParaRPr lang="en-US" sz="1300" dirty="0"/>
          </a:p>
        </p:txBody>
      </p:sp>
      <p:sp>
        <p:nvSpPr>
          <p:cNvPr id="29" name="Text 24"/>
          <p:cNvSpPr/>
          <p:nvPr/>
        </p:nvSpPr>
        <p:spPr>
          <a:xfrm>
            <a:off x="2449525" y="2724912"/>
            <a:ext cx="1425397" cy="731520"/>
          </a:xfrm>
          <a:prstGeom prst="rect">
            <a:avLst/>
          </a:prstGeom>
          <a:noFill/>
          <a:ln/>
        </p:spPr>
        <p:txBody>
          <a:bodyPr wrap="square" lIns="0" tIns="0" rIns="0" bIns="0" rtlCol="0" anchor="t"/>
          <a:lstStyle/>
          <a:p>
            <a:pPr algn="ctr" indent="0" marL="0">
              <a:buNone/>
            </a:pPr>
            <a:r>
              <a:rPr lang="en-US" sz="1050" dirty="0">
                <a:solidFill>
                  <a:srgbClr val="2E3A48"/>
                </a:solidFill>
                <a:latin typeface="Arial" pitchFamily="34" charset="0"/>
                <a:ea typeface="Arial" pitchFamily="34" charset="-122"/>
                <a:cs typeface="Arial" pitchFamily="34" charset="-120"/>
              </a:rPr>
              <a:t>Fits local ground patches to split ground from everything above.</a:t>
            </a:r>
            <a:endParaRPr lang="en-US" sz="1050" dirty="0"/>
          </a:p>
        </p:txBody>
      </p:sp>
      <p:sp>
        <p:nvSpPr>
          <p:cNvPr id="30" name="Shape 25"/>
          <p:cNvSpPr/>
          <p:nvPr/>
        </p:nvSpPr>
        <p:spPr>
          <a:xfrm>
            <a:off x="2412949" y="3493008"/>
            <a:ext cx="1498549" cy="384048"/>
          </a:xfrm>
          <a:prstGeom prst="roundRect">
            <a:avLst>
              <a:gd name="adj" fmla="val 19048"/>
            </a:avLst>
          </a:prstGeom>
          <a:solidFill>
            <a:srgbClr val="FFFFFF"/>
          </a:solidFill>
          <a:ln w="9525">
            <a:solidFill>
              <a:srgbClr val="243B53"/>
            </a:solidFill>
            <a:prstDash val="solid"/>
          </a:ln>
        </p:spPr>
      </p:sp>
      <p:sp>
        <p:nvSpPr>
          <p:cNvPr id="31" name="Text 26"/>
          <p:cNvSpPr/>
          <p:nvPr/>
        </p:nvSpPr>
        <p:spPr>
          <a:xfrm>
            <a:off x="2449525" y="3493008"/>
            <a:ext cx="1425397" cy="384048"/>
          </a:xfrm>
          <a:prstGeom prst="rect">
            <a:avLst/>
          </a:prstGeom>
          <a:noFill/>
          <a:ln/>
        </p:spPr>
        <p:txBody>
          <a:bodyPr wrap="square" lIns="0" tIns="0" rIns="0" bIns="0" rtlCol="0" anchor="ctr"/>
          <a:lstStyle/>
          <a:p>
            <a:pPr algn="ctr" indent="0" marL="0">
              <a:buNone/>
            </a:pPr>
            <a:r>
              <a:rPr lang="en-US" sz="850" b="1" dirty="0">
                <a:solidFill>
                  <a:srgbClr val="243B53"/>
                </a:solidFill>
                <a:latin typeface="Arial" pitchFamily="34" charset="0"/>
                <a:ea typeface="Arial" pitchFamily="34" charset="-122"/>
                <a:cs typeface="Arial" pitchFamily="34" charset="-120"/>
              </a:rPr>
              <a:t>Patchwork++ · IROS 2022</a:t>
            </a:r>
            <a:endParaRPr lang="en-US" sz="850" dirty="0"/>
          </a:p>
        </p:txBody>
      </p:sp>
      <p:sp>
        <p:nvSpPr>
          <p:cNvPr id="32" name="Shape 27"/>
          <p:cNvSpPr/>
          <p:nvPr/>
        </p:nvSpPr>
        <p:spPr>
          <a:xfrm>
            <a:off x="4030370" y="2724912"/>
            <a:ext cx="219456" cy="0"/>
          </a:xfrm>
          <a:prstGeom prst="line">
            <a:avLst/>
          </a:prstGeom>
          <a:noFill/>
          <a:ln w="25400">
            <a:solidFill>
              <a:srgbClr val="243B53"/>
            </a:solidFill>
            <a:prstDash val="solid"/>
            <a:tailEnd type="triangle"/>
          </a:ln>
        </p:spPr>
      </p:sp>
      <p:sp>
        <p:nvSpPr>
          <p:cNvPr id="33" name="Shape 28"/>
          <p:cNvSpPr/>
          <p:nvPr/>
        </p:nvSpPr>
        <p:spPr>
          <a:xfrm>
            <a:off x="4277258" y="1481328"/>
            <a:ext cx="1681429" cy="2487168"/>
          </a:xfrm>
          <a:prstGeom prst="roundRect">
            <a:avLst>
              <a:gd name="adj" fmla="val 6526"/>
            </a:avLst>
          </a:prstGeom>
          <a:solidFill>
            <a:srgbClr val="DCEEDB"/>
          </a:solidFill>
          <a:ln w="15875">
            <a:solidFill>
              <a:srgbClr val="243B53"/>
            </a:solidFill>
            <a:prstDash val="solid"/>
          </a:ln>
        </p:spPr>
      </p:sp>
      <p:sp>
        <p:nvSpPr>
          <p:cNvPr id="34" name="Text 29"/>
          <p:cNvSpPr/>
          <p:nvPr/>
        </p:nvSpPr>
        <p:spPr>
          <a:xfrm>
            <a:off x="4386986" y="1572768"/>
            <a:ext cx="274320" cy="274320"/>
          </a:xfrm>
          <a:prstGeom prst="rect">
            <a:avLst/>
          </a:prstGeom>
          <a:noFill/>
          <a:ln/>
        </p:spPr>
        <p:txBody>
          <a:bodyPr wrap="square" lIns="0" tIns="0" rIns="0" bIns="0" rtlCol="0" anchor="t"/>
          <a:lstStyle/>
          <a:p>
            <a:pPr indent="0" marL="0">
              <a:buNone/>
            </a:pPr>
            <a:r>
              <a:rPr lang="en-US" sz="1400" b="1" dirty="0">
                <a:solidFill>
                  <a:srgbClr val="243B53"/>
                </a:solidFill>
                <a:latin typeface="Comic Sans MS" pitchFamily="34" charset="0"/>
                <a:ea typeface="Comic Sans MS" pitchFamily="34" charset="-122"/>
                <a:cs typeface="Comic Sans MS" pitchFamily="34" charset="-120"/>
              </a:rPr>
              <a:t>3</a:t>
            </a:r>
            <a:endParaRPr lang="en-US" sz="1400" dirty="0"/>
          </a:p>
        </p:txBody>
      </p:sp>
      <p:sp>
        <p:nvSpPr>
          <p:cNvPr id="35" name="Shape 30"/>
          <p:cNvSpPr/>
          <p:nvPr/>
        </p:nvSpPr>
        <p:spPr>
          <a:xfrm>
            <a:off x="4843653" y="1609344"/>
            <a:ext cx="548640" cy="548640"/>
          </a:xfrm>
          <a:prstGeom prst="ellipse">
            <a:avLst/>
          </a:prstGeom>
          <a:solidFill>
            <a:srgbClr val="FFFFFF"/>
          </a:solidFill>
          <a:ln w="15875">
            <a:solidFill>
              <a:srgbClr val="243B53"/>
            </a:solidFill>
            <a:prstDash val="solid"/>
          </a:ln>
        </p:spPr>
      </p:sp>
      <p:pic>
        <p:nvPicPr>
          <p:cNvPr id="36" name="Image 3" descr="assets/icons/tags.png">    </p:cNvPr>
          <p:cNvPicPr>
            <a:picLocks noChangeAspect="1"/>
          </p:cNvPicPr>
          <p:nvPr/>
        </p:nvPicPr>
        <p:blipFill>
          <a:blip r:embed="rId4"/>
          <a:stretch>
            <a:fillRect/>
          </a:stretch>
        </p:blipFill>
        <p:spPr>
          <a:xfrm>
            <a:off x="4964354" y="1730045"/>
            <a:ext cx="307238" cy="307238"/>
          </a:xfrm>
          <a:prstGeom prst="rect">
            <a:avLst/>
          </a:prstGeom>
        </p:spPr>
      </p:pic>
      <p:sp>
        <p:nvSpPr>
          <p:cNvPr id="37" name="Text 31"/>
          <p:cNvSpPr/>
          <p:nvPr/>
        </p:nvSpPr>
        <p:spPr>
          <a:xfrm>
            <a:off x="4368698" y="2231136"/>
            <a:ext cx="1498549" cy="457200"/>
          </a:xfrm>
          <a:prstGeom prst="rect">
            <a:avLst/>
          </a:prstGeom>
          <a:noFill/>
          <a:ln/>
        </p:spPr>
        <p:txBody>
          <a:bodyPr wrap="square" lIns="0" tIns="0" rIns="0" bIns="0" rtlCol="0" anchor="ctr"/>
          <a:lstStyle/>
          <a:p>
            <a:pPr algn="ctr" indent="0" marL="0">
              <a:buNone/>
            </a:pPr>
            <a:r>
              <a:rPr lang="en-US" sz="1300" b="1" dirty="0">
                <a:solidFill>
                  <a:srgbClr val="243B53"/>
                </a:solidFill>
                <a:latin typeface="Arial" pitchFamily="34" charset="0"/>
                <a:ea typeface="Arial" pitchFamily="34" charset="-122"/>
                <a:cs typeface="Arial" pitchFamily="34" charset="-120"/>
              </a:rPr>
              <a:t>Semantic Labels</a:t>
            </a:r>
            <a:endParaRPr lang="en-US" sz="1300" dirty="0"/>
          </a:p>
        </p:txBody>
      </p:sp>
      <p:sp>
        <p:nvSpPr>
          <p:cNvPr id="38" name="Text 32"/>
          <p:cNvSpPr/>
          <p:nvPr/>
        </p:nvSpPr>
        <p:spPr>
          <a:xfrm>
            <a:off x="4405274" y="2724912"/>
            <a:ext cx="1425397" cy="731520"/>
          </a:xfrm>
          <a:prstGeom prst="rect">
            <a:avLst/>
          </a:prstGeom>
          <a:noFill/>
          <a:ln/>
        </p:spPr>
        <p:txBody>
          <a:bodyPr wrap="square" lIns="0" tIns="0" rIns="0" bIns="0" rtlCol="0" anchor="t"/>
          <a:lstStyle/>
          <a:p>
            <a:pPr algn="ctr" indent="0" marL="0">
              <a:buNone/>
            </a:pPr>
            <a:r>
              <a:rPr lang="en-US" sz="1050" dirty="0">
                <a:solidFill>
                  <a:srgbClr val="2E3A48"/>
                </a:solidFill>
                <a:latin typeface="Arial" pitchFamily="34" charset="0"/>
                <a:ea typeface="Arial" pitchFamily="34" charset="-122"/>
                <a:cs typeface="Arial" pitchFamily="34" charset="-120"/>
              </a:rPr>
              <a:t>Deep network gives each point one of 19 classes; unknown kept.</a:t>
            </a:r>
            <a:endParaRPr lang="en-US" sz="1050" dirty="0"/>
          </a:p>
        </p:txBody>
      </p:sp>
      <p:sp>
        <p:nvSpPr>
          <p:cNvPr id="39" name="Shape 33"/>
          <p:cNvSpPr/>
          <p:nvPr/>
        </p:nvSpPr>
        <p:spPr>
          <a:xfrm>
            <a:off x="4368698" y="3493008"/>
            <a:ext cx="1498549" cy="384048"/>
          </a:xfrm>
          <a:prstGeom prst="roundRect">
            <a:avLst>
              <a:gd name="adj" fmla="val 19048"/>
            </a:avLst>
          </a:prstGeom>
          <a:solidFill>
            <a:srgbClr val="FFFFFF"/>
          </a:solidFill>
          <a:ln w="9525">
            <a:solidFill>
              <a:srgbClr val="243B53"/>
            </a:solidFill>
            <a:prstDash val="solid"/>
          </a:ln>
        </p:spPr>
      </p:sp>
      <p:sp>
        <p:nvSpPr>
          <p:cNvPr id="40" name="Text 34"/>
          <p:cNvSpPr/>
          <p:nvPr/>
        </p:nvSpPr>
        <p:spPr>
          <a:xfrm>
            <a:off x="4405274" y="3493008"/>
            <a:ext cx="1425397" cy="384048"/>
          </a:xfrm>
          <a:prstGeom prst="rect">
            <a:avLst/>
          </a:prstGeom>
          <a:noFill/>
          <a:ln/>
        </p:spPr>
        <p:txBody>
          <a:bodyPr wrap="square" lIns="0" tIns="0" rIns="0" bIns="0" rtlCol="0" anchor="ctr"/>
          <a:lstStyle/>
          <a:p>
            <a:pPr algn="ctr" indent="0" marL="0">
              <a:buNone/>
            </a:pPr>
            <a:r>
              <a:rPr lang="en-US" sz="850" b="1" dirty="0">
                <a:solidFill>
                  <a:srgbClr val="243B53"/>
                </a:solidFill>
                <a:latin typeface="Arial" pitchFamily="34" charset="0"/>
                <a:ea typeface="Arial" pitchFamily="34" charset="-122"/>
                <a:cs typeface="Arial" pitchFamily="34" charset="-120"/>
              </a:rPr>
              <a:t>FRNet · IEEE TIP 2025</a:t>
            </a:r>
            <a:endParaRPr lang="en-US" sz="850" dirty="0"/>
          </a:p>
        </p:txBody>
      </p:sp>
      <p:sp>
        <p:nvSpPr>
          <p:cNvPr id="41" name="Shape 35"/>
          <p:cNvSpPr/>
          <p:nvPr/>
        </p:nvSpPr>
        <p:spPr>
          <a:xfrm>
            <a:off x="5986120" y="2724912"/>
            <a:ext cx="219456" cy="0"/>
          </a:xfrm>
          <a:prstGeom prst="line">
            <a:avLst/>
          </a:prstGeom>
          <a:noFill/>
          <a:ln w="25400">
            <a:solidFill>
              <a:srgbClr val="243B53"/>
            </a:solidFill>
            <a:prstDash val="solid"/>
            <a:tailEnd type="triangle"/>
          </a:ln>
        </p:spPr>
      </p:sp>
      <p:sp>
        <p:nvSpPr>
          <p:cNvPr id="42" name="Shape 36"/>
          <p:cNvSpPr/>
          <p:nvPr/>
        </p:nvSpPr>
        <p:spPr>
          <a:xfrm>
            <a:off x="6233008" y="1481328"/>
            <a:ext cx="1681429" cy="2487168"/>
          </a:xfrm>
          <a:prstGeom prst="roundRect">
            <a:avLst>
              <a:gd name="adj" fmla="val 6526"/>
            </a:avLst>
          </a:prstGeom>
          <a:solidFill>
            <a:srgbClr val="F4E6B4"/>
          </a:solidFill>
          <a:ln w="15875">
            <a:solidFill>
              <a:srgbClr val="243B53"/>
            </a:solidFill>
            <a:prstDash val="solid"/>
          </a:ln>
        </p:spPr>
      </p:sp>
      <p:sp>
        <p:nvSpPr>
          <p:cNvPr id="43" name="Text 37"/>
          <p:cNvSpPr/>
          <p:nvPr/>
        </p:nvSpPr>
        <p:spPr>
          <a:xfrm>
            <a:off x="6342736" y="1572768"/>
            <a:ext cx="274320" cy="274320"/>
          </a:xfrm>
          <a:prstGeom prst="rect">
            <a:avLst/>
          </a:prstGeom>
          <a:noFill/>
          <a:ln/>
        </p:spPr>
        <p:txBody>
          <a:bodyPr wrap="square" lIns="0" tIns="0" rIns="0" bIns="0" rtlCol="0" anchor="t"/>
          <a:lstStyle/>
          <a:p>
            <a:pPr indent="0" marL="0">
              <a:buNone/>
            </a:pPr>
            <a:r>
              <a:rPr lang="en-US" sz="1400" b="1" dirty="0">
                <a:solidFill>
                  <a:srgbClr val="243B53"/>
                </a:solidFill>
                <a:latin typeface="Comic Sans MS" pitchFamily="34" charset="0"/>
                <a:ea typeface="Comic Sans MS" pitchFamily="34" charset="-122"/>
                <a:cs typeface="Comic Sans MS" pitchFamily="34" charset="-120"/>
              </a:rPr>
              <a:t>4</a:t>
            </a:r>
            <a:endParaRPr lang="en-US" sz="1400" dirty="0"/>
          </a:p>
        </p:txBody>
      </p:sp>
      <p:sp>
        <p:nvSpPr>
          <p:cNvPr id="44" name="Shape 38"/>
          <p:cNvSpPr/>
          <p:nvPr/>
        </p:nvSpPr>
        <p:spPr>
          <a:xfrm>
            <a:off x="6799402" y="1609344"/>
            <a:ext cx="548640" cy="548640"/>
          </a:xfrm>
          <a:prstGeom prst="ellipse">
            <a:avLst/>
          </a:prstGeom>
          <a:solidFill>
            <a:srgbClr val="FFFFFF"/>
          </a:solidFill>
          <a:ln w="15875">
            <a:solidFill>
              <a:srgbClr val="243B53"/>
            </a:solidFill>
            <a:prstDash val="solid"/>
          </a:ln>
        </p:spPr>
      </p:sp>
      <p:pic>
        <p:nvPicPr>
          <p:cNvPr id="45" name="Image 4" descr="assets/icons/grid-3x3.png">    </p:cNvPr>
          <p:cNvPicPr>
            <a:picLocks noChangeAspect="1"/>
          </p:cNvPicPr>
          <p:nvPr/>
        </p:nvPicPr>
        <p:blipFill>
          <a:blip r:embed="rId5"/>
          <a:stretch>
            <a:fillRect/>
          </a:stretch>
        </p:blipFill>
        <p:spPr>
          <a:xfrm>
            <a:off x="6920103" y="1730045"/>
            <a:ext cx="307238" cy="307238"/>
          </a:xfrm>
          <a:prstGeom prst="rect">
            <a:avLst/>
          </a:prstGeom>
        </p:spPr>
      </p:pic>
      <p:sp>
        <p:nvSpPr>
          <p:cNvPr id="46" name="Text 39"/>
          <p:cNvSpPr/>
          <p:nvPr/>
        </p:nvSpPr>
        <p:spPr>
          <a:xfrm>
            <a:off x="6324448" y="2231136"/>
            <a:ext cx="1498549" cy="457200"/>
          </a:xfrm>
          <a:prstGeom prst="rect">
            <a:avLst/>
          </a:prstGeom>
          <a:noFill/>
          <a:ln/>
        </p:spPr>
        <p:txBody>
          <a:bodyPr wrap="square" lIns="0" tIns="0" rIns="0" bIns="0" rtlCol="0" anchor="ctr"/>
          <a:lstStyle/>
          <a:p>
            <a:pPr algn="ctr" indent="0" marL="0">
              <a:buNone/>
            </a:pPr>
            <a:r>
              <a:rPr lang="en-US" sz="1300" b="1" dirty="0">
                <a:solidFill>
                  <a:srgbClr val="243B53"/>
                </a:solidFill>
                <a:latin typeface="Arial" pitchFamily="34" charset="0"/>
                <a:ea typeface="Arial" pitchFamily="34" charset="-122"/>
                <a:cs typeface="Arial" pitchFamily="34" charset="-120"/>
              </a:rPr>
              <a:t>Adaptive 2.5D Grid</a:t>
            </a:r>
            <a:endParaRPr lang="en-US" sz="1300" dirty="0"/>
          </a:p>
        </p:txBody>
      </p:sp>
      <p:sp>
        <p:nvSpPr>
          <p:cNvPr id="47" name="Text 40"/>
          <p:cNvSpPr/>
          <p:nvPr/>
        </p:nvSpPr>
        <p:spPr>
          <a:xfrm>
            <a:off x="6361024" y="2724912"/>
            <a:ext cx="1425397" cy="731520"/>
          </a:xfrm>
          <a:prstGeom prst="rect">
            <a:avLst/>
          </a:prstGeom>
          <a:noFill/>
          <a:ln/>
        </p:spPr>
        <p:txBody>
          <a:bodyPr wrap="square" lIns="0" tIns="0" rIns="0" bIns="0" rtlCol="0" anchor="t"/>
          <a:lstStyle/>
          <a:p>
            <a:pPr algn="ctr" indent="0" marL="0">
              <a:buNone/>
            </a:pPr>
            <a:r>
              <a:rPr lang="en-US" sz="1050" dirty="0">
                <a:solidFill>
                  <a:srgbClr val="2E3A48"/>
                </a:solidFill>
                <a:latin typeface="Arial" pitchFamily="34" charset="0"/>
                <a:ea typeface="Arial" pitchFamily="34" charset="-122"/>
                <a:cs typeface="Arial" pitchFamily="34" charset="-120"/>
              </a:rPr>
              <a:t>Places every point in exactly one ring cell by integer index.</a:t>
            </a:r>
            <a:endParaRPr lang="en-US" sz="1050" dirty="0"/>
          </a:p>
        </p:txBody>
      </p:sp>
      <p:sp>
        <p:nvSpPr>
          <p:cNvPr id="48" name="Shape 41"/>
          <p:cNvSpPr/>
          <p:nvPr/>
        </p:nvSpPr>
        <p:spPr>
          <a:xfrm>
            <a:off x="6324448" y="3493008"/>
            <a:ext cx="1498549" cy="384048"/>
          </a:xfrm>
          <a:prstGeom prst="roundRect">
            <a:avLst>
              <a:gd name="adj" fmla="val 19048"/>
            </a:avLst>
          </a:prstGeom>
          <a:solidFill>
            <a:srgbClr val="FFFFFF"/>
          </a:solidFill>
          <a:ln w="9525">
            <a:solidFill>
              <a:srgbClr val="243B53"/>
            </a:solidFill>
            <a:prstDash val="solid"/>
          </a:ln>
        </p:spPr>
      </p:sp>
      <p:sp>
        <p:nvSpPr>
          <p:cNvPr id="49" name="Text 42"/>
          <p:cNvSpPr/>
          <p:nvPr/>
        </p:nvSpPr>
        <p:spPr>
          <a:xfrm>
            <a:off x="6361024" y="3493008"/>
            <a:ext cx="1425397" cy="384048"/>
          </a:xfrm>
          <a:prstGeom prst="rect">
            <a:avLst/>
          </a:prstGeom>
          <a:noFill/>
          <a:ln/>
        </p:spPr>
        <p:txBody>
          <a:bodyPr wrap="square" lIns="0" tIns="0" rIns="0" bIns="0" rtlCol="0" anchor="ctr"/>
          <a:lstStyle/>
          <a:p>
            <a:pPr algn="ctr" indent="0" marL="0">
              <a:buNone/>
            </a:pPr>
            <a:r>
              <a:rPr lang="en-US" sz="850" b="1" dirty="0">
                <a:solidFill>
                  <a:srgbClr val="243B53"/>
                </a:solidFill>
                <a:latin typeface="Arial" pitchFamily="34" charset="0"/>
                <a:ea typeface="Arial" pitchFamily="34" charset="-122"/>
                <a:cs typeface="Arial" pitchFamily="34" charset="-120"/>
              </a:rPr>
              <a:t>5 / 10 / 50 cm rings</a:t>
            </a:r>
            <a:endParaRPr lang="en-US" sz="850" dirty="0"/>
          </a:p>
        </p:txBody>
      </p:sp>
      <p:sp>
        <p:nvSpPr>
          <p:cNvPr id="50" name="Shape 43"/>
          <p:cNvSpPr/>
          <p:nvPr/>
        </p:nvSpPr>
        <p:spPr>
          <a:xfrm>
            <a:off x="7941869" y="2724912"/>
            <a:ext cx="219456" cy="0"/>
          </a:xfrm>
          <a:prstGeom prst="line">
            <a:avLst/>
          </a:prstGeom>
          <a:noFill/>
          <a:ln w="25400">
            <a:solidFill>
              <a:srgbClr val="243B53"/>
            </a:solidFill>
            <a:prstDash val="solid"/>
            <a:tailEnd type="triangle"/>
          </a:ln>
        </p:spPr>
      </p:sp>
      <p:sp>
        <p:nvSpPr>
          <p:cNvPr id="51" name="Shape 44"/>
          <p:cNvSpPr/>
          <p:nvPr/>
        </p:nvSpPr>
        <p:spPr>
          <a:xfrm>
            <a:off x="8188757" y="1481328"/>
            <a:ext cx="1681429" cy="2487168"/>
          </a:xfrm>
          <a:prstGeom prst="roundRect">
            <a:avLst>
              <a:gd name="adj" fmla="val 6526"/>
            </a:avLst>
          </a:prstGeom>
          <a:solidFill>
            <a:srgbClr val="DDD2F0"/>
          </a:solidFill>
          <a:ln w="15875">
            <a:solidFill>
              <a:srgbClr val="243B53"/>
            </a:solidFill>
            <a:prstDash val="solid"/>
          </a:ln>
        </p:spPr>
      </p:sp>
      <p:sp>
        <p:nvSpPr>
          <p:cNvPr id="52" name="Text 45"/>
          <p:cNvSpPr/>
          <p:nvPr/>
        </p:nvSpPr>
        <p:spPr>
          <a:xfrm>
            <a:off x="8298485" y="1572768"/>
            <a:ext cx="274320" cy="274320"/>
          </a:xfrm>
          <a:prstGeom prst="rect">
            <a:avLst/>
          </a:prstGeom>
          <a:noFill/>
          <a:ln/>
        </p:spPr>
        <p:txBody>
          <a:bodyPr wrap="square" lIns="0" tIns="0" rIns="0" bIns="0" rtlCol="0" anchor="t"/>
          <a:lstStyle/>
          <a:p>
            <a:pPr indent="0" marL="0">
              <a:buNone/>
            </a:pPr>
            <a:r>
              <a:rPr lang="en-US" sz="1400" b="1" dirty="0">
                <a:solidFill>
                  <a:srgbClr val="243B53"/>
                </a:solidFill>
                <a:latin typeface="Comic Sans MS" pitchFamily="34" charset="0"/>
                <a:ea typeface="Comic Sans MS" pitchFamily="34" charset="-122"/>
                <a:cs typeface="Comic Sans MS" pitchFamily="34" charset="-120"/>
              </a:rPr>
              <a:t>5</a:t>
            </a:r>
            <a:endParaRPr lang="en-US" sz="1400" dirty="0"/>
          </a:p>
        </p:txBody>
      </p:sp>
      <p:sp>
        <p:nvSpPr>
          <p:cNvPr id="53" name="Shape 46"/>
          <p:cNvSpPr/>
          <p:nvPr/>
        </p:nvSpPr>
        <p:spPr>
          <a:xfrm>
            <a:off x="8755151" y="1609344"/>
            <a:ext cx="548640" cy="548640"/>
          </a:xfrm>
          <a:prstGeom prst="ellipse">
            <a:avLst/>
          </a:prstGeom>
          <a:solidFill>
            <a:srgbClr val="FFFFFF"/>
          </a:solidFill>
          <a:ln w="15875">
            <a:solidFill>
              <a:srgbClr val="243B53"/>
            </a:solidFill>
            <a:prstDash val="solid"/>
          </a:ln>
        </p:spPr>
      </p:sp>
      <p:pic>
        <p:nvPicPr>
          <p:cNvPr id="54" name="Image 5" descr="assets/icons/boxes.png">    </p:cNvPr>
          <p:cNvPicPr>
            <a:picLocks noChangeAspect="1"/>
          </p:cNvPicPr>
          <p:nvPr/>
        </p:nvPicPr>
        <p:blipFill>
          <a:blip r:embed="rId6"/>
          <a:stretch>
            <a:fillRect/>
          </a:stretch>
        </p:blipFill>
        <p:spPr>
          <a:xfrm>
            <a:off x="8875852" y="1730045"/>
            <a:ext cx="307238" cy="307238"/>
          </a:xfrm>
          <a:prstGeom prst="rect">
            <a:avLst/>
          </a:prstGeom>
        </p:spPr>
      </p:pic>
      <p:sp>
        <p:nvSpPr>
          <p:cNvPr id="55" name="Text 47"/>
          <p:cNvSpPr/>
          <p:nvPr/>
        </p:nvSpPr>
        <p:spPr>
          <a:xfrm>
            <a:off x="8280197" y="2231136"/>
            <a:ext cx="1498549" cy="457200"/>
          </a:xfrm>
          <a:prstGeom prst="rect">
            <a:avLst/>
          </a:prstGeom>
          <a:noFill/>
          <a:ln/>
        </p:spPr>
        <p:txBody>
          <a:bodyPr wrap="square" lIns="0" tIns="0" rIns="0" bIns="0" rtlCol="0" anchor="ctr"/>
          <a:lstStyle/>
          <a:p>
            <a:pPr algn="ctr" indent="0" marL="0">
              <a:buNone/>
            </a:pPr>
            <a:r>
              <a:rPr lang="en-US" sz="1300" b="1" dirty="0">
                <a:solidFill>
                  <a:srgbClr val="243B53"/>
                </a:solidFill>
                <a:latin typeface="Arial" pitchFamily="34" charset="0"/>
                <a:ea typeface="Arial" pitchFamily="34" charset="-122"/>
                <a:cs typeface="Arial" pitchFamily="34" charset="-120"/>
              </a:rPr>
              <a:t>Obstacle Evidence</a:t>
            </a:r>
            <a:endParaRPr lang="en-US" sz="1300" dirty="0"/>
          </a:p>
        </p:txBody>
      </p:sp>
      <p:sp>
        <p:nvSpPr>
          <p:cNvPr id="56" name="Text 48"/>
          <p:cNvSpPr/>
          <p:nvPr/>
        </p:nvSpPr>
        <p:spPr>
          <a:xfrm>
            <a:off x="8316773" y="2724912"/>
            <a:ext cx="1425397" cy="731520"/>
          </a:xfrm>
          <a:prstGeom prst="rect">
            <a:avLst/>
          </a:prstGeom>
          <a:noFill/>
          <a:ln/>
        </p:spPr>
        <p:txBody>
          <a:bodyPr wrap="square" lIns="0" tIns="0" rIns="0" bIns="0" rtlCol="0" anchor="t"/>
          <a:lstStyle/>
          <a:p>
            <a:pPr algn="ctr" indent="0" marL="0">
              <a:buNone/>
            </a:pPr>
            <a:r>
              <a:rPr lang="en-US" sz="1050" dirty="0">
                <a:solidFill>
                  <a:srgbClr val="2E3A48"/>
                </a:solidFill>
                <a:latin typeface="Arial" pitchFamily="34" charset="0"/>
                <a:ea typeface="Arial" pitchFamily="34" charset="-122"/>
                <a:cs typeface="Arial" pitchFamily="34" charset="-120"/>
              </a:rPr>
              <a:t>Clusters labelled points; keeps vehicle and person IDs across frames.</a:t>
            </a:r>
            <a:endParaRPr lang="en-US" sz="1050" dirty="0"/>
          </a:p>
        </p:txBody>
      </p:sp>
      <p:sp>
        <p:nvSpPr>
          <p:cNvPr id="57" name="Shape 49"/>
          <p:cNvSpPr/>
          <p:nvPr/>
        </p:nvSpPr>
        <p:spPr>
          <a:xfrm>
            <a:off x="8280197" y="3493008"/>
            <a:ext cx="1498549" cy="384048"/>
          </a:xfrm>
          <a:prstGeom prst="roundRect">
            <a:avLst>
              <a:gd name="adj" fmla="val 19048"/>
            </a:avLst>
          </a:prstGeom>
          <a:solidFill>
            <a:srgbClr val="FFFFFF"/>
          </a:solidFill>
          <a:ln w="9525">
            <a:solidFill>
              <a:srgbClr val="243B53"/>
            </a:solidFill>
            <a:prstDash val="solid"/>
          </a:ln>
        </p:spPr>
      </p:sp>
      <p:sp>
        <p:nvSpPr>
          <p:cNvPr id="58" name="Text 50"/>
          <p:cNvSpPr/>
          <p:nvPr/>
        </p:nvSpPr>
        <p:spPr>
          <a:xfrm>
            <a:off x="8316773" y="3493008"/>
            <a:ext cx="1425397" cy="384048"/>
          </a:xfrm>
          <a:prstGeom prst="rect">
            <a:avLst/>
          </a:prstGeom>
          <a:noFill/>
          <a:ln/>
        </p:spPr>
        <p:txBody>
          <a:bodyPr wrap="square" lIns="0" tIns="0" rIns="0" bIns="0" rtlCol="0" anchor="ctr"/>
          <a:lstStyle/>
          <a:p>
            <a:pPr algn="ctr" indent="0" marL="0">
              <a:buNone/>
            </a:pPr>
            <a:r>
              <a:rPr lang="en-US" sz="850" b="1" dirty="0">
                <a:solidFill>
                  <a:srgbClr val="243B53"/>
                </a:solidFill>
                <a:latin typeface="Arial" pitchFamily="34" charset="0"/>
                <a:ea typeface="Arial" pitchFamily="34" charset="-122"/>
                <a:cs typeface="Arial" pitchFamily="34" charset="-120"/>
              </a:rPr>
              <a:t>Candidates + track IDs</a:t>
            </a:r>
            <a:endParaRPr lang="en-US" sz="850" dirty="0"/>
          </a:p>
        </p:txBody>
      </p:sp>
      <p:sp>
        <p:nvSpPr>
          <p:cNvPr id="59" name="Shape 51"/>
          <p:cNvSpPr/>
          <p:nvPr/>
        </p:nvSpPr>
        <p:spPr>
          <a:xfrm>
            <a:off x="9897618" y="2724912"/>
            <a:ext cx="219456" cy="0"/>
          </a:xfrm>
          <a:prstGeom prst="line">
            <a:avLst/>
          </a:prstGeom>
          <a:noFill/>
          <a:ln w="25400">
            <a:solidFill>
              <a:srgbClr val="243B53"/>
            </a:solidFill>
            <a:prstDash val="solid"/>
            <a:tailEnd type="triangle"/>
          </a:ln>
        </p:spPr>
      </p:sp>
      <p:sp>
        <p:nvSpPr>
          <p:cNvPr id="60" name="Shape 52"/>
          <p:cNvSpPr/>
          <p:nvPr/>
        </p:nvSpPr>
        <p:spPr>
          <a:xfrm>
            <a:off x="10144506" y="1481328"/>
            <a:ext cx="1681429" cy="2487168"/>
          </a:xfrm>
          <a:prstGeom prst="roundRect">
            <a:avLst>
              <a:gd name="adj" fmla="val 6526"/>
            </a:avLst>
          </a:prstGeom>
          <a:solidFill>
            <a:srgbClr val="DDE8F7"/>
          </a:solidFill>
          <a:ln w="15875">
            <a:solidFill>
              <a:srgbClr val="243B53"/>
            </a:solidFill>
            <a:prstDash val="solid"/>
          </a:ln>
        </p:spPr>
      </p:sp>
      <p:sp>
        <p:nvSpPr>
          <p:cNvPr id="61" name="Text 53"/>
          <p:cNvSpPr/>
          <p:nvPr/>
        </p:nvSpPr>
        <p:spPr>
          <a:xfrm>
            <a:off x="10254234" y="1572768"/>
            <a:ext cx="274320" cy="274320"/>
          </a:xfrm>
          <a:prstGeom prst="rect">
            <a:avLst/>
          </a:prstGeom>
          <a:noFill/>
          <a:ln/>
        </p:spPr>
        <p:txBody>
          <a:bodyPr wrap="square" lIns="0" tIns="0" rIns="0" bIns="0" rtlCol="0" anchor="t"/>
          <a:lstStyle/>
          <a:p>
            <a:pPr indent="0" marL="0">
              <a:buNone/>
            </a:pPr>
            <a:r>
              <a:rPr lang="en-US" sz="1400" b="1" dirty="0">
                <a:solidFill>
                  <a:srgbClr val="243B53"/>
                </a:solidFill>
                <a:latin typeface="Comic Sans MS" pitchFamily="34" charset="0"/>
                <a:ea typeface="Comic Sans MS" pitchFamily="34" charset="-122"/>
                <a:cs typeface="Comic Sans MS" pitchFamily="34" charset="-120"/>
              </a:rPr>
              <a:t>6</a:t>
            </a:r>
            <a:endParaRPr lang="en-US" sz="1400" dirty="0"/>
          </a:p>
        </p:txBody>
      </p:sp>
      <p:sp>
        <p:nvSpPr>
          <p:cNvPr id="62" name="Shape 54"/>
          <p:cNvSpPr/>
          <p:nvPr/>
        </p:nvSpPr>
        <p:spPr>
          <a:xfrm>
            <a:off x="10710901" y="1609344"/>
            <a:ext cx="548640" cy="548640"/>
          </a:xfrm>
          <a:prstGeom prst="ellipse">
            <a:avLst/>
          </a:prstGeom>
          <a:solidFill>
            <a:srgbClr val="FFFFFF"/>
          </a:solidFill>
          <a:ln w="15875">
            <a:solidFill>
              <a:srgbClr val="243B53"/>
            </a:solidFill>
            <a:prstDash val="solid"/>
          </a:ln>
        </p:spPr>
      </p:sp>
      <p:pic>
        <p:nvPicPr>
          <p:cNvPr id="63" name="Image 6" descr="assets/icons/monitor.png">    </p:cNvPr>
          <p:cNvPicPr>
            <a:picLocks noChangeAspect="1"/>
          </p:cNvPicPr>
          <p:nvPr/>
        </p:nvPicPr>
        <p:blipFill>
          <a:blip r:embed="rId7"/>
          <a:stretch>
            <a:fillRect/>
          </a:stretch>
        </p:blipFill>
        <p:spPr>
          <a:xfrm>
            <a:off x="10831601" y="1730045"/>
            <a:ext cx="307238" cy="307238"/>
          </a:xfrm>
          <a:prstGeom prst="rect">
            <a:avLst/>
          </a:prstGeom>
        </p:spPr>
      </p:pic>
      <p:sp>
        <p:nvSpPr>
          <p:cNvPr id="64" name="Text 55"/>
          <p:cNvSpPr/>
          <p:nvPr/>
        </p:nvSpPr>
        <p:spPr>
          <a:xfrm>
            <a:off x="10235946" y="2231136"/>
            <a:ext cx="1498549" cy="457200"/>
          </a:xfrm>
          <a:prstGeom prst="rect">
            <a:avLst/>
          </a:prstGeom>
          <a:noFill/>
          <a:ln/>
        </p:spPr>
        <p:txBody>
          <a:bodyPr wrap="square" lIns="0" tIns="0" rIns="0" bIns="0" rtlCol="0" anchor="ctr"/>
          <a:lstStyle/>
          <a:p>
            <a:pPr algn="ctr" indent="0" marL="0">
              <a:buNone/>
            </a:pPr>
            <a:r>
              <a:rPr lang="en-US" sz="1300" b="1" dirty="0">
                <a:solidFill>
                  <a:srgbClr val="243B53"/>
                </a:solidFill>
                <a:latin typeface="Arial" pitchFamily="34" charset="0"/>
                <a:ea typeface="Arial" pitchFamily="34" charset="-122"/>
                <a:cs typeface="Arial" pitchFamily="34" charset="-120"/>
              </a:rPr>
              <a:t>Map &amp; Dashboard</a:t>
            </a:r>
            <a:endParaRPr lang="en-US" sz="1300" dirty="0"/>
          </a:p>
        </p:txBody>
      </p:sp>
      <p:sp>
        <p:nvSpPr>
          <p:cNvPr id="65" name="Text 56"/>
          <p:cNvSpPr/>
          <p:nvPr/>
        </p:nvSpPr>
        <p:spPr>
          <a:xfrm>
            <a:off x="10272522" y="2724912"/>
            <a:ext cx="1425397" cy="731520"/>
          </a:xfrm>
          <a:prstGeom prst="rect">
            <a:avLst/>
          </a:prstGeom>
          <a:noFill/>
          <a:ln/>
        </p:spPr>
        <p:txBody>
          <a:bodyPr wrap="square" lIns="0" tIns="0" rIns="0" bIns="0" rtlCol="0" anchor="t"/>
          <a:lstStyle/>
          <a:p>
            <a:pPr algn="ctr" indent="0" marL="0">
              <a:buNone/>
            </a:pPr>
            <a:r>
              <a:rPr lang="en-US" sz="1050" dirty="0">
                <a:solidFill>
                  <a:srgbClr val="2E3A48"/>
                </a:solidFill>
                <a:latin typeface="Arial" pitchFamily="34" charset="0"/>
                <a:ea typeface="Arial" pitchFamily="34" charset="-122"/>
                <a:cs typeface="Arial" pitchFamily="34" charset="-120"/>
              </a:rPr>
              <a:t>Publishes a read-only map, audit record and colour-coded 3D view.</a:t>
            </a:r>
            <a:endParaRPr lang="en-US" sz="1050" dirty="0"/>
          </a:p>
        </p:txBody>
      </p:sp>
      <p:sp>
        <p:nvSpPr>
          <p:cNvPr id="66" name="Shape 57"/>
          <p:cNvSpPr/>
          <p:nvPr/>
        </p:nvSpPr>
        <p:spPr>
          <a:xfrm>
            <a:off x="10235946" y="3493008"/>
            <a:ext cx="1498549" cy="384048"/>
          </a:xfrm>
          <a:prstGeom prst="roundRect">
            <a:avLst>
              <a:gd name="adj" fmla="val 19048"/>
            </a:avLst>
          </a:prstGeom>
          <a:solidFill>
            <a:srgbClr val="FFFFFF"/>
          </a:solidFill>
          <a:ln w="9525">
            <a:solidFill>
              <a:srgbClr val="243B53"/>
            </a:solidFill>
            <a:prstDash val="solid"/>
          </a:ln>
        </p:spPr>
      </p:sp>
      <p:sp>
        <p:nvSpPr>
          <p:cNvPr id="67" name="Text 58"/>
          <p:cNvSpPr/>
          <p:nvPr/>
        </p:nvSpPr>
        <p:spPr>
          <a:xfrm>
            <a:off x="10272522" y="3493008"/>
            <a:ext cx="1425397" cy="384048"/>
          </a:xfrm>
          <a:prstGeom prst="rect">
            <a:avLst/>
          </a:prstGeom>
          <a:noFill/>
          <a:ln/>
        </p:spPr>
        <p:txBody>
          <a:bodyPr wrap="square" lIns="0" tIns="0" rIns="0" bIns="0" rtlCol="0" anchor="ctr"/>
          <a:lstStyle/>
          <a:p>
            <a:pPr algn="ctr" indent="0" marL="0">
              <a:buNone/>
            </a:pPr>
            <a:r>
              <a:rPr lang="en-US" sz="850" b="1" dirty="0">
                <a:solidFill>
                  <a:srgbClr val="243B53"/>
                </a:solidFill>
                <a:latin typeface="Arial" pitchFamily="34" charset="0"/>
                <a:ea typeface="Arial" pitchFamily="34" charset="-122"/>
                <a:cs typeface="Arial" pitchFamily="34" charset="-120"/>
              </a:rPr>
              <a:t>Map snapshot · Rerun</a:t>
            </a:r>
            <a:endParaRPr lang="en-US" sz="850" dirty="0"/>
          </a:p>
        </p:txBody>
      </p:sp>
      <p:sp>
        <p:nvSpPr>
          <p:cNvPr id="68" name="Shape 59"/>
          <p:cNvSpPr/>
          <p:nvPr/>
        </p:nvSpPr>
        <p:spPr>
          <a:xfrm>
            <a:off x="365760" y="4187952"/>
            <a:ext cx="6355080" cy="2194560"/>
          </a:xfrm>
          <a:prstGeom prst="roundRect">
            <a:avLst>
              <a:gd name="adj" fmla="val 5000"/>
            </a:avLst>
          </a:prstGeom>
          <a:solidFill>
            <a:srgbClr val="FFFFFF"/>
          </a:solidFill>
          <a:ln w="15875">
            <a:solidFill>
              <a:srgbClr val="243B53"/>
            </a:solidFill>
            <a:prstDash val="solid"/>
          </a:ln>
        </p:spPr>
      </p:sp>
      <p:sp>
        <p:nvSpPr>
          <p:cNvPr id="69" name="Text 60"/>
          <p:cNvSpPr/>
          <p:nvPr/>
        </p:nvSpPr>
        <p:spPr>
          <a:xfrm>
            <a:off x="594360" y="4325112"/>
            <a:ext cx="4572000" cy="274320"/>
          </a:xfrm>
          <a:prstGeom prst="rect">
            <a:avLst/>
          </a:prstGeom>
          <a:noFill/>
          <a:ln/>
        </p:spPr>
        <p:txBody>
          <a:bodyPr wrap="square" lIns="0" tIns="0" rIns="0" bIns="0" rtlCol="0" anchor="t"/>
          <a:lstStyle/>
          <a:p>
            <a:pPr indent="0" marL="0">
              <a:buNone/>
            </a:pPr>
            <a:r>
              <a:rPr lang="en-US" sz="1200" b="1" dirty="0">
                <a:solidFill>
                  <a:srgbClr val="243B53"/>
                </a:solidFill>
                <a:latin typeface="Comic Sans MS" pitchFamily="34" charset="0"/>
                <a:ea typeface="Comic Sans MS" pitchFamily="34" charset="-122"/>
                <a:cs typeface="Comic Sans MS" pitchFamily="34" charset="-120"/>
              </a:rPr>
              <a:t>WHAT EACH 2.5D CELL STORES</a:t>
            </a:r>
            <a:endParaRPr lang="en-US" sz="1200" dirty="0"/>
          </a:p>
        </p:txBody>
      </p:sp>
      <p:sp>
        <p:nvSpPr>
          <p:cNvPr id="70" name="Shape 61"/>
          <p:cNvSpPr/>
          <p:nvPr/>
        </p:nvSpPr>
        <p:spPr>
          <a:xfrm>
            <a:off x="640080" y="5797296"/>
            <a:ext cx="1920240" cy="274320"/>
          </a:xfrm>
          <a:prstGeom prst="rect">
            <a:avLst/>
          </a:prstGeom>
          <a:solidFill>
            <a:srgbClr val="FBE0C3"/>
          </a:solidFill>
          <a:ln w="12700">
            <a:solidFill>
              <a:srgbClr val="243B53"/>
            </a:solidFill>
            <a:prstDash val="solid"/>
          </a:ln>
        </p:spPr>
      </p:sp>
      <p:sp>
        <p:nvSpPr>
          <p:cNvPr id="71" name="Shape 62"/>
          <p:cNvSpPr/>
          <p:nvPr/>
        </p:nvSpPr>
        <p:spPr>
          <a:xfrm>
            <a:off x="1691640" y="4919472"/>
            <a:ext cx="457200" cy="877824"/>
          </a:xfrm>
          <a:prstGeom prst="rect">
            <a:avLst/>
          </a:prstGeom>
          <a:solidFill>
            <a:srgbClr val="DDD2F0"/>
          </a:solidFill>
          <a:ln w="12700">
            <a:solidFill>
              <a:srgbClr val="243B53"/>
            </a:solidFill>
            <a:prstDash val="solid"/>
          </a:ln>
        </p:spPr>
      </p:sp>
      <p:sp>
        <p:nvSpPr>
          <p:cNvPr id="72" name="Shape 63"/>
          <p:cNvSpPr/>
          <p:nvPr/>
        </p:nvSpPr>
        <p:spPr>
          <a:xfrm>
            <a:off x="640080" y="4773168"/>
            <a:ext cx="0" cy="1298448"/>
          </a:xfrm>
          <a:prstGeom prst="line">
            <a:avLst/>
          </a:prstGeom>
          <a:noFill/>
          <a:ln w="12700">
            <a:solidFill>
              <a:srgbClr val="243B53"/>
            </a:solidFill>
            <a:prstDash val="dash"/>
          </a:ln>
        </p:spPr>
      </p:sp>
      <p:sp>
        <p:nvSpPr>
          <p:cNvPr id="73" name="Shape 64"/>
          <p:cNvSpPr/>
          <p:nvPr/>
        </p:nvSpPr>
        <p:spPr>
          <a:xfrm>
            <a:off x="2560320" y="4773168"/>
            <a:ext cx="0" cy="1298448"/>
          </a:xfrm>
          <a:prstGeom prst="line">
            <a:avLst/>
          </a:prstGeom>
          <a:noFill/>
          <a:ln w="12700">
            <a:solidFill>
              <a:srgbClr val="243B53"/>
            </a:solidFill>
            <a:prstDash val="dash"/>
          </a:ln>
        </p:spPr>
      </p:sp>
      <p:sp>
        <p:nvSpPr>
          <p:cNvPr id="74" name="Text 65"/>
          <p:cNvSpPr/>
          <p:nvPr/>
        </p:nvSpPr>
        <p:spPr>
          <a:xfrm>
            <a:off x="640080" y="6089904"/>
            <a:ext cx="1920240" cy="182880"/>
          </a:xfrm>
          <a:prstGeom prst="rect">
            <a:avLst/>
          </a:prstGeom>
          <a:noFill/>
          <a:ln/>
        </p:spPr>
        <p:txBody>
          <a:bodyPr wrap="square" lIns="0" tIns="0" rIns="0" bIns="0" rtlCol="0" anchor="t"/>
          <a:lstStyle/>
          <a:p>
            <a:pPr algn="ctr" indent="0" marL="0">
              <a:buNone/>
            </a:pPr>
            <a:r>
              <a:rPr lang="en-US" sz="850" dirty="0">
                <a:solidFill>
                  <a:srgbClr val="4A5563"/>
                </a:solidFill>
                <a:latin typeface="Arial" pitchFamily="34" charset="0"/>
                <a:ea typeface="Arial" pitchFamily="34" charset="-122"/>
                <a:cs typeface="Arial" pitchFamily="34" charset="-120"/>
              </a:rPr>
              <a:t>ground height</a:t>
            </a:r>
            <a:endParaRPr lang="en-US" sz="850" dirty="0"/>
          </a:p>
        </p:txBody>
      </p:sp>
      <p:sp>
        <p:nvSpPr>
          <p:cNvPr id="75" name="Text 66"/>
          <p:cNvSpPr/>
          <p:nvPr/>
        </p:nvSpPr>
        <p:spPr>
          <a:xfrm>
            <a:off x="685800" y="5029200"/>
            <a:ext cx="960120" cy="365760"/>
          </a:xfrm>
          <a:prstGeom prst="rect">
            <a:avLst/>
          </a:prstGeom>
          <a:noFill/>
          <a:ln/>
        </p:spPr>
        <p:txBody>
          <a:bodyPr wrap="square" lIns="0" tIns="0" rIns="0" bIns="0" rtlCol="0" anchor="t"/>
          <a:lstStyle/>
          <a:p>
            <a:pPr algn="r" indent="0" marL="0">
              <a:buNone/>
            </a:pPr>
            <a:r>
              <a:rPr lang="en-US" sz="850" dirty="0">
                <a:solidFill>
                  <a:srgbClr val="4A5563"/>
                </a:solidFill>
                <a:latin typeface="Arial" pitchFamily="34" charset="0"/>
                <a:ea typeface="Arial" pitchFamily="34" charset="-122"/>
                <a:cs typeface="Arial" pitchFamily="34" charset="-120"/>
              </a:rPr>
              <a:t>obstacle</a:t>
            </a:r>
            <a:endParaRPr lang="en-US" sz="850" dirty="0"/>
          </a:p>
          <a:p>
            <a:pPr algn="r" indent="0" marL="0">
              <a:buNone/>
            </a:pPr>
            <a:r>
              <a:rPr lang="en-US" sz="850" dirty="0">
                <a:solidFill>
                  <a:srgbClr val="4A5563"/>
                </a:solidFill>
                <a:latin typeface="Arial" pitchFamily="34" charset="0"/>
                <a:ea typeface="Arial" pitchFamily="34" charset="-122"/>
                <a:cs typeface="Arial" pitchFamily="34" charset="-120"/>
              </a:rPr>
              <a:t>height span</a:t>
            </a:r>
            <a:endParaRPr lang="en-US" sz="850" dirty="0"/>
          </a:p>
        </p:txBody>
      </p:sp>
      <p:sp>
        <p:nvSpPr>
          <p:cNvPr id="76" name="Text 67"/>
          <p:cNvSpPr/>
          <p:nvPr/>
        </p:nvSpPr>
        <p:spPr>
          <a:xfrm>
            <a:off x="640080" y="4608576"/>
            <a:ext cx="1920240" cy="164592"/>
          </a:xfrm>
          <a:prstGeom prst="rect">
            <a:avLst/>
          </a:prstGeom>
          <a:noFill/>
          <a:ln/>
        </p:spPr>
        <p:txBody>
          <a:bodyPr wrap="square" lIns="0" tIns="0" rIns="0" bIns="0" rtlCol="0" anchor="t"/>
          <a:lstStyle/>
          <a:p>
            <a:pPr algn="ctr" indent="0" marL="0">
              <a:buNone/>
            </a:pPr>
            <a:r>
              <a:rPr lang="en-US" sz="850" i="1" dirty="0">
                <a:solidFill>
                  <a:srgbClr val="4A5563"/>
                </a:solidFill>
                <a:latin typeface="Arial" pitchFamily="34" charset="0"/>
                <a:ea typeface="Arial" pitchFamily="34" charset="-122"/>
                <a:cs typeface="Arial" pitchFamily="34" charset="-120"/>
              </a:rPr>
              <a:t>one cell</a:t>
            </a:r>
            <a:endParaRPr lang="en-US" sz="850" dirty="0"/>
          </a:p>
        </p:txBody>
      </p:sp>
      <p:sp>
        <p:nvSpPr>
          <p:cNvPr id="77" name="Shape 68"/>
          <p:cNvSpPr/>
          <p:nvPr/>
        </p:nvSpPr>
        <p:spPr>
          <a:xfrm>
            <a:off x="2880360" y="4791456"/>
            <a:ext cx="1691640" cy="292608"/>
          </a:xfrm>
          <a:prstGeom prst="roundRect">
            <a:avLst>
              <a:gd name="adj" fmla="val 50000"/>
            </a:avLst>
          </a:prstGeom>
          <a:solidFill>
            <a:srgbClr val="FBE0C3"/>
          </a:solidFill>
          <a:ln w="9525">
            <a:solidFill>
              <a:srgbClr val="243B53"/>
            </a:solidFill>
            <a:prstDash val="solid"/>
          </a:ln>
        </p:spPr>
      </p:sp>
      <p:sp>
        <p:nvSpPr>
          <p:cNvPr id="78" name="Text 69"/>
          <p:cNvSpPr/>
          <p:nvPr/>
        </p:nvSpPr>
        <p:spPr>
          <a:xfrm>
            <a:off x="2880360" y="4791456"/>
            <a:ext cx="1691640" cy="292608"/>
          </a:xfrm>
          <a:prstGeom prst="rect">
            <a:avLst/>
          </a:prstGeom>
          <a:noFill/>
          <a:ln/>
        </p:spPr>
        <p:txBody>
          <a:bodyPr wrap="square" lIns="0" tIns="0" rIns="0" bIns="0" rtlCol="0" anchor="ctr"/>
          <a:lstStyle/>
          <a:p>
            <a:pPr algn="ctr" indent="0" marL="0">
              <a:buNone/>
            </a:pPr>
            <a:r>
              <a:rPr lang="en-US" sz="950" b="1" dirty="0">
                <a:solidFill>
                  <a:srgbClr val="243B53"/>
                </a:solidFill>
                <a:latin typeface="Arial" pitchFamily="34" charset="0"/>
                <a:ea typeface="Arial" pitchFamily="34" charset="-122"/>
                <a:cs typeface="Arial" pitchFamily="34" charset="-120"/>
              </a:rPr>
              <a:t>Ground height</a:t>
            </a:r>
            <a:endParaRPr lang="en-US" sz="950" dirty="0"/>
          </a:p>
        </p:txBody>
      </p:sp>
      <p:sp>
        <p:nvSpPr>
          <p:cNvPr id="79" name="Shape 70"/>
          <p:cNvSpPr/>
          <p:nvPr/>
        </p:nvSpPr>
        <p:spPr>
          <a:xfrm>
            <a:off x="4709160" y="4791456"/>
            <a:ext cx="1691640" cy="292608"/>
          </a:xfrm>
          <a:prstGeom prst="roundRect">
            <a:avLst>
              <a:gd name="adj" fmla="val 50000"/>
            </a:avLst>
          </a:prstGeom>
          <a:solidFill>
            <a:srgbClr val="DDD2F0"/>
          </a:solidFill>
          <a:ln w="9525">
            <a:solidFill>
              <a:srgbClr val="243B53"/>
            </a:solidFill>
            <a:prstDash val="solid"/>
          </a:ln>
        </p:spPr>
      </p:sp>
      <p:sp>
        <p:nvSpPr>
          <p:cNvPr id="80" name="Text 71"/>
          <p:cNvSpPr/>
          <p:nvPr/>
        </p:nvSpPr>
        <p:spPr>
          <a:xfrm>
            <a:off x="4709160" y="4791456"/>
            <a:ext cx="1691640" cy="292608"/>
          </a:xfrm>
          <a:prstGeom prst="rect">
            <a:avLst/>
          </a:prstGeom>
          <a:noFill/>
          <a:ln/>
        </p:spPr>
        <p:txBody>
          <a:bodyPr wrap="square" lIns="0" tIns="0" rIns="0" bIns="0" rtlCol="0" anchor="ctr"/>
          <a:lstStyle/>
          <a:p>
            <a:pPr algn="ctr" indent="0" marL="0">
              <a:buNone/>
            </a:pPr>
            <a:r>
              <a:rPr lang="en-US" sz="950" b="1" dirty="0">
                <a:solidFill>
                  <a:srgbClr val="243B53"/>
                </a:solidFill>
                <a:latin typeface="Arial" pitchFamily="34" charset="0"/>
                <a:ea typeface="Arial" pitchFamily="34" charset="-122"/>
                <a:cs typeface="Arial" pitchFamily="34" charset="-120"/>
              </a:rPr>
              <a:t>Obstacle height span</a:t>
            </a:r>
            <a:endParaRPr lang="en-US" sz="950" dirty="0"/>
          </a:p>
        </p:txBody>
      </p:sp>
      <p:sp>
        <p:nvSpPr>
          <p:cNvPr id="81" name="Shape 72"/>
          <p:cNvSpPr/>
          <p:nvPr/>
        </p:nvSpPr>
        <p:spPr>
          <a:xfrm>
            <a:off x="2880360" y="5193792"/>
            <a:ext cx="1691640" cy="292608"/>
          </a:xfrm>
          <a:prstGeom prst="roundRect">
            <a:avLst>
              <a:gd name="adj" fmla="val 50000"/>
            </a:avLst>
          </a:prstGeom>
          <a:solidFill>
            <a:srgbClr val="DCEEDB"/>
          </a:solidFill>
          <a:ln w="9525">
            <a:solidFill>
              <a:srgbClr val="243B53"/>
            </a:solidFill>
            <a:prstDash val="solid"/>
          </a:ln>
        </p:spPr>
      </p:sp>
      <p:sp>
        <p:nvSpPr>
          <p:cNvPr id="82" name="Text 73"/>
          <p:cNvSpPr/>
          <p:nvPr/>
        </p:nvSpPr>
        <p:spPr>
          <a:xfrm>
            <a:off x="2880360" y="5193792"/>
            <a:ext cx="1691640" cy="292608"/>
          </a:xfrm>
          <a:prstGeom prst="rect">
            <a:avLst/>
          </a:prstGeom>
          <a:noFill/>
          <a:ln/>
        </p:spPr>
        <p:txBody>
          <a:bodyPr wrap="square" lIns="0" tIns="0" rIns="0" bIns="0" rtlCol="0" anchor="ctr"/>
          <a:lstStyle/>
          <a:p>
            <a:pPr algn="ctr" indent="0" marL="0">
              <a:buNone/>
            </a:pPr>
            <a:r>
              <a:rPr lang="en-US" sz="950" b="1" dirty="0">
                <a:solidFill>
                  <a:srgbClr val="243B53"/>
                </a:solidFill>
                <a:latin typeface="Arial" pitchFamily="34" charset="0"/>
                <a:ea typeface="Arial" pitchFamily="34" charset="-122"/>
                <a:cs typeface="Arial" pitchFamily="34" charset="-120"/>
              </a:rPr>
              <a:t>Class evidence (19)</a:t>
            </a:r>
            <a:endParaRPr lang="en-US" sz="950" dirty="0"/>
          </a:p>
        </p:txBody>
      </p:sp>
      <p:sp>
        <p:nvSpPr>
          <p:cNvPr id="83" name="Shape 74"/>
          <p:cNvSpPr/>
          <p:nvPr/>
        </p:nvSpPr>
        <p:spPr>
          <a:xfrm>
            <a:off x="4709160" y="5193792"/>
            <a:ext cx="1691640" cy="292608"/>
          </a:xfrm>
          <a:prstGeom prst="roundRect">
            <a:avLst>
              <a:gd name="adj" fmla="val 50000"/>
            </a:avLst>
          </a:prstGeom>
          <a:solidFill>
            <a:srgbClr val="DDE8F7"/>
          </a:solidFill>
          <a:ln w="9525">
            <a:solidFill>
              <a:srgbClr val="243B53"/>
            </a:solidFill>
            <a:prstDash val="solid"/>
          </a:ln>
        </p:spPr>
      </p:sp>
      <p:sp>
        <p:nvSpPr>
          <p:cNvPr id="84" name="Text 75"/>
          <p:cNvSpPr/>
          <p:nvPr/>
        </p:nvSpPr>
        <p:spPr>
          <a:xfrm>
            <a:off x="4709160" y="5193792"/>
            <a:ext cx="1691640" cy="292608"/>
          </a:xfrm>
          <a:prstGeom prst="rect">
            <a:avLst/>
          </a:prstGeom>
          <a:noFill/>
          <a:ln/>
        </p:spPr>
        <p:txBody>
          <a:bodyPr wrap="square" lIns="0" tIns="0" rIns="0" bIns="0" rtlCol="0" anchor="ctr"/>
          <a:lstStyle/>
          <a:p>
            <a:pPr algn="ctr" indent="0" marL="0">
              <a:buNone/>
            </a:pPr>
            <a:r>
              <a:rPr lang="en-US" sz="950" b="1" dirty="0">
                <a:solidFill>
                  <a:srgbClr val="243B53"/>
                </a:solidFill>
                <a:latin typeface="Arial" pitchFamily="34" charset="0"/>
                <a:ea typeface="Arial" pitchFamily="34" charset="-122"/>
                <a:cs typeface="Arial" pitchFamily="34" charset="-120"/>
              </a:rPr>
              <a:t>Point count</a:t>
            </a:r>
            <a:endParaRPr lang="en-US" sz="950" dirty="0"/>
          </a:p>
        </p:txBody>
      </p:sp>
      <p:sp>
        <p:nvSpPr>
          <p:cNvPr id="85" name="Shape 76"/>
          <p:cNvSpPr/>
          <p:nvPr/>
        </p:nvSpPr>
        <p:spPr>
          <a:xfrm>
            <a:off x="2880360" y="5596128"/>
            <a:ext cx="1691640" cy="292608"/>
          </a:xfrm>
          <a:prstGeom prst="roundRect">
            <a:avLst>
              <a:gd name="adj" fmla="val 50000"/>
            </a:avLst>
          </a:prstGeom>
          <a:solidFill>
            <a:srgbClr val="DDE8F7"/>
          </a:solidFill>
          <a:ln w="9525">
            <a:solidFill>
              <a:srgbClr val="243B53"/>
            </a:solidFill>
            <a:prstDash val="solid"/>
          </a:ln>
        </p:spPr>
      </p:sp>
      <p:sp>
        <p:nvSpPr>
          <p:cNvPr id="86" name="Text 77"/>
          <p:cNvSpPr/>
          <p:nvPr/>
        </p:nvSpPr>
        <p:spPr>
          <a:xfrm>
            <a:off x="2880360" y="5596128"/>
            <a:ext cx="1691640" cy="292608"/>
          </a:xfrm>
          <a:prstGeom prst="rect">
            <a:avLst/>
          </a:prstGeom>
          <a:noFill/>
          <a:ln/>
        </p:spPr>
        <p:txBody>
          <a:bodyPr wrap="square" lIns="0" tIns="0" rIns="0" bIns="0" rtlCol="0" anchor="ctr"/>
          <a:lstStyle/>
          <a:p>
            <a:pPr algn="ctr" indent="0" marL="0">
              <a:buNone/>
            </a:pPr>
            <a:r>
              <a:rPr lang="en-US" sz="950" b="1" dirty="0">
                <a:solidFill>
                  <a:srgbClr val="243B53"/>
                </a:solidFill>
                <a:latin typeface="Arial" pitchFamily="34" charset="0"/>
                <a:ea typeface="Arial" pitchFamily="34" charset="-122"/>
                <a:cs typeface="Arial" pitchFamily="34" charset="-120"/>
              </a:rPr>
              <a:t>Intensity</a:t>
            </a:r>
            <a:endParaRPr lang="en-US" sz="950" dirty="0"/>
          </a:p>
        </p:txBody>
      </p:sp>
      <p:sp>
        <p:nvSpPr>
          <p:cNvPr id="87" name="Shape 78"/>
          <p:cNvSpPr/>
          <p:nvPr/>
        </p:nvSpPr>
        <p:spPr>
          <a:xfrm>
            <a:off x="4709160" y="5596128"/>
            <a:ext cx="1691640" cy="292608"/>
          </a:xfrm>
          <a:prstGeom prst="roundRect">
            <a:avLst>
              <a:gd name="adj" fmla="val 50000"/>
            </a:avLst>
          </a:prstGeom>
          <a:solidFill>
            <a:srgbClr val="FBEDED"/>
          </a:solidFill>
          <a:ln w="9525">
            <a:solidFill>
              <a:srgbClr val="243B53"/>
            </a:solidFill>
            <a:prstDash val="solid"/>
          </a:ln>
        </p:spPr>
      </p:sp>
      <p:sp>
        <p:nvSpPr>
          <p:cNvPr id="88" name="Text 79"/>
          <p:cNvSpPr/>
          <p:nvPr/>
        </p:nvSpPr>
        <p:spPr>
          <a:xfrm>
            <a:off x="4709160" y="5596128"/>
            <a:ext cx="1691640" cy="292608"/>
          </a:xfrm>
          <a:prstGeom prst="rect">
            <a:avLst/>
          </a:prstGeom>
          <a:noFill/>
          <a:ln/>
        </p:spPr>
        <p:txBody>
          <a:bodyPr wrap="square" lIns="0" tIns="0" rIns="0" bIns="0" rtlCol="0" anchor="ctr"/>
          <a:lstStyle/>
          <a:p>
            <a:pPr algn="ctr" indent="0" marL="0">
              <a:buNone/>
            </a:pPr>
            <a:r>
              <a:rPr lang="en-US" sz="950" b="1" dirty="0">
                <a:solidFill>
                  <a:srgbClr val="243B53"/>
                </a:solidFill>
                <a:latin typeface="Arial" pitchFamily="34" charset="0"/>
                <a:ea typeface="Arial" pitchFamily="34" charset="-122"/>
                <a:cs typeface="Arial" pitchFamily="34" charset="-120"/>
              </a:rPr>
              <a:t>Ambiguity flag</a:t>
            </a:r>
            <a:endParaRPr lang="en-US" sz="950" dirty="0"/>
          </a:p>
        </p:txBody>
      </p:sp>
      <p:sp>
        <p:nvSpPr>
          <p:cNvPr id="89" name="Text 80"/>
          <p:cNvSpPr/>
          <p:nvPr/>
        </p:nvSpPr>
        <p:spPr>
          <a:xfrm>
            <a:off x="2880360" y="6016752"/>
            <a:ext cx="3611880" cy="274320"/>
          </a:xfrm>
          <a:prstGeom prst="rect">
            <a:avLst/>
          </a:prstGeom>
          <a:noFill/>
          <a:ln/>
        </p:spPr>
        <p:txBody>
          <a:bodyPr wrap="square" lIns="0" tIns="0" rIns="0" bIns="0" rtlCol="0" anchor="t"/>
          <a:lstStyle/>
          <a:p>
            <a:pPr indent="0" marL="0">
              <a:buNone/>
            </a:pPr>
            <a:r>
              <a:rPr lang="en-US" sz="900" i="1" dirty="0">
                <a:solidFill>
                  <a:srgbClr val="4A5563"/>
                </a:solidFill>
                <a:latin typeface="Arial" pitchFamily="34" charset="0"/>
                <a:ea typeface="Arial" pitchFamily="34" charset="-122"/>
                <a:cs typeface="Arial" pitchFamily="34" charset="-120"/>
              </a:rPr>
              <a:t>Heights in integer centimetres. Every accepted point is counted once.</a:t>
            </a:r>
            <a:endParaRPr lang="en-US" sz="900" dirty="0"/>
          </a:p>
        </p:txBody>
      </p:sp>
      <p:sp>
        <p:nvSpPr>
          <p:cNvPr id="90" name="Shape 81"/>
          <p:cNvSpPr/>
          <p:nvPr/>
        </p:nvSpPr>
        <p:spPr>
          <a:xfrm>
            <a:off x="6922008" y="4187952"/>
            <a:ext cx="4903927" cy="2194560"/>
          </a:xfrm>
          <a:prstGeom prst="roundRect">
            <a:avLst>
              <a:gd name="adj" fmla="val 5000"/>
            </a:avLst>
          </a:prstGeom>
          <a:solidFill>
            <a:srgbClr val="DDE8F7"/>
          </a:solidFill>
          <a:ln w="15875">
            <a:solidFill>
              <a:srgbClr val="243B53"/>
            </a:solidFill>
            <a:prstDash val="solid"/>
          </a:ln>
        </p:spPr>
      </p:sp>
      <p:pic>
        <p:nvPicPr>
          <p:cNvPr id="91" name="Image 7" descr="assets/icons/cpu.png">    </p:cNvPr>
          <p:cNvPicPr>
            <a:picLocks noChangeAspect="1"/>
          </p:cNvPicPr>
          <p:nvPr/>
        </p:nvPicPr>
        <p:blipFill>
          <a:blip r:embed="rId8"/>
          <a:stretch>
            <a:fillRect/>
          </a:stretch>
        </p:blipFill>
        <p:spPr>
          <a:xfrm>
            <a:off x="7123176" y="4325112"/>
            <a:ext cx="292608" cy="292608"/>
          </a:xfrm>
          <a:prstGeom prst="rect">
            <a:avLst/>
          </a:prstGeom>
        </p:spPr>
      </p:pic>
      <p:sp>
        <p:nvSpPr>
          <p:cNvPr id="92" name="Text 82"/>
          <p:cNvSpPr/>
          <p:nvPr/>
        </p:nvSpPr>
        <p:spPr>
          <a:xfrm>
            <a:off x="7488936" y="4325112"/>
            <a:ext cx="2743200" cy="292608"/>
          </a:xfrm>
          <a:prstGeom prst="rect">
            <a:avLst/>
          </a:prstGeom>
          <a:noFill/>
          <a:ln/>
        </p:spPr>
        <p:txBody>
          <a:bodyPr wrap="square" lIns="0" tIns="0" rIns="0" bIns="0" rtlCol="0" anchor="ctr"/>
          <a:lstStyle/>
          <a:p>
            <a:pPr indent="0" marL="0">
              <a:buNone/>
            </a:pPr>
            <a:r>
              <a:rPr lang="en-US" sz="1200" b="1" dirty="0">
                <a:solidFill>
                  <a:srgbClr val="243B53"/>
                </a:solidFill>
                <a:latin typeface="Comic Sans MS" pitchFamily="34" charset="0"/>
                <a:ea typeface="Comic Sans MS" pitchFamily="34" charset="-122"/>
                <a:cs typeface="Comic Sans MS" pitchFamily="34" charset="-120"/>
              </a:rPr>
              <a:t>COMPUTE TODAY</a:t>
            </a:r>
            <a:endParaRPr lang="en-US" sz="1200" dirty="0"/>
          </a:p>
        </p:txBody>
      </p:sp>
      <p:sp>
        <p:nvSpPr>
          <p:cNvPr id="93" name="Text 83"/>
          <p:cNvSpPr/>
          <p:nvPr/>
        </p:nvSpPr>
        <p:spPr>
          <a:xfrm>
            <a:off x="9253728" y="4325112"/>
            <a:ext cx="2389327" cy="292608"/>
          </a:xfrm>
          <a:prstGeom prst="rect">
            <a:avLst/>
          </a:prstGeom>
          <a:noFill/>
          <a:ln/>
        </p:spPr>
        <p:txBody>
          <a:bodyPr wrap="square" lIns="0" tIns="0" rIns="0" bIns="0" rtlCol="0" anchor="ctr"/>
          <a:lstStyle/>
          <a:p>
            <a:pPr algn="r" indent="0" marL="0">
              <a:buNone/>
            </a:pPr>
            <a:r>
              <a:rPr lang="en-US" sz="950" i="1" dirty="0">
                <a:solidFill>
                  <a:srgbClr val="4A5563"/>
                </a:solidFill>
                <a:latin typeface="Arial" pitchFamily="34" charset="0"/>
                <a:ea typeface="Arial" pitchFamily="34" charset="-122"/>
                <a:cs typeface="Arial" pitchFamily="34" charset="-120"/>
              </a:rPr>
              <a:t>Laptop CPU · fully offline · no cloud</a:t>
            </a:r>
            <a:endParaRPr lang="en-US" sz="950" dirty="0"/>
          </a:p>
        </p:txBody>
      </p:sp>
      <p:sp>
        <p:nvSpPr>
          <p:cNvPr id="94" name="Shape 84"/>
          <p:cNvSpPr/>
          <p:nvPr/>
        </p:nvSpPr>
        <p:spPr>
          <a:xfrm>
            <a:off x="7123176" y="4809744"/>
            <a:ext cx="786384" cy="201168"/>
          </a:xfrm>
          <a:prstGeom prst="roundRect">
            <a:avLst>
              <a:gd name="adj" fmla="val 27273"/>
            </a:avLst>
          </a:prstGeom>
          <a:solidFill>
            <a:srgbClr val="2F6B52"/>
          </a:solidFill>
          <a:ln w="12700">
            <a:solidFill>
              <a:srgbClr val="2F6B52"/>
            </a:solidFill>
            <a:prstDash val="solid"/>
          </a:ln>
        </p:spPr>
      </p:sp>
      <p:sp>
        <p:nvSpPr>
          <p:cNvPr id="95" name="Text 85"/>
          <p:cNvSpPr/>
          <p:nvPr/>
        </p:nvSpPr>
        <p:spPr>
          <a:xfrm>
            <a:off x="7123176" y="4809744"/>
            <a:ext cx="786384" cy="20116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MEASURED</a:t>
            </a:r>
            <a:endParaRPr lang="en-US" sz="800" dirty="0"/>
          </a:p>
        </p:txBody>
      </p:sp>
      <p:sp>
        <p:nvSpPr>
          <p:cNvPr id="96" name="Text 86"/>
          <p:cNvSpPr/>
          <p:nvPr/>
        </p:nvSpPr>
        <p:spPr>
          <a:xfrm>
            <a:off x="8019288" y="4791456"/>
            <a:ext cx="3623767" cy="420624"/>
          </a:xfrm>
          <a:prstGeom prst="rect">
            <a:avLst/>
          </a:prstGeom>
          <a:noFill/>
          <a:ln/>
        </p:spPr>
        <p:txBody>
          <a:bodyPr wrap="square" lIns="0" tIns="0" rIns="0" bIns="0" rtlCol="0" anchor="t"/>
          <a:lstStyle/>
          <a:p>
            <a:pPr indent="0" marL="0">
              <a:buNone/>
            </a:pPr>
            <a:r>
              <a:rPr lang="en-US" sz="1050" dirty="0">
                <a:solidFill>
                  <a:srgbClr val="2E3A48"/>
                </a:solidFill>
                <a:latin typeface="Arial" pitchFamily="34" charset="0"/>
                <a:ea typeface="Arial" pitchFamily="34" charset="-122"/>
                <a:cs typeface="Arial" pitchFamily="34" charset="-120"/>
              </a:rPr>
              <a:t>Geometry path: median 83 ms per scan over 1,000 scans.</a:t>
            </a:r>
            <a:endParaRPr lang="en-US" sz="1050" dirty="0"/>
          </a:p>
        </p:txBody>
      </p:sp>
      <p:sp>
        <p:nvSpPr>
          <p:cNvPr id="97" name="Shape 87"/>
          <p:cNvSpPr/>
          <p:nvPr/>
        </p:nvSpPr>
        <p:spPr>
          <a:xfrm>
            <a:off x="7123176" y="5285232"/>
            <a:ext cx="786384" cy="201168"/>
          </a:xfrm>
          <a:prstGeom prst="roundRect">
            <a:avLst>
              <a:gd name="adj" fmla="val 27273"/>
            </a:avLst>
          </a:prstGeom>
          <a:solidFill>
            <a:srgbClr val="2F6B52"/>
          </a:solidFill>
          <a:ln w="12700">
            <a:solidFill>
              <a:srgbClr val="2F6B52"/>
            </a:solidFill>
            <a:prstDash val="solid"/>
          </a:ln>
        </p:spPr>
      </p:sp>
      <p:sp>
        <p:nvSpPr>
          <p:cNvPr id="98" name="Text 88"/>
          <p:cNvSpPr/>
          <p:nvPr/>
        </p:nvSpPr>
        <p:spPr>
          <a:xfrm>
            <a:off x="7123176" y="5285232"/>
            <a:ext cx="786384" cy="20116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MEASURED</a:t>
            </a:r>
            <a:endParaRPr lang="en-US" sz="800" dirty="0"/>
          </a:p>
        </p:txBody>
      </p:sp>
      <p:sp>
        <p:nvSpPr>
          <p:cNvPr id="99" name="Text 89"/>
          <p:cNvSpPr/>
          <p:nvPr/>
        </p:nvSpPr>
        <p:spPr>
          <a:xfrm>
            <a:off x="8019288" y="5266944"/>
            <a:ext cx="3623767" cy="420624"/>
          </a:xfrm>
          <a:prstGeom prst="rect">
            <a:avLst/>
          </a:prstGeom>
          <a:noFill/>
          <a:ln/>
        </p:spPr>
        <p:txBody>
          <a:bodyPr wrap="square" lIns="0" tIns="0" rIns="0" bIns="0" rtlCol="0" anchor="t"/>
          <a:lstStyle/>
          <a:p>
            <a:pPr indent="0" marL="0">
              <a:buNone/>
            </a:pPr>
            <a:r>
              <a:rPr lang="en-US" sz="1050" dirty="0">
                <a:solidFill>
                  <a:srgbClr val="2E3A48"/>
                </a:solidFill>
                <a:latin typeface="Arial" pitchFamily="34" charset="0"/>
                <a:ea typeface="Arial" pitchFamily="34" charset="-122"/>
                <a:cs typeface="Arial" pitchFamily="34" charset="-120"/>
              </a:rPr>
              <a:t>FRNet on CPU: ~7.2 s per scan, so a GPU is required.</a:t>
            </a:r>
            <a:endParaRPr lang="en-US" sz="1050" dirty="0"/>
          </a:p>
        </p:txBody>
      </p:sp>
      <p:sp>
        <p:nvSpPr>
          <p:cNvPr id="100" name="Shape 90"/>
          <p:cNvSpPr/>
          <p:nvPr/>
        </p:nvSpPr>
        <p:spPr>
          <a:xfrm>
            <a:off x="7123176" y="5760720"/>
            <a:ext cx="786384" cy="201168"/>
          </a:xfrm>
          <a:prstGeom prst="roundRect">
            <a:avLst>
              <a:gd name="adj" fmla="val 27273"/>
            </a:avLst>
          </a:prstGeom>
          <a:solidFill>
            <a:srgbClr val="2F5FA8"/>
          </a:solidFill>
          <a:ln w="12700">
            <a:solidFill>
              <a:srgbClr val="2F5FA8"/>
            </a:solidFill>
            <a:prstDash val="solid"/>
          </a:ln>
        </p:spPr>
      </p:sp>
      <p:sp>
        <p:nvSpPr>
          <p:cNvPr id="101" name="Text 91"/>
          <p:cNvSpPr/>
          <p:nvPr/>
        </p:nvSpPr>
        <p:spPr>
          <a:xfrm>
            <a:off x="7123176" y="5760720"/>
            <a:ext cx="786384" cy="20116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PROPOSED</a:t>
            </a:r>
            <a:endParaRPr lang="en-US" sz="800" dirty="0"/>
          </a:p>
        </p:txBody>
      </p:sp>
      <p:sp>
        <p:nvSpPr>
          <p:cNvPr id="102" name="Text 92"/>
          <p:cNvSpPr/>
          <p:nvPr/>
        </p:nvSpPr>
        <p:spPr>
          <a:xfrm>
            <a:off x="8019288" y="5742432"/>
            <a:ext cx="3623767" cy="420624"/>
          </a:xfrm>
          <a:prstGeom prst="rect">
            <a:avLst/>
          </a:prstGeom>
          <a:noFill/>
          <a:ln/>
        </p:spPr>
        <p:txBody>
          <a:bodyPr wrap="square" lIns="0" tIns="0" rIns="0" bIns="0" rtlCol="0" anchor="t"/>
          <a:lstStyle/>
          <a:p>
            <a:pPr indent="0" marL="0">
              <a:buNone/>
            </a:pPr>
            <a:r>
              <a:rPr lang="en-US" sz="1050" dirty="0">
                <a:solidFill>
                  <a:srgbClr val="2E3A48"/>
                </a:solidFill>
                <a:latin typeface="Arial" pitchFamily="34" charset="0"/>
                <a:ea typeface="Arial" pitchFamily="34" charset="-122"/>
                <a:cs typeface="Arial" pitchFamily="34" charset="-120"/>
              </a:rPr>
              <a:t>NVIDIA GPU path (coded, not yet validated) and ROS 2 live input.</a:t>
            </a:r>
            <a:endParaRPr lang="en-US" sz="1050" dirty="0"/>
          </a:p>
        </p:txBody>
      </p:sp>
      <p:sp>
        <p:nvSpPr>
          <p:cNvPr id="103" name="Shape 93"/>
          <p:cNvSpPr/>
          <p:nvPr/>
        </p:nvSpPr>
        <p:spPr>
          <a:xfrm>
            <a:off x="365760" y="6537960"/>
            <a:ext cx="146304" cy="146304"/>
          </a:xfrm>
          <a:prstGeom prst="roundRect">
            <a:avLst>
              <a:gd name="adj" fmla="val 18750"/>
            </a:avLst>
          </a:prstGeom>
          <a:solidFill>
            <a:srgbClr val="2F6B52"/>
          </a:solidFill>
          <a:ln w="12700">
            <a:solidFill>
              <a:srgbClr val="2F6B52"/>
            </a:solidFill>
            <a:prstDash val="solid"/>
          </a:ln>
        </p:spPr>
      </p:sp>
      <p:sp>
        <p:nvSpPr>
          <p:cNvPr id="104" name="Text 94"/>
          <p:cNvSpPr/>
          <p:nvPr/>
        </p:nvSpPr>
        <p:spPr>
          <a:xfrm>
            <a:off x="566928" y="6510528"/>
            <a:ext cx="1166774" cy="201168"/>
          </a:xfrm>
          <a:prstGeom prst="rect">
            <a:avLst/>
          </a:prstGeom>
          <a:noFill/>
          <a:ln/>
        </p:spPr>
        <p:txBody>
          <a:bodyPr wrap="square" lIns="0" tIns="0" rIns="0" bIns="0" rtlCol="0" anchor="ctr"/>
          <a:lstStyle/>
          <a:p>
            <a:pPr indent="0" marL="0">
              <a:buNone/>
            </a:pPr>
            <a:r>
              <a:rPr lang="en-US" sz="900" dirty="0">
                <a:solidFill>
                  <a:srgbClr val="4A5563"/>
                </a:solidFill>
                <a:latin typeface="Arial" pitchFamily="34" charset="0"/>
                <a:ea typeface="Arial" pitchFamily="34" charset="-122"/>
                <a:cs typeface="Arial" pitchFamily="34" charset="-120"/>
              </a:rPr>
              <a:t>Proven / Measured</a:t>
            </a:r>
            <a:endParaRPr lang="en-US" sz="900" dirty="0"/>
          </a:p>
        </p:txBody>
      </p:sp>
      <p:sp>
        <p:nvSpPr>
          <p:cNvPr id="105" name="Shape 95"/>
          <p:cNvSpPr/>
          <p:nvPr/>
        </p:nvSpPr>
        <p:spPr>
          <a:xfrm>
            <a:off x="1916582" y="6537960"/>
            <a:ext cx="146304" cy="146304"/>
          </a:xfrm>
          <a:prstGeom prst="roundRect">
            <a:avLst>
              <a:gd name="adj" fmla="val 18750"/>
            </a:avLst>
          </a:prstGeom>
          <a:solidFill>
            <a:srgbClr val="2F5FA8"/>
          </a:solidFill>
          <a:ln w="12700">
            <a:solidFill>
              <a:srgbClr val="2F5FA8"/>
            </a:solidFill>
            <a:prstDash val="solid"/>
          </a:ln>
        </p:spPr>
      </p:sp>
      <p:sp>
        <p:nvSpPr>
          <p:cNvPr id="106" name="Text 96"/>
          <p:cNvSpPr/>
          <p:nvPr/>
        </p:nvSpPr>
        <p:spPr>
          <a:xfrm>
            <a:off x="2117750" y="6510528"/>
            <a:ext cx="607162" cy="201168"/>
          </a:xfrm>
          <a:prstGeom prst="rect">
            <a:avLst/>
          </a:prstGeom>
          <a:noFill/>
          <a:ln/>
        </p:spPr>
        <p:txBody>
          <a:bodyPr wrap="square" lIns="0" tIns="0" rIns="0" bIns="0" rtlCol="0" anchor="ctr"/>
          <a:lstStyle/>
          <a:p>
            <a:pPr indent="0" marL="0">
              <a:buNone/>
            </a:pPr>
            <a:r>
              <a:rPr lang="en-US" sz="900" dirty="0">
                <a:solidFill>
                  <a:srgbClr val="4A5563"/>
                </a:solidFill>
                <a:latin typeface="Arial" pitchFamily="34" charset="0"/>
                <a:ea typeface="Arial" pitchFamily="34" charset="-122"/>
                <a:cs typeface="Arial" pitchFamily="34" charset="-120"/>
              </a:rPr>
              <a:t>Proposed</a:t>
            </a:r>
            <a:endParaRPr lang="en-US" sz="900" dirty="0"/>
          </a:p>
        </p:txBody>
      </p:sp>
      <p:sp>
        <p:nvSpPr>
          <p:cNvPr id="107" name="Shape 97"/>
          <p:cNvSpPr/>
          <p:nvPr/>
        </p:nvSpPr>
        <p:spPr>
          <a:xfrm>
            <a:off x="2907792" y="6537960"/>
            <a:ext cx="146304" cy="146304"/>
          </a:xfrm>
          <a:prstGeom prst="roundRect">
            <a:avLst>
              <a:gd name="adj" fmla="val 18750"/>
            </a:avLst>
          </a:prstGeom>
          <a:solidFill>
            <a:srgbClr val="FBE0C3"/>
          </a:solidFill>
          <a:ln w="12700">
            <a:solidFill>
              <a:srgbClr val="C8742F"/>
            </a:solidFill>
            <a:prstDash val="solid"/>
          </a:ln>
        </p:spPr>
      </p:sp>
      <p:sp>
        <p:nvSpPr>
          <p:cNvPr id="108" name="Text 98"/>
          <p:cNvSpPr/>
          <p:nvPr/>
        </p:nvSpPr>
        <p:spPr>
          <a:xfrm>
            <a:off x="3108960" y="6510528"/>
            <a:ext cx="1042416" cy="201168"/>
          </a:xfrm>
          <a:prstGeom prst="rect">
            <a:avLst/>
          </a:prstGeom>
          <a:noFill/>
          <a:ln/>
        </p:spPr>
        <p:txBody>
          <a:bodyPr wrap="square" lIns="0" tIns="0" rIns="0" bIns="0" rtlCol="0" anchor="ctr"/>
          <a:lstStyle/>
          <a:p>
            <a:pPr indent="0" marL="0">
              <a:buNone/>
            </a:pPr>
            <a:r>
              <a:rPr lang="en-US" sz="900" dirty="0">
                <a:solidFill>
                  <a:srgbClr val="4A5563"/>
                </a:solidFill>
                <a:latin typeface="Arial" pitchFamily="34" charset="0"/>
                <a:ea typeface="Arial" pitchFamily="34" charset="-122"/>
                <a:cs typeface="Arial" pitchFamily="34" charset="-120"/>
              </a:rPr>
              <a:t>Test / Validate</a:t>
            </a:r>
            <a:endParaRPr lang="en-US" sz="900" dirty="0"/>
          </a:p>
        </p:txBody>
      </p:sp>
      <p:sp>
        <p:nvSpPr>
          <p:cNvPr id="109" name="Text 99"/>
          <p:cNvSpPr/>
          <p:nvPr/>
        </p:nvSpPr>
        <p:spPr>
          <a:xfrm>
            <a:off x="3813048" y="6510528"/>
            <a:ext cx="4572000" cy="201168"/>
          </a:xfrm>
          <a:prstGeom prst="rect">
            <a:avLst/>
          </a:prstGeom>
          <a:noFill/>
          <a:ln/>
        </p:spPr>
        <p:txBody>
          <a:bodyPr wrap="square" lIns="0" tIns="0" rIns="0" bIns="0" rtlCol="0" anchor="ctr"/>
          <a:lstStyle/>
          <a:p>
            <a:pPr algn="ctr" indent="0" marL="0">
              <a:buNone/>
            </a:pPr>
            <a:r>
              <a:rPr lang="en-US" sz="900" spc="200" kern="0" dirty="0">
                <a:solidFill>
                  <a:srgbClr val="4A5563"/>
                </a:solidFill>
                <a:latin typeface="Arial" pitchFamily="34" charset="0"/>
                <a:ea typeface="Arial" pitchFamily="34" charset="-122"/>
                <a:cs typeface="Arial" pitchFamily="34" charset="-120"/>
              </a:rPr>
              <a:t>SMART INDIA HACKATHON 2026  ·  SIH26053</a:t>
            </a:r>
            <a:endParaRPr lang="en-US" sz="900" dirty="0"/>
          </a:p>
        </p:txBody>
      </p:sp>
      <p:sp>
        <p:nvSpPr>
          <p:cNvPr id="110" name="Text 100"/>
          <p:cNvSpPr/>
          <p:nvPr/>
        </p:nvSpPr>
        <p:spPr>
          <a:xfrm>
            <a:off x="11368735" y="6483096"/>
            <a:ext cx="457200" cy="237744"/>
          </a:xfrm>
          <a:prstGeom prst="rect">
            <a:avLst/>
          </a:prstGeom>
          <a:noFill/>
          <a:ln/>
        </p:spPr>
        <p:txBody>
          <a:bodyPr wrap="square" lIns="0" tIns="0" rIns="0" bIns="0" rtlCol="0" anchor="ctr"/>
          <a:lstStyle/>
          <a:p>
            <a:pPr algn="r" indent="0" marL="0">
              <a:buNone/>
            </a:pPr>
            <a:r>
              <a:rPr lang="en-US" sz="1200" dirty="0">
                <a:solidFill>
                  <a:srgbClr val="243B53"/>
                </a:solidFill>
                <a:latin typeface="Comic Sans MS" pitchFamily="34" charset="0"/>
                <a:ea typeface="Comic Sans MS" pitchFamily="34" charset="-122"/>
                <a:cs typeface="Comic Sans MS" pitchFamily="34" charset="-120"/>
              </a:rPr>
              <a:t>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2"/>
        </a:solidFill>
      </p:bgPr>
    </p:bg>
    <p:spTree>
      <p:nvGrpSpPr>
        <p:cNvPr id="1" name=""/>
        <p:cNvGrpSpPr/>
        <p:nvPr/>
      </p:nvGrpSpPr>
      <p:grpSpPr>
        <a:xfrm>
          <a:off x="0" y="0"/>
          <a:ext cx="0" cy="0"/>
          <a:chOff x="0" y="0"/>
          <a:chExt cx="0" cy="0"/>
        </a:xfrm>
      </p:grpSpPr>
      <p:sp>
        <p:nvSpPr>
          <p:cNvPr id="2" name="Text 0"/>
          <p:cNvSpPr/>
          <p:nvPr/>
        </p:nvSpPr>
        <p:spPr>
          <a:xfrm>
            <a:off x="365760" y="256032"/>
            <a:ext cx="1828800" cy="274320"/>
          </a:xfrm>
          <a:prstGeom prst="rect">
            <a:avLst/>
          </a:prstGeom>
          <a:noFill/>
          <a:ln/>
        </p:spPr>
        <p:txBody>
          <a:bodyPr wrap="square" lIns="0" tIns="0" rIns="0" bIns="0" rtlCol="0" anchor="t"/>
          <a:lstStyle/>
          <a:p>
            <a:pPr indent="0" marL="0">
              <a:buNone/>
            </a:pPr>
            <a:r>
              <a:rPr lang="en-US" sz="1300" dirty="0">
                <a:solidFill>
                  <a:srgbClr val="243B53"/>
                </a:solidFill>
                <a:latin typeface="Comic Sans MS" pitchFamily="34" charset="0"/>
                <a:ea typeface="Comic Sans MS" pitchFamily="34" charset="-122"/>
                <a:cs typeface="Comic Sans MS" pitchFamily="34" charset="-120"/>
              </a:rPr>
              <a:t>AstroNex</a:t>
            </a:r>
            <a:endParaRPr lang="en-US" sz="1300" dirty="0"/>
          </a:p>
        </p:txBody>
      </p:sp>
      <p:sp>
        <p:nvSpPr>
          <p:cNvPr id="3" name="Text 1"/>
          <p:cNvSpPr/>
          <p:nvPr/>
        </p:nvSpPr>
        <p:spPr>
          <a:xfrm>
            <a:off x="2194560" y="128016"/>
            <a:ext cx="7799832" cy="566928"/>
          </a:xfrm>
          <a:prstGeom prst="rect">
            <a:avLst/>
          </a:prstGeom>
          <a:noFill/>
          <a:ln/>
        </p:spPr>
        <p:txBody>
          <a:bodyPr wrap="square" lIns="0" tIns="0" rIns="0" bIns="0" rtlCol="0" anchor="ctr"/>
          <a:lstStyle/>
          <a:p>
            <a:pPr algn="ctr" indent="0" marL="0">
              <a:buNone/>
            </a:pPr>
            <a:r>
              <a:rPr lang="en-US" sz="3200" b="1" dirty="0">
                <a:solidFill>
                  <a:srgbClr val="243B53"/>
                </a:solidFill>
                <a:latin typeface="Comic Sans MS" pitchFamily="34" charset="0"/>
                <a:ea typeface="Comic Sans MS" pitchFamily="34" charset="-122"/>
                <a:cs typeface="Comic Sans MS" pitchFamily="34" charset="-120"/>
              </a:rPr>
              <a:t>FEASIBILITY AND VIABILITY</a:t>
            </a:r>
            <a:endParaRPr lang="en-US" sz="3200" dirty="0"/>
          </a:p>
        </p:txBody>
      </p:sp>
      <p:sp>
        <p:nvSpPr>
          <p:cNvPr id="4" name="Text 2"/>
          <p:cNvSpPr/>
          <p:nvPr/>
        </p:nvSpPr>
        <p:spPr>
          <a:xfrm>
            <a:off x="2194560" y="694944"/>
            <a:ext cx="7799832" cy="274320"/>
          </a:xfrm>
          <a:prstGeom prst="rect">
            <a:avLst/>
          </a:prstGeom>
          <a:noFill/>
          <a:ln/>
        </p:spPr>
        <p:txBody>
          <a:bodyPr wrap="square" lIns="0" tIns="0" rIns="0" bIns="0" rtlCol="0" anchor="t"/>
          <a:lstStyle/>
          <a:p>
            <a:pPr algn="ctr" indent="0" marL="0">
              <a:buNone/>
            </a:pPr>
            <a:r>
              <a:rPr lang="en-US" sz="1400" i="1" dirty="0">
                <a:solidFill>
                  <a:srgbClr val="2F6B52"/>
                </a:solidFill>
                <a:latin typeface="Arial" pitchFamily="34" charset="0"/>
                <a:ea typeface="Arial" pitchFamily="34" charset="-122"/>
                <a:cs typeface="Arial" pitchFamily="34" charset="-120"/>
              </a:rPr>
              <a:t>Working replay prototype. A staged path to field deployment.</a:t>
            </a:r>
            <a:endParaRPr lang="en-US" sz="1400" dirty="0"/>
          </a:p>
        </p:txBody>
      </p:sp>
      <p:pic>
        <p:nvPicPr>
          <p:cNvPr id="5" name="Image 0" descr="assets/sih-2026-logo.png">    </p:cNvPr>
          <p:cNvPicPr>
            <a:picLocks noChangeAspect="1"/>
          </p:cNvPicPr>
          <p:nvPr/>
        </p:nvPicPr>
        <p:blipFill>
          <a:blip r:embed="rId1"/>
          <a:stretch>
            <a:fillRect/>
          </a:stretch>
        </p:blipFill>
        <p:spPr>
          <a:xfrm>
            <a:off x="10451592" y="146304"/>
            <a:ext cx="1371600" cy="637337"/>
          </a:xfrm>
          <a:prstGeom prst="rect">
            <a:avLst/>
          </a:prstGeom>
        </p:spPr>
      </p:pic>
      <p:sp>
        <p:nvSpPr>
          <p:cNvPr id="6" name="Shape 3"/>
          <p:cNvSpPr/>
          <p:nvPr/>
        </p:nvSpPr>
        <p:spPr>
          <a:xfrm>
            <a:off x="365760" y="1133856"/>
            <a:ext cx="1737360" cy="5193792"/>
          </a:xfrm>
          <a:prstGeom prst="roundRect">
            <a:avLst>
              <a:gd name="adj" fmla="val 6316"/>
            </a:avLst>
          </a:prstGeom>
          <a:solidFill>
            <a:srgbClr val="DCEEDB"/>
          </a:solidFill>
          <a:ln w="15875">
            <a:solidFill>
              <a:srgbClr val="243B53"/>
            </a:solidFill>
            <a:prstDash val="solid"/>
          </a:ln>
        </p:spPr>
      </p:sp>
      <p:sp>
        <p:nvSpPr>
          <p:cNvPr id="7" name="Shape 4"/>
          <p:cNvSpPr/>
          <p:nvPr/>
        </p:nvSpPr>
        <p:spPr>
          <a:xfrm>
            <a:off x="960120" y="1280160"/>
            <a:ext cx="548640" cy="548640"/>
          </a:xfrm>
          <a:prstGeom prst="ellipse">
            <a:avLst/>
          </a:prstGeom>
          <a:solidFill>
            <a:srgbClr val="FFFFFF"/>
          </a:solidFill>
          <a:ln w="15875">
            <a:solidFill>
              <a:srgbClr val="2F6B52"/>
            </a:solidFill>
            <a:prstDash val="solid"/>
          </a:ln>
        </p:spPr>
      </p:sp>
      <p:pic>
        <p:nvPicPr>
          <p:cNvPr id="8" name="Image 1" descr="assets/icons/badge-check.png">    </p:cNvPr>
          <p:cNvPicPr>
            <a:picLocks noChangeAspect="1"/>
          </p:cNvPicPr>
          <p:nvPr/>
        </p:nvPicPr>
        <p:blipFill>
          <a:blip r:embed="rId2"/>
          <a:stretch>
            <a:fillRect/>
          </a:stretch>
        </p:blipFill>
        <p:spPr>
          <a:xfrm>
            <a:off x="1080821" y="1400861"/>
            <a:ext cx="307238" cy="307238"/>
          </a:xfrm>
          <a:prstGeom prst="rect">
            <a:avLst/>
          </a:prstGeom>
        </p:spPr>
      </p:pic>
      <p:sp>
        <p:nvSpPr>
          <p:cNvPr id="9" name="Text 5"/>
          <p:cNvSpPr/>
          <p:nvPr/>
        </p:nvSpPr>
        <p:spPr>
          <a:xfrm>
            <a:off x="457200" y="1883664"/>
            <a:ext cx="1554480" cy="457200"/>
          </a:xfrm>
          <a:prstGeom prst="rect">
            <a:avLst/>
          </a:prstGeom>
          <a:noFill/>
          <a:ln/>
        </p:spPr>
        <p:txBody>
          <a:bodyPr wrap="square" lIns="0" tIns="0" rIns="0" bIns="0" rtlCol="0" anchor="ctr"/>
          <a:lstStyle/>
          <a:p>
            <a:pPr algn="ctr" indent="0" marL="0">
              <a:buNone/>
            </a:pPr>
            <a:r>
              <a:rPr lang="en-US" sz="1300" b="1" dirty="0">
                <a:solidFill>
                  <a:srgbClr val="243B53"/>
                </a:solidFill>
                <a:latin typeface="Arial" pitchFamily="34" charset="0"/>
                <a:ea typeface="Arial" pitchFamily="34" charset="-122"/>
                <a:cs typeface="Arial" pitchFamily="34" charset="-120"/>
              </a:rPr>
              <a:t>Technical Feasibility</a:t>
            </a:r>
            <a:endParaRPr lang="en-US" sz="1300" dirty="0"/>
          </a:p>
        </p:txBody>
      </p:sp>
      <p:sp>
        <p:nvSpPr>
          <p:cNvPr id="10" name="Text 6"/>
          <p:cNvSpPr/>
          <p:nvPr/>
        </p:nvSpPr>
        <p:spPr>
          <a:xfrm>
            <a:off x="493776" y="2377440"/>
            <a:ext cx="1481328" cy="603504"/>
          </a:xfrm>
          <a:prstGeom prst="rect">
            <a:avLst/>
          </a:prstGeom>
          <a:noFill/>
          <a:ln/>
        </p:spPr>
        <p:txBody>
          <a:bodyPr wrap="square" lIns="0" tIns="0" rIns="0" bIns="0" rtlCol="0" anchor="t"/>
          <a:lstStyle/>
          <a:p>
            <a:pPr algn="ctr" indent="0" marL="0">
              <a:buNone/>
            </a:pPr>
            <a:r>
              <a:rPr lang="en-US" sz="1050" b="1" dirty="0">
                <a:solidFill>
                  <a:srgbClr val="2F6B52"/>
                </a:solidFill>
                <a:latin typeface="Arial" pitchFamily="34" charset="0"/>
                <a:ea typeface="Arial" pitchFamily="34" charset="-122"/>
                <a:cs typeface="Arial" pitchFamily="34" charset="-120"/>
              </a:rPr>
              <a:t>Every stage already runs end to end on real LiDAR data.</a:t>
            </a:r>
            <a:endParaRPr lang="en-US" sz="1050" dirty="0"/>
          </a:p>
        </p:txBody>
      </p:sp>
      <p:sp>
        <p:nvSpPr>
          <p:cNvPr id="11" name="Shape 7"/>
          <p:cNvSpPr/>
          <p:nvPr/>
        </p:nvSpPr>
        <p:spPr>
          <a:xfrm>
            <a:off x="640080" y="3054096"/>
            <a:ext cx="1188720" cy="0"/>
          </a:xfrm>
          <a:prstGeom prst="line">
            <a:avLst/>
          </a:prstGeom>
          <a:noFill/>
          <a:ln w="9525">
            <a:solidFill>
              <a:srgbClr val="2F6B52"/>
            </a:solidFill>
            <a:prstDash val="dash"/>
          </a:ln>
        </p:spPr>
      </p:sp>
      <p:sp>
        <p:nvSpPr>
          <p:cNvPr id="12" name="Shape 8"/>
          <p:cNvSpPr/>
          <p:nvPr/>
        </p:nvSpPr>
        <p:spPr>
          <a:xfrm>
            <a:off x="493776" y="3182112"/>
            <a:ext cx="786384" cy="201168"/>
          </a:xfrm>
          <a:prstGeom prst="roundRect">
            <a:avLst>
              <a:gd name="adj" fmla="val 27273"/>
            </a:avLst>
          </a:prstGeom>
          <a:solidFill>
            <a:srgbClr val="2F6B52"/>
          </a:solidFill>
          <a:ln w="12700">
            <a:solidFill>
              <a:srgbClr val="2F6B52"/>
            </a:solidFill>
            <a:prstDash val="solid"/>
          </a:ln>
        </p:spPr>
      </p:sp>
      <p:sp>
        <p:nvSpPr>
          <p:cNvPr id="13" name="Text 9"/>
          <p:cNvSpPr/>
          <p:nvPr/>
        </p:nvSpPr>
        <p:spPr>
          <a:xfrm>
            <a:off x="493776" y="3182112"/>
            <a:ext cx="786384" cy="20116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PROVEN</a:t>
            </a:r>
            <a:endParaRPr lang="en-US" sz="800" dirty="0"/>
          </a:p>
        </p:txBody>
      </p:sp>
      <p:sp>
        <p:nvSpPr>
          <p:cNvPr id="14" name="Text 10"/>
          <p:cNvSpPr/>
          <p:nvPr/>
        </p:nvSpPr>
        <p:spPr>
          <a:xfrm>
            <a:off x="493776" y="3429000"/>
            <a:ext cx="1481328" cy="530352"/>
          </a:xfrm>
          <a:prstGeom prst="rect">
            <a:avLst/>
          </a:prstGeom>
          <a:noFill/>
          <a:ln/>
        </p:spPr>
        <p:txBody>
          <a:bodyPr wrap="square" lIns="0" tIns="0" rIns="0" bIns="0" rtlCol="0" anchor="t"/>
          <a:lstStyle/>
          <a:p>
            <a:pPr indent="0" marL="0">
              <a:buNone/>
            </a:pPr>
            <a:r>
              <a:rPr lang="en-US" sz="1000" dirty="0">
                <a:solidFill>
                  <a:srgbClr val="2E3A48"/>
                </a:solidFill>
                <a:latin typeface="Arial" pitchFamily="34" charset="0"/>
                <a:ea typeface="Arial" pitchFamily="34" charset="-122"/>
                <a:cs typeface="Arial" pitchFamily="34" charset="-120"/>
              </a:rPr>
              <a:t>Patchwork++ and FRNet are published, open and integrated.</a:t>
            </a:r>
            <a:endParaRPr lang="en-US" sz="1000" dirty="0"/>
          </a:p>
        </p:txBody>
      </p:sp>
      <p:sp>
        <p:nvSpPr>
          <p:cNvPr id="15" name="Shape 11"/>
          <p:cNvSpPr/>
          <p:nvPr/>
        </p:nvSpPr>
        <p:spPr>
          <a:xfrm>
            <a:off x="475488" y="5212080"/>
            <a:ext cx="1517904" cy="987552"/>
          </a:xfrm>
          <a:prstGeom prst="roundRect">
            <a:avLst>
              <a:gd name="adj" fmla="val 7407"/>
            </a:avLst>
          </a:prstGeom>
          <a:solidFill>
            <a:srgbClr val="FFFFFF"/>
          </a:solidFill>
          <a:ln w="12700">
            <a:solidFill>
              <a:srgbClr val="2F6B52"/>
            </a:solidFill>
            <a:prstDash val="solid"/>
          </a:ln>
        </p:spPr>
      </p:sp>
      <p:sp>
        <p:nvSpPr>
          <p:cNvPr id="16" name="Text 12"/>
          <p:cNvSpPr/>
          <p:nvPr/>
        </p:nvSpPr>
        <p:spPr>
          <a:xfrm>
            <a:off x="475488" y="5285232"/>
            <a:ext cx="1517904" cy="384048"/>
          </a:xfrm>
          <a:prstGeom prst="rect">
            <a:avLst/>
          </a:prstGeom>
          <a:noFill/>
          <a:ln/>
        </p:spPr>
        <p:txBody>
          <a:bodyPr wrap="square" lIns="0" tIns="0" rIns="0" bIns="0" rtlCol="0" anchor="ctr"/>
          <a:lstStyle/>
          <a:p>
            <a:pPr algn="ctr" indent="0" marL="0">
              <a:buNone/>
            </a:pPr>
            <a:r>
              <a:rPr lang="en-US" sz="2200" b="1" dirty="0">
                <a:solidFill>
                  <a:srgbClr val="2F6B52"/>
                </a:solidFill>
                <a:latin typeface="Arial" pitchFamily="34" charset="0"/>
                <a:ea typeface="Arial" pitchFamily="34" charset="-122"/>
                <a:cs typeface="Arial" pitchFamily="34" charset="-120"/>
              </a:rPr>
              <a:t>67.55%</a:t>
            </a:r>
            <a:endParaRPr lang="en-US" sz="2200" dirty="0"/>
          </a:p>
        </p:txBody>
      </p:sp>
      <p:sp>
        <p:nvSpPr>
          <p:cNvPr id="17" name="Text 13"/>
          <p:cNvSpPr/>
          <p:nvPr/>
        </p:nvSpPr>
        <p:spPr>
          <a:xfrm>
            <a:off x="548640" y="5669280"/>
            <a:ext cx="1371600" cy="475488"/>
          </a:xfrm>
          <a:prstGeom prst="rect">
            <a:avLst/>
          </a:prstGeom>
          <a:noFill/>
          <a:ln/>
        </p:spPr>
        <p:txBody>
          <a:bodyPr wrap="square" lIns="0" tIns="0" rIns="0" bIns="0" rtlCol="0" anchor="t"/>
          <a:lstStyle/>
          <a:p>
            <a:pPr algn="ctr" indent="0" marL="0">
              <a:buNone/>
            </a:pPr>
            <a:r>
              <a:rPr lang="en-US" sz="850" dirty="0">
                <a:solidFill>
                  <a:srgbClr val="4A5563"/>
                </a:solidFill>
                <a:latin typeface="Arial" pitchFamily="34" charset="0"/>
                <a:ea typeface="Arial" pitchFamily="34" charset="-122"/>
                <a:cs typeface="Arial" pitchFamily="34" charset="-120"/>
              </a:rPr>
              <a:t>mIoU on 4,071 held-out scans (authors report 68.7%)</a:t>
            </a:r>
            <a:endParaRPr lang="en-US" sz="850" dirty="0"/>
          </a:p>
        </p:txBody>
      </p:sp>
      <p:sp>
        <p:nvSpPr>
          <p:cNvPr id="18" name="Shape 14"/>
          <p:cNvSpPr/>
          <p:nvPr/>
        </p:nvSpPr>
        <p:spPr>
          <a:xfrm>
            <a:off x="2240280" y="1133856"/>
            <a:ext cx="1737360" cy="5193792"/>
          </a:xfrm>
          <a:prstGeom prst="roundRect">
            <a:avLst>
              <a:gd name="adj" fmla="val 6316"/>
            </a:avLst>
          </a:prstGeom>
          <a:solidFill>
            <a:srgbClr val="DCEEDB"/>
          </a:solidFill>
          <a:ln w="15875">
            <a:solidFill>
              <a:srgbClr val="243B53"/>
            </a:solidFill>
            <a:prstDash val="solid"/>
          </a:ln>
        </p:spPr>
      </p:sp>
      <p:sp>
        <p:nvSpPr>
          <p:cNvPr id="19" name="Shape 15"/>
          <p:cNvSpPr/>
          <p:nvPr/>
        </p:nvSpPr>
        <p:spPr>
          <a:xfrm>
            <a:off x="2834640" y="1280160"/>
            <a:ext cx="548640" cy="548640"/>
          </a:xfrm>
          <a:prstGeom prst="ellipse">
            <a:avLst/>
          </a:prstGeom>
          <a:solidFill>
            <a:srgbClr val="FFFFFF"/>
          </a:solidFill>
          <a:ln w="15875">
            <a:solidFill>
              <a:srgbClr val="2F6B52"/>
            </a:solidFill>
            <a:prstDash val="solid"/>
          </a:ln>
        </p:spPr>
      </p:sp>
      <p:pic>
        <p:nvPicPr>
          <p:cNvPr id="20" name="Image 2" descr="assets/icons/wifi-off.png">    </p:cNvPr>
          <p:cNvPicPr>
            <a:picLocks noChangeAspect="1"/>
          </p:cNvPicPr>
          <p:nvPr/>
        </p:nvPicPr>
        <p:blipFill>
          <a:blip r:embed="rId3"/>
          <a:stretch>
            <a:fillRect/>
          </a:stretch>
        </p:blipFill>
        <p:spPr>
          <a:xfrm>
            <a:off x="2955341" y="1400861"/>
            <a:ext cx="307238" cy="307238"/>
          </a:xfrm>
          <a:prstGeom prst="rect">
            <a:avLst/>
          </a:prstGeom>
        </p:spPr>
      </p:pic>
      <p:sp>
        <p:nvSpPr>
          <p:cNvPr id="21" name="Text 16"/>
          <p:cNvSpPr/>
          <p:nvPr/>
        </p:nvSpPr>
        <p:spPr>
          <a:xfrm>
            <a:off x="2331720" y="1883664"/>
            <a:ext cx="1554480" cy="457200"/>
          </a:xfrm>
          <a:prstGeom prst="rect">
            <a:avLst/>
          </a:prstGeom>
          <a:noFill/>
          <a:ln/>
        </p:spPr>
        <p:txBody>
          <a:bodyPr wrap="square" lIns="0" tIns="0" rIns="0" bIns="0" rtlCol="0" anchor="ctr"/>
          <a:lstStyle/>
          <a:p>
            <a:pPr algn="ctr" indent="0" marL="0">
              <a:buNone/>
            </a:pPr>
            <a:r>
              <a:rPr lang="en-US" sz="1300" b="1" dirty="0">
                <a:solidFill>
                  <a:srgbClr val="243B53"/>
                </a:solidFill>
                <a:latin typeface="Arial" pitchFamily="34" charset="0"/>
                <a:ea typeface="Arial" pitchFamily="34" charset="-122"/>
                <a:cs typeface="Arial" pitchFamily="34" charset="-120"/>
              </a:rPr>
              <a:t>Operational Feasibility</a:t>
            </a:r>
            <a:endParaRPr lang="en-US" sz="1300" dirty="0"/>
          </a:p>
        </p:txBody>
      </p:sp>
      <p:sp>
        <p:nvSpPr>
          <p:cNvPr id="22" name="Text 17"/>
          <p:cNvSpPr/>
          <p:nvPr/>
        </p:nvSpPr>
        <p:spPr>
          <a:xfrm>
            <a:off x="2368296" y="2377440"/>
            <a:ext cx="1481328" cy="603504"/>
          </a:xfrm>
          <a:prstGeom prst="rect">
            <a:avLst/>
          </a:prstGeom>
          <a:noFill/>
          <a:ln/>
        </p:spPr>
        <p:txBody>
          <a:bodyPr wrap="square" lIns="0" tIns="0" rIns="0" bIns="0" rtlCol="0" anchor="t"/>
          <a:lstStyle/>
          <a:p>
            <a:pPr algn="ctr" indent="0" marL="0">
              <a:buNone/>
            </a:pPr>
            <a:r>
              <a:rPr lang="en-US" sz="1050" b="1" dirty="0">
                <a:solidFill>
                  <a:srgbClr val="2F6B52"/>
                </a:solidFill>
                <a:latin typeface="Arial" pitchFamily="34" charset="0"/>
                <a:ea typeface="Arial" pitchFamily="34" charset="-122"/>
                <a:cs typeface="Arial" pitchFamily="34" charset="-120"/>
              </a:rPr>
              <a:t>Runs fully offline on the vehicle's own computer.</a:t>
            </a:r>
            <a:endParaRPr lang="en-US" sz="1050" dirty="0"/>
          </a:p>
        </p:txBody>
      </p:sp>
      <p:sp>
        <p:nvSpPr>
          <p:cNvPr id="23" name="Shape 18"/>
          <p:cNvSpPr/>
          <p:nvPr/>
        </p:nvSpPr>
        <p:spPr>
          <a:xfrm>
            <a:off x="2514600" y="3054096"/>
            <a:ext cx="1188720" cy="0"/>
          </a:xfrm>
          <a:prstGeom prst="line">
            <a:avLst/>
          </a:prstGeom>
          <a:noFill/>
          <a:ln w="9525">
            <a:solidFill>
              <a:srgbClr val="2F6B52"/>
            </a:solidFill>
            <a:prstDash val="dash"/>
          </a:ln>
        </p:spPr>
      </p:sp>
      <p:sp>
        <p:nvSpPr>
          <p:cNvPr id="24" name="Shape 19"/>
          <p:cNvSpPr/>
          <p:nvPr/>
        </p:nvSpPr>
        <p:spPr>
          <a:xfrm>
            <a:off x="2368296" y="3182112"/>
            <a:ext cx="786384" cy="201168"/>
          </a:xfrm>
          <a:prstGeom prst="roundRect">
            <a:avLst>
              <a:gd name="adj" fmla="val 27273"/>
            </a:avLst>
          </a:prstGeom>
          <a:solidFill>
            <a:srgbClr val="2F6B52"/>
          </a:solidFill>
          <a:ln w="12700">
            <a:solidFill>
              <a:srgbClr val="2F6B52"/>
            </a:solidFill>
            <a:prstDash val="solid"/>
          </a:ln>
        </p:spPr>
      </p:sp>
      <p:sp>
        <p:nvSpPr>
          <p:cNvPr id="25" name="Text 20"/>
          <p:cNvSpPr/>
          <p:nvPr/>
        </p:nvSpPr>
        <p:spPr>
          <a:xfrm>
            <a:off x="2368296" y="3182112"/>
            <a:ext cx="786384" cy="20116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PROVEN</a:t>
            </a:r>
            <a:endParaRPr lang="en-US" sz="800" dirty="0"/>
          </a:p>
        </p:txBody>
      </p:sp>
      <p:sp>
        <p:nvSpPr>
          <p:cNvPr id="26" name="Text 21"/>
          <p:cNvSpPr/>
          <p:nvPr/>
        </p:nvSpPr>
        <p:spPr>
          <a:xfrm>
            <a:off x="2368296" y="3429000"/>
            <a:ext cx="1481328" cy="530352"/>
          </a:xfrm>
          <a:prstGeom prst="rect">
            <a:avLst/>
          </a:prstGeom>
          <a:noFill/>
          <a:ln/>
        </p:spPr>
        <p:txBody>
          <a:bodyPr wrap="square" lIns="0" tIns="0" rIns="0" bIns="0" rtlCol="0" anchor="t"/>
          <a:lstStyle/>
          <a:p>
            <a:pPr indent="0" marL="0">
              <a:buNone/>
            </a:pPr>
            <a:r>
              <a:rPr lang="en-US" sz="1000" dirty="0">
                <a:solidFill>
                  <a:srgbClr val="2E3A48"/>
                </a:solidFill>
                <a:latin typeface="Arial" pitchFamily="34" charset="0"/>
                <a:ea typeface="Arial" pitchFamily="34" charset="-122"/>
                <a:cs typeface="Arial" pitchFamily="34" charset="-120"/>
              </a:rPr>
              <a:t>No cloud or network needed at runtime.</a:t>
            </a:r>
            <a:endParaRPr lang="en-US" sz="1000" dirty="0"/>
          </a:p>
        </p:txBody>
      </p:sp>
      <p:sp>
        <p:nvSpPr>
          <p:cNvPr id="27" name="Shape 22"/>
          <p:cNvSpPr/>
          <p:nvPr/>
        </p:nvSpPr>
        <p:spPr>
          <a:xfrm>
            <a:off x="2368296" y="4005072"/>
            <a:ext cx="786384" cy="201168"/>
          </a:xfrm>
          <a:prstGeom prst="roundRect">
            <a:avLst>
              <a:gd name="adj" fmla="val 27273"/>
            </a:avLst>
          </a:prstGeom>
          <a:solidFill>
            <a:srgbClr val="FBE0C3"/>
          </a:solidFill>
          <a:ln w="12700">
            <a:solidFill>
              <a:srgbClr val="C8742F"/>
            </a:solidFill>
            <a:prstDash val="solid"/>
          </a:ln>
        </p:spPr>
      </p:sp>
      <p:sp>
        <p:nvSpPr>
          <p:cNvPr id="28" name="Text 23"/>
          <p:cNvSpPr/>
          <p:nvPr/>
        </p:nvSpPr>
        <p:spPr>
          <a:xfrm>
            <a:off x="2368296" y="4005072"/>
            <a:ext cx="786384" cy="201168"/>
          </a:xfrm>
          <a:prstGeom prst="rect">
            <a:avLst/>
          </a:prstGeom>
          <a:noFill/>
          <a:ln/>
        </p:spPr>
        <p:txBody>
          <a:bodyPr wrap="square" lIns="0" tIns="0" rIns="0" bIns="0" rtlCol="0" anchor="ctr"/>
          <a:lstStyle/>
          <a:p>
            <a:pPr algn="ctr" indent="0" marL="0">
              <a:buNone/>
            </a:pPr>
            <a:r>
              <a:rPr lang="en-US" sz="800" b="1" spc="100" kern="0" dirty="0">
                <a:solidFill>
                  <a:srgbClr val="6E3408"/>
                </a:solidFill>
                <a:latin typeface="Arial" pitchFamily="34" charset="0"/>
                <a:ea typeface="Arial" pitchFamily="34" charset="-122"/>
                <a:cs typeface="Arial" pitchFamily="34" charset="-120"/>
              </a:rPr>
              <a:t>TEST</a:t>
            </a:r>
            <a:endParaRPr lang="en-US" sz="800" dirty="0"/>
          </a:p>
        </p:txBody>
      </p:sp>
      <p:sp>
        <p:nvSpPr>
          <p:cNvPr id="29" name="Text 24"/>
          <p:cNvSpPr/>
          <p:nvPr/>
        </p:nvSpPr>
        <p:spPr>
          <a:xfrm>
            <a:off x="2368296" y="4251960"/>
            <a:ext cx="1481328" cy="530352"/>
          </a:xfrm>
          <a:prstGeom prst="rect">
            <a:avLst/>
          </a:prstGeom>
          <a:noFill/>
          <a:ln/>
        </p:spPr>
        <p:txBody>
          <a:bodyPr wrap="square" lIns="0" tIns="0" rIns="0" bIns="0" rtlCol="0" anchor="t"/>
          <a:lstStyle/>
          <a:p>
            <a:pPr indent="0" marL="0">
              <a:buNone/>
            </a:pPr>
            <a:r>
              <a:rPr lang="en-US" sz="1000" dirty="0">
                <a:solidFill>
                  <a:srgbClr val="2E3A48"/>
                </a:solidFill>
                <a:latin typeface="Arial" pitchFamily="34" charset="0"/>
                <a:ea typeface="Arial" pitchFamily="34" charset="-122"/>
                <a:cs typeface="Arial" pitchFamily="34" charset="-120"/>
              </a:rPr>
              <a:t>Dust, rain, off-road terrain, live sensor, calibration.</a:t>
            </a:r>
            <a:endParaRPr lang="en-US" sz="1000" dirty="0"/>
          </a:p>
        </p:txBody>
      </p:sp>
      <p:sp>
        <p:nvSpPr>
          <p:cNvPr id="30" name="Shape 25"/>
          <p:cNvSpPr/>
          <p:nvPr/>
        </p:nvSpPr>
        <p:spPr>
          <a:xfrm>
            <a:off x="2350008" y="5212080"/>
            <a:ext cx="1517904" cy="987552"/>
          </a:xfrm>
          <a:prstGeom prst="roundRect">
            <a:avLst>
              <a:gd name="adj" fmla="val 7407"/>
            </a:avLst>
          </a:prstGeom>
          <a:solidFill>
            <a:srgbClr val="FFFFFF"/>
          </a:solidFill>
          <a:ln w="12700">
            <a:solidFill>
              <a:srgbClr val="2F6B52"/>
            </a:solidFill>
            <a:prstDash val="solid"/>
          </a:ln>
        </p:spPr>
      </p:sp>
      <p:sp>
        <p:nvSpPr>
          <p:cNvPr id="31" name="Text 26"/>
          <p:cNvSpPr/>
          <p:nvPr/>
        </p:nvSpPr>
        <p:spPr>
          <a:xfrm>
            <a:off x="2350008" y="5285232"/>
            <a:ext cx="1517904" cy="384048"/>
          </a:xfrm>
          <a:prstGeom prst="rect">
            <a:avLst/>
          </a:prstGeom>
          <a:noFill/>
          <a:ln/>
        </p:spPr>
        <p:txBody>
          <a:bodyPr wrap="square" lIns="0" tIns="0" rIns="0" bIns="0" rtlCol="0" anchor="ctr"/>
          <a:lstStyle/>
          <a:p>
            <a:pPr algn="ctr" indent="0" marL="0">
              <a:buNone/>
            </a:pPr>
            <a:r>
              <a:rPr lang="en-US" sz="2200" b="1" dirty="0">
                <a:solidFill>
                  <a:srgbClr val="2F6B52"/>
                </a:solidFill>
                <a:latin typeface="Arial" pitchFamily="34" charset="0"/>
                <a:ea typeface="Arial" pitchFamily="34" charset="-122"/>
                <a:cs typeface="Arial" pitchFamily="34" charset="-120"/>
              </a:rPr>
              <a:t>69.1%</a:t>
            </a:r>
            <a:endParaRPr lang="en-US" sz="2200" dirty="0"/>
          </a:p>
        </p:txBody>
      </p:sp>
      <p:sp>
        <p:nvSpPr>
          <p:cNvPr id="32" name="Text 27"/>
          <p:cNvSpPr/>
          <p:nvPr/>
        </p:nvSpPr>
        <p:spPr>
          <a:xfrm>
            <a:off x="2423160" y="5669280"/>
            <a:ext cx="1371600" cy="475488"/>
          </a:xfrm>
          <a:prstGeom prst="rect">
            <a:avLst/>
          </a:prstGeom>
          <a:noFill/>
          <a:ln/>
        </p:spPr>
        <p:txBody>
          <a:bodyPr wrap="square" lIns="0" tIns="0" rIns="0" bIns="0" rtlCol="0" anchor="t"/>
          <a:lstStyle/>
          <a:p>
            <a:pPr algn="ctr" indent="0" marL="0">
              <a:buNone/>
            </a:pPr>
            <a:r>
              <a:rPr lang="en-US" sz="850" dirty="0">
                <a:solidFill>
                  <a:srgbClr val="4A5563"/>
                </a:solidFill>
                <a:latin typeface="Arial" pitchFamily="34" charset="0"/>
                <a:ea typeface="Arial" pitchFamily="34" charset="-122"/>
                <a:cs typeface="Arial" pitchFamily="34" charset="-120"/>
              </a:rPr>
              <a:t>mIoU within 20 m; 15.7% beyond 50 m</a:t>
            </a:r>
            <a:endParaRPr lang="en-US" sz="850" dirty="0"/>
          </a:p>
        </p:txBody>
      </p:sp>
      <p:sp>
        <p:nvSpPr>
          <p:cNvPr id="33" name="Shape 28"/>
          <p:cNvSpPr/>
          <p:nvPr/>
        </p:nvSpPr>
        <p:spPr>
          <a:xfrm>
            <a:off x="4114800" y="1133856"/>
            <a:ext cx="1737360" cy="5193792"/>
          </a:xfrm>
          <a:prstGeom prst="roundRect">
            <a:avLst>
              <a:gd name="adj" fmla="val 6316"/>
            </a:avLst>
          </a:prstGeom>
          <a:solidFill>
            <a:srgbClr val="DCEEDB"/>
          </a:solidFill>
          <a:ln w="15875">
            <a:solidFill>
              <a:srgbClr val="243B53"/>
            </a:solidFill>
            <a:prstDash val="solid"/>
          </a:ln>
        </p:spPr>
      </p:sp>
      <p:sp>
        <p:nvSpPr>
          <p:cNvPr id="34" name="Shape 29"/>
          <p:cNvSpPr/>
          <p:nvPr/>
        </p:nvSpPr>
        <p:spPr>
          <a:xfrm>
            <a:off x="4709160" y="1280160"/>
            <a:ext cx="548640" cy="548640"/>
          </a:xfrm>
          <a:prstGeom prst="ellipse">
            <a:avLst/>
          </a:prstGeom>
          <a:solidFill>
            <a:srgbClr val="FFFFFF"/>
          </a:solidFill>
          <a:ln w="15875">
            <a:solidFill>
              <a:srgbClr val="2F6B52"/>
            </a:solidFill>
            <a:prstDash val="solid"/>
          </a:ln>
        </p:spPr>
      </p:sp>
      <p:pic>
        <p:nvPicPr>
          <p:cNvPr id="35" name="Image 3" descr="assets/icons/laptop.png">    </p:cNvPr>
          <p:cNvPicPr>
            <a:picLocks noChangeAspect="1"/>
          </p:cNvPicPr>
          <p:nvPr/>
        </p:nvPicPr>
        <p:blipFill>
          <a:blip r:embed="rId4"/>
          <a:stretch>
            <a:fillRect/>
          </a:stretch>
        </p:blipFill>
        <p:spPr>
          <a:xfrm>
            <a:off x="4829861" y="1400861"/>
            <a:ext cx="307238" cy="307238"/>
          </a:xfrm>
          <a:prstGeom prst="rect">
            <a:avLst/>
          </a:prstGeom>
        </p:spPr>
      </p:pic>
      <p:sp>
        <p:nvSpPr>
          <p:cNvPr id="36" name="Text 30"/>
          <p:cNvSpPr/>
          <p:nvPr/>
        </p:nvSpPr>
        <p:spPr>
          <a:xfrm>
            <a:off x="4206240" y="1883664"/>
            <a:ext cx="1554480" cy="457200"/>
          </a:xfrm>
          <a:prstGeom prst="rect">
            <a:avLst/>
          </a:prstGeom>
          <a:noFill/>
          <a:ln/>
        </p:spPr>
        <p:txBody>
          <a:bodyPr wrap="square" lIns="0" tIns="0" rIns="0" bIns="0" rtlCol="0" anchor="ctr"/>
          <a:lstStyle/>
          <a:p>
            <a:pPr algn="ctr" indent="0" marL="0">
              <a:buNone/>
            </a:pPr>
            <a:r>
              <a:rPr lang="en-US" sz="1300" b="1" dirty="0">
                <a:solidFill>
                  <a:srgbClr val="243B53"/>
                </a:solidFill>
                <a:latin typeface="Arial" pitchFamily="34" charset="0"/>
                <a:ea typeface="Arial" pitchFamily="34" charset="-122"/>
                <a:cs typeface="Arial" pitchFamily="34" charset="-120"/>
              </a:rPr>
              <a:t>Economic Viability</a:t>
            </a:r>
            <a:endParaRPr lang="en-US" sz="1300" dirty="0"/>
          </a:p>
        </p:txBody>
      </p:sp>
      <p:sp>
        <p:nvSpPr>
          <p:cNvPr id="37" name="Text 31"/>
          <p:cNvSpPr/>
          <p:nvPr/>
        </p:nvSpPr>
        <p:spPr>
          <a:xfrm>
            <a:off x="4242816" y="2377440"/>
            <a:ext cx="1481328" cy="603504"/>
          </a:xfrm>
          <a:prstGeom prst="rect">
            <a:avLst/>
          </a:prstGeom>
          <a:noFill/>
          <a:ln/>
        </p:spPr>
        <p:txBody>
          <a:bodyPr wrap="square" lIns="0" tIns="0" rIns="0" bIns="0" rtlCol="0" anchor="t"/>
          <a:lstStyle/>
          <a:p>
            <a:pPr algn="ctr" indent="0" marL="0">
              <a:buNone/>
            </a:pPr>
            <a:r>
              <a:rPr lang="en-US" sz="1050" b="1" dirty="0">
                <a:solidFill>
                  <a:srgbClr val="2F6B52"/>
                </a:solidFill>
                <a:latin typeface="Arial" pitchFamily="34" charset="0"/>
                <a:ea typeface="Arial" pitchFamily="34" charset="-122"/>
                <a:cs typeface="Arial" pitchFamily="34" charset="-120"/>
              </a:rPr>
              <a:t>Prototype needs a laptop and open software, not new rigs.</a:t>
            </a:r>
            <a:endParaRPr lang="en-US" sz="1050" dirty="0"/>
          </a:p>
        </p:txBody>
      </p:sp>
      <p:sp>
        <p:nvSpPr>
          <p:cNvPr id="38" name="Shape 32"/>
          <p:cNvSpPr/>
          <p:nvPr/>
        </p:nvSpPr>
        <p:spPr>
          <a:xfrm>
            <a:off x="4389120" y="3054096"/>
            <a:ext cx="1188720" cy="0"/>
          </a:xfrm>
          <a:prstGeom prst="line">
            <a:avLst/>
          </a:prstGeom>
          <a:noFill/>
          <a:ln w="9525">
            <a:solidFill>
              <a:srgbClr val="2F6B52"/>
            </a:solidFill>
            <a:prstDash val="dash"/>
          </a:ln>
        </p:spPr>
      </p:sp>
      <p:sp>
        <p:nvSpPr>
          <p:cNvPr id="39" name="Shape 33"/>
          <p:cNvSpPr/>
          <p:nvPr/>
        </p:nvSpPr>
        <p:spPr>
          <a:xfrm>
            <a:off x="4242816" y="3182112"/>
            <a:ext cx="786384" cy="201168"/>
          </a:xfrm>
          <a:prstGeom prst="roundRect">
            <a:avLst>
              <a:gd name="adj" fmla="val 27273"/>
            </a:avLst>
          </a:prstGeom>
          <a:solidFill>
            <a:srgbClr val="2F6B52"/>
          </a:solidFill>
          <a:ln w="12700">
            <a:solidFill>
              <a:srgbClr val="2F6B52"/>
            </a:solidFill>
            <a:prstDash val="solid"/>
          </a:ln>
        </p:spPr>
      </p:sp>
      <p:sp>
        <p:nvSpPr>
          <p:cNvPr id="40" name="Text 34"/>
          <p:cNvSpPr/>
          <p:nvPr/>
        </p:nvSpPr>
        <p:spPr>
          <a:xfrm>
            <a:off x="4242816" y="3182112"/>
            <a:ext cx="786384" cy="20116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PROVEN</a:t>
            </a:r>
            <a:endParaRPr lang="en-US" sz="800" dirty="0"/>
          </a:p>
        </p:txBody>
      </p:sp>
      <p:sp>
        <p:nvSpPr>
          <p:cNvPr id="41" name="Text 35"/>
          <p:cNvSpPr/>
          <p:nvPr/>
        </p:nvSpPr>
        <p:spPr>
          <a:xfrm>
            <a:off x="4242816" y="3429000"/>
            <a:ext cx="1481328" cy="530352"/>
          </a:xfrm>
          <a:prstGeom prst="rect">
            <a:avLst/>
          </a:prstGeom>
          <a:noFill/>
          <a:ln/>
        </p:spPr>
        <p:txBody>
          <a:bodyPr wrap="square" lIns="0" tIns="0" rIns="0" bIns="0" rtlCol="0" anchor="t"/>
          <a:lstStyle/>
          <a:p>
            <a:pPr indent="0" marL="0">
              <a:buNone/>
            </a:pPr>
            <a:r>
              <a:rPr lang="en-US" sz="1000" dirty="0">
                <a:solidFill>
                  <a:srgbClr val="2E3A48"/>
                </a:solidFill>
                <a:latin typeface="Arial" pitchFamily="34" charset="0"/>
                <a:ea typeface="Arial" pitchFamily="34" charset="-122"/>
                <a:cs typeface="Arial" pitchFamily="34" charset="-120"/>
              </a:rPr>
              <a:t>Open-source stack, public data, no paid APIs.</a:t>
            </a:r>
            <a:endParaRPr lang="en-US" sz="1000" dirty="0"/>
          </a:p>
        </p:txBody>
      </p:sp>
      <p:sp>
        <p:nvSpPr>
          <p:cNvPr id="42" name="Shape 36"/>
          <p:cNvSpPr/>
          <p:nvPr/>
        </p:nvSpPr>
        <p:spPr>
          <a:xfrm>
            <a:off x="4242816" y="4005072"/>
            <a:ext cx="786384" cy="201168"/>
          </a:xfrm>
          <a:prstGeom prst="roundRect">
            <a:avLst>
              <a:gd name="adj" fmla="val 27273"/>
            </a:avLst>
          </a:prstGeom>
          <a:solidFill>
            <a:srgbClr val="FBE0C3"/>
          </a:solidFill>
          <a:ln w="12700">
            <a:solidFill>
              <a:srgbClr val="C8742F"/>
            </a:solidFill>
            <a:prstDash val="solid"/>
          </a:ln>
        </p:spPr>
      </p:sp>
      <p:sp>
        <p:nvSpPr>
          <p:cNvPr id="43" name="Text 37"/>
          <p:cNvSpPr/>
          <p:nvPr/>
        </p:nvSpPr>
        <p:spPr>
          <a:xfrm>
            <a:off x="4242816" y="4005072"/>
            <a:ext cx="786384" cy="201168"/>
          </a:xfrm>
          <a:prstGeom prst="rect">
            <a:avLst/>
          </a:prstGeom>
          <a:noFill/>
          <a:ln/>
        </p:spPr>
        <p:txBody>
          <a:bodyPr wrap="square" lIns="0" tIns="0" rIns="0" bIns="0" rtlCol="0" anchor="ctr"/>
          <a:lstStyle/>
          <a:p>
            <a:pPr algn="ctr" indent="0" marL="0">
              <a:buNone/>
            </a:pPr>
            <a:r>
              <a:rPr lang="en-US" sz="800" b="1" spc="100" kern="0" dirty="0">
                <a:solidFill>
                  <a:srgbClr val="6E3408"/>
                </a:solidFill>
                <a:latin typeface="Arial" pitchFamily="34" charset="0"/>
                <a:ea typeface="Arial" pitchFamily="34" charset="-122"/>
                <a:cs typeface="Arial" pitchFamily="34" charset="-120"/>
              </a:rPr>
              <a:t>VALIDATE</a:t>
            </a:r>
            <a:endParaRPr lang="en-US" sz="800" dirty="0"/>
          </a:p>
        </p:txBody>
      </p:sp>
      <p:sp>
        <p:nvSpPr>
          <p:cNvPr id="44" name="Text 38"/>
          <p:cNvSpPr/>
          <p:nvPr/>
        </p:nvSpPr>
        <p:spPr>
          <a:xfrm>
            <a:off x="4242816" y="4251960"/>
            <a:ext cx="1481328" cy="530352"/>
          </a:xfrm>
          <a:prstGeom prst="rect">
            <a:avLst/>
          </a:prstGeom>
          <a:noFill/>
          <a:ln/>
        </p:spPr>
        <p:txBody>
          <a:bodyPr wrap="square" lIns="0" tIns="0" rIns="0" bIns="0" rtlCol="0" anchor="t"/>
          <a:lstStyle/>
          <a:p>
            <a:pPr indent="0" marL="0">
              <a:buNone/>
            </a:pPr>
            <a:r>
              <a:rPr lang="en-US" sz="1000" dirty="0">
                <a:solidFill>
                  <a:srgbClr val="2E3A48"/>
                </a:solidFill>
                <a:latin typeface="Arial" pitchFamily="34" charset="0"/>
                <a:ea typeface="Arial" pitchFamily="34" charset="-122"/>
                <a:cs typeface="Arial" pitchFamily="34" charset="-120"/>
              </a:rPr>
              <a:t>Vehicle GPU cost; dataset and model licences.</a:t>
            </a:r>
            <a:endParaRPr lang="en-US" sz="1000" dirty="0"/>
          </a:p>
        </p:txBody>
      </p:sp>
      <p:sp>
        <p:nvSpPr>
          <p:cNvPr id="45" name="Shape 39"/>
          <p:cNvSpPr/>
          <p:nvPr/>
        </p:nvSpPr>
        <p:spPr>
          <a:xfrm>
            <a:off x="4224528" y="5212080"/>
            <a:ext cx="1517904" cy="987552"/>
          </a:xfrm>
          <a:prstGeom prst="roundRect">
            <a:avLst>
              <a:gd name="adj" fmla="val 7407"/>
            </a:avLst>
          </a:prstGeom>
          <a:solidFill>
            <a:srgbClr val="FFFFFF"/>
          </a:solidFill>
          <a:ln w="12700">
            <a:solidFill>
              <a:srgbClr val="2F6B52"/>
            </a:solidFill>
            <a:prstDash val="solid"/>
          </a:ln>
        </p:spPr>
      </p:sp>
      <p:sp>
        <p:nvSpPr>
          <p:cNvPr id="46" name="Text 40"/>
          <p:cNvSpPr/>
          <p:nvPr/>
        </p:nvSpPr>
        <p:spPr>
          <a:xfrm>
            <a:off x="4224528" y="5285232"/>
            <a:ext cx="1517904" cy="384048"/>
          </a:xfrm>
          <a:prstGeom prst="rect">
            <a:avLst/>
          </a:prstGeom>
          <a:noFill/>
          <a:ln/>
        </p:spPr>
        <p:txBody>
          <a:bodyPr wrap="square" lIns="0" tIns="0" rIns="0" bIns="0" rtlCol="0" anchor="ctr"/>
          <a:lstStyle/>
          <a:p>
            <a:pPr algn="ctr" indent="0" marL="0">
              <a:buNone/>
            </a:pPr>
            <a:r>
              <a:rPr lang="en-US" sz="2200" b="1" dirty="0">
                <a:solidFill>
                  <a:srgbClr val="2F6B52"/>
                </a:solidFill>
                <a:latin typeface="Arial" pitchFamily="34" charset="0"/>
                <a:ea typeface="Arial" pitchFamily="34" charset="-122"/>
                <a:cs typeface="Arial" pitchFamily="34" charset="-120"/>
              </a:rPr>
              <a:t>33.6%</a:t>
            </a:r>
            <a:endParaRPr lang="en-US" sz="2200" dirty="0"/>
          </a:p>
        </p:txBody>
      </p:sp>
      <p:sp>
        <p:nvSpPr>
          <p:cNvPr id="47" name="Text 41"/>
          <p:cNvSpPr/>
          <p:nvPr/>
        </p:nvSpPr>
        <p:spPr>
          <a:xfrm>
            <a:off x="4297680" y="5669280"/>
            <a:ext cx="1371600" cy="475488"/>
          </a:xfrm>
          <a:prstGeom prst="rect">
            <a:avLst/>
          </a:prstGeom>
          <a:noFill/>
          <a:ln/>
        </p:spPr>
        <p:txBody>
          <a:bodyPr wrap="square" lIns="0" tIns="0" rIns="0" bIns="0" rtlCol="0" anchor="t"/>
          <a:lstStyle/>
          <a:p>
            <a:pPr algn="ctr" indent="0" marL="0">
              <a:buNone/>
            </a:pPr>
            <a:r>
              <a:rPr lang="en-US" sz="850" dirty="0">
                <a:solidFill>
                  <a:srgbClr val="4A5563"/>
                </a:solidFill>
                <a:latin typeface="Arial" pitchFamily="34" charset="0"/>
                <a:ea typeface="Arial" pitchFamily="34" charset="-122"/>
                <a:cs typeface="Arial" pitchFamily="34" charset="-120"/>
              </a:rPr>
              <a:t>smaller per-scan map than uniform 5 cm (measured)</a:t>
            </a:r>
            <a:endParaRPr lang="en-US" sz="850" dirty="0"/>
          </a:p>
        </p:txBody>
      </p:sp>
      <p:sp>
        <p:nvSpPr>
          <p:cNvPr id="48" name="Shape 42"/>
          <p:cNvSpPr/>
          <p:nvPr/>
        </p:nvSpPr>
        <p:spPr>
          <a:xfrm>
            <a:off x="5989320" y="1133856"/>
            <a:ext cx="1737360" cy="5193792"/>
          </a:xfrm>
          <a:prstGeom prst="roundRect">
            <a:avLst>
              <a:gd name="adj" fmla="val 6316"/>
            </a:avLst>
          </a:prstGeom>
          <a:solidFill>
            <a:srgbClr val="DCEEDB"/>
          </a:solidFill>
          <a:ln w="15875">
            <a:solidFill>
              <a:srgbClr val="243B53"/>
            </a:solidFill>
            <a:prstDash val="solid"/>
          </a:ln>
        </p:spPr>
      </p:sp>
      <p:sp>
        <p:nvSpPr>
          <p:cNvPr id="49" name="Shape 43"/>
          <p:cNvSpPr/>
          <p:nvPr/>
        </p:nvSpPr>
        <p:spPr>
          <a:xfrm>
            <a:off x="6583680" y="1280160"/>
            <a:ext cx="548640" cy="548640"/>
          </a:xfrm>
          <a:prstGeom prst="ellipse">
            <a:avLst/>
          </a:prstGeom>
          <a:solidFill>
            <a:srgbClr val="FFFFFF"/>
          </a:solidFill>
          <a:ln w="15875">
            <a:solidFill>
              <a:srgbClr val="2F6B52"/>
            </a:solidFill>
            <a:prstDash val="solid"/>
          </a:ln>
        </p:spPr>
      </p:sp>
      <p:pic>
        <p:nvPicPr>
          <p:cNvPr id="50" name="Image 4" descr="assets/icons/scaling.png">    </p:cNvPr>
          <p:cNvPicPr>
            <a:picLocks noChangeAspect="1"/>
          </p:cNvPicPr>
          <p:nvPr/>
        </p:nvPicPr>
        <p:blipFill>
          <a:blip r:embed="rId5"/>
          <a:stretch>
            <a:fillRect/>
          </a:stretch>
        </p:blipFill>
        <p:spPr>
          <a:xfrm>
            <a:off x="6704381" y="1400861"/>
            <a:ext cx="307238" cy="307238"/>
          </a:xfrm>
          <a:prstGeom prst="rect">
            <a:avLst/>
          </a:prstGeom>
        </p:spPr>
      </p:pic>
      <p:sp>
        <p:nvSpPr>
          <p:cNvPr id="51" name="Text 44"/>
          <p:cNvSpPr/>
          <p:nvPr/>
        </p:nvSpPr>
        <p:spPr>
          <a:xfrm>
            <a:off x="6080760" y="1883664"/>
            <a:ext cx="1554480" cy="457200"/>
          </a:xfrm>
          <a:prstGeom prst="rect">
            <a:avLst/>
          </a:prstGeom>
          <a:noFill/>
          <a:ln/>
        </p:spPr>
        <p:txBody>
          <a:bodyPr wrap="square" lIns="0" tIns="0" rIns="0" bIns="0" rtlCol="0" anchor="ctr"/>
          <a:lstStyle/>
          <a:p>
            <a:pPr algn="ctr" indent="0" marL="0">
              <a:buNone/>
            </a:pPr>
            <a:r>
              <a:rPr lang="en-US" sz="1300" b="1" dirty="0">
                <a:solidFill>
                  <a:srgbClr val="243B53"/>
                </a:solidFill>
                <a:latin typeface="Arial" pitchFamily="34" charset="0"/>
                <a:ea typeface="Arial" pitchFamily="34" charset="-122"/>
                <a:cs typeface="Arial" pitchFamily="34" charset="-120"/>
              </a:rPr>
              <a:t>Scalability</a:t>
            </a:r>
            <a:endParaRPr lang="en-US" sz="1300" dirty="0"/>
          </a:p>
        </p:txBody>
      </p:sp>
      <p:sp>
        <p:nvSpPr>
          <p:cNvPr id="52" name="Text 45"/>
          <p:cNvSpPr/>
          <p:nvPr/>
        </p:nvSpPr>
        <p:spPr>
          <a:xfrm>
            <a:off x="6117336" y="2377440"/>
            <a:ext cx="1481328" cy="603504"/>
          </a:xfrm>
          <a:prstGeom prst="rect">
            <a:avLst/>
          </a:prstGeom>
          <a:noFill/>
          <a:ln/>
        </p:spPr>
        <p:txBody>
          <a:bodyPr wrap="square" lIns="0" tIns="0" rIns="0" bIns="0" rtlCol="0" anchor="t"/>
          <a:lstStyle/>
          <a:p>
            <a:pPr algn="ctr" indent="0" marL="0">
              <a:buNone/>
            </a:pPr>
            <a:r>
              <a:rPr lang="en-US" sz="1050" b="1" dirty="0">
                <a:solidFill>
                  <a:srgbClr val="2F6B52"/>
                </a:solidFill>
                <a:latin typeface="Arial" pitchFamily="34" charset="0"/>
                <a:ea typeface="Arial" pitchFamily="34" charset="-122"/>
                <a:cs typeface="Arial" pitchFamily="34" charset="-120"/>
              </a:rPr>
              <a:t>Rings, radii and sensors change by config, not code.</a:t>
            </a:r>
            <a:endParaRPr lang="en-US" sz="1050" dirty="0"/>
          </a:p>
        </p:txBody>
      </p:sp>
      <p:sp>
        <p:nvSpPr>
          <p:cNvPr id="53" name="Shape 46"/>
          <p:cNvSpPr/>
          <p:nvPr/>
        </p:nvSpPr>
        <p:spPr>
          <a:xfrm>
            <a:off x="6263640" y="3054096"/>
            <a:ext cx="1188720" cy="0"/>
          </a:xfrm>
          <a:prstGeom prst="line">
            <a:avLst/>
          </a:prstGeom>
          <a:noFill/>
          <a:ln w="9525">
            <a:solidFill>
              <a:srgbClr val="2F6B52"/>
            </a:solidFill>
            <a:prstDash val="dash"/>
          </a:ln>
        </p:spPr>
      </p:sp>
      <p:sp>
        <p:nvSpPr>
          <p:cNvPr id="54" name="Shape 47"/>
          <p:cNvSpPr/>
          <p:nvPr/>
        </p:nvSpPr>
        <p:spPr>
          <a:xfrm>
            <a:off x="6117336" y="3182112"/>
            <a:ext cx="786384" cy="201168"/>
          </a:xfrm>
          <a:prstGeom prst="roundRect">
            <a:avLst>
              <a:gd name="adj" fmla="val 27273"/>
            </a:avLst>
          </a:prstGeom>
          <a:solidFill>
            <a:srgbClr val="2F6B52"/>
          </a:solidFill>
          <a:ln w="12700">
            <a:solidFill>
              <a:srgbClr val="2F6B52"/>
            </a:solidFill>
            <a:prstDash val="solid"/>
          </a:ln>
        </p:spPr>
      </p:sp>
      <p:sp>
        <p:nvSpPr>
          <p:cNvPr id="55" name="Text 48"/>
          <p:cNvSpPr/>
          <p:nvPr/>
        </p:nvSpPr>
        <p:spPr>
          <a:xfrm>
            <a:off x="6117336" y="3182112"/>
            <a:ext cx="786384" cy="20116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PROVEN</a:t>
            </a:r>
            <a:endParaRPr lang="en-US" sz="800" dirty="0"/>
          </a:p>
        </p:txBody>
      </p:sp>
      <p:sp>
        <p:nvSpPr>
          <p:cNvPr id="56" name="Text 49"/>
          <p:cNvSpPr/>
          <p:nvPr/>
        </p:nvSpPr>
        <p:spPr>
          <a:xfrm>
            <a:off x="6117336" y="3429000"/>
            <a:ext cx="1481328" cy="530352"/>
          </a:xfrm>
          <a:prstGeom prst="rect">
            <a:avLst/>
          </a:prstGeom>
          <a:noFill/>
          <a:ln/>
        </p:spPr>
        <p:txBody>
          <a:bodyPr wrap="square" lIns="0" tIns="0" rIns="0" bIns="0" rtlCol="0" anchor="t"/>
          <a:lstStyle/>
          <a:p>
            <a:pPr indent="0" marL="0">
              <a:buNone/>
            </a:pPr>
            <a:r>
              <a:rPr lang="en-US" sz="1000" dirty="0">
                <a:solidFill>
                  <a:srgbClr val="2E3A48"/>
                </a:solidFill>
                <a:latin typeface="Arial" pitchFamily="34" charset="0"/>
                <a:ea typeface="Arial" pitchFamily="34" charset="-122"/>
                <a:cs typeface="Arial" pitchFamily="34" charset="-120"/>
              </a:rPr>
              <a:t>Grid rings set in a validated config file.</a:t>
            </a:r>
            <a:endParaRPr lang="en-US" sz="1000" dirty="0"/>
          </a:p>
        </p:txBody>
      </p:sp>
      <p:sp>
        <p:nvSpPr>
          <p:cNvPr id="57" name="Shape 50"/>
          <p:cNvSpPr/>
          <p:nvPr/>
        </p:nvSpPr>
        <p:spPr>
          <a:xfrm>
            <a:off x="6117336" y="4005072"/>
            <a:ext cx="786384" cy="201168"/>
          </a:xfrm>
          <a:prstGeom prst="roundRect">
            <a:avLst>
              <a:gd name="adj" fmla="val 27273"/>
            </a:avLst>
          </a:prstGeom>
          <a:solidFill>
            <a:srgbClr val="2F5FA8"/>
          </a:solidFill>
          <a:ln w="12700">
            <a:solidFill>
              <a:srgbClr val="2F5FA8"/>
            </a:solidFill>
            <a:prstDash val="solid"/>
          </a:ln>
        </p:spPr>
      </p:sp>
      <p:sp>
        <p:nvSpPr>
          <p:cNvPr id="58" name="Text 51"/>
          <p:cNvSpPr/>
          <p:nvPr/>
        </p:nvSpPr>
        <p:spPr>
          <a:xfrm>
            <a:off x="6117336" y="4005072"/>
            <a:ext cx="786384" cy="20116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PROPOSED</a:t>
            </a:r>
            <a:endParaRPr lang="en-US" sz="800" dirty="0"/>
          </a:p>
        </p:txBody>
      </p:sp>
      <p:sp>
        <p:nvSpPr>
          <p:cNvPr id="59" name="Text 52"/>
          <p:cNvSpPr/>
          <p:nvPr/>
        </p:nvSpPr>
        <p:spPr>
          <a:xfrm>
            <a:off x="6117336" y="4251960"/>
            <a:ext cx="1481328" cy="530352"/>
          </a:xfrm>
          <a:prstGeom prst="rect">
            <a:avLst/>
          </a:prstGeom>
          <a:noFill/>
          <a:ln/>
        </p:spPr>
        <p:txBody>
          <a:bodyPr wrap="square" lIns="0" tIns="0" rIns="0" bIns="0" rtlCol="0" anchor="t"/>
          <a:lstStyle/>
          <a:p>
            <a:pPr indent="0" marL="0">
              <a:buNone/>
            </a:pPr>
            <a:r>
              <a:rPr lang="en-US" sz="1000" dirty="0">
                <a:solidFill>
                  <a:srgbClr val="2E3A48"/>
                </a:solidFill>
                <a:latin typeface="Arial" pitchFamily="34" charset="0"/>
                <a:ea typeface="Arial" pitchFamily="34" charset="-122"/>
                <a:cs typeface="Arial" pitchFamily="34" charset="-120"/>
              </a:rPr>
              <a:t>ROS 2 adapter for other LiDARs; GPU path.</a:t>
            </a:r>
            <a:endParaRPr lang="en-US" sz="1000" dirty="0"/>
          </a:p>
        </p:txBody>
      </p:sp>
      <p:sp>
        <p:nvSpPr>
          <p:cNvPr id="60" name="Shape 53"/>
          <p:cNvSpPr/>
          <p:nvPr/>
        </p:nvSpPr>
        <p:spPr>
          <a:xfrm>
            <a:off x="6099048" y="5212080"/>
            <a:ext cx="1517904" cy="987552"/>
          </a:xfrm>
          <a:prstGeom prst="roundRect">
            <a:avLst>
              <a:gd name="adj" fmla="val 7407"/>
            </a:avLst>
          </a:prstGeom>
          <a:solidFill>
            <a:srgbClr val="FFFFFF"/>
          </a:solidFill>
          <a:ln w="12700">
            <a:solidFill>
              <a:srgbClr val="2F6B52"/>
            </a:solidFill>
            <a:prstDash val="solid"/>
          </a:ln>
        </p:spPr>
      </p:sp>
      <p:sp>
        <p:nvSpPr>
          <p:cNvPr id="61" name="Text 54"/>
          <p:cNvSpPr/>
          <p:nvPr/>
        </p:nvSpPr>
        <p:spPr>
          <a:xfrm>
            <a:off x="6099048" y="5285232"/>
            <a:ext cx="1517904" cy="384048"/>
          </a:xfrm>
          <a:prstGeom prst="rect">
            <a:avLst/>
          </a:prstGeom>
          <a:noFill/>
          <a:ln/>
        </p:spPr>
        <p:txBody>
          <a:bodyPr wrap="square" lIns="0" tIns="0" rIns="0" bIns="0" rtlCol="0" anchor="ctr"/>
          <a:lstStyle/>
          <a:p>
            <a:pPr algn="ctr" indent="0" marL="0">
              <a:buNone/>
            </a:pPr>
            <a:r>
              <a:rPr lang="en-US" sz="2200" b="1" dirty="0">
                <a:solidFill>
                  <a:srgbClr val="2F6B52"/>
                </a:solidFill>
                <a:latin typeface="Arial" pitchFamily="34" charset="0"/>
                <a:ea typeface="Arial" pitchFamily="34" charset="-122"/>
                <a:cs typeface="Arial" pitchFamily="34" charset="-120"/>
              </a:rPr>
              <a:t>~31×</a:t>
            </a:r>
            <a:endParaRPr lang="en-US" sz="2200" dirty="0"/>
          </a:p>
        </p:txBody>
      </p:sp>
      <p:sp>
        <p:nvSpPr>
          <p:cNvPr id="62" name="Text 55"/>
          <p:cNvSpPr/>
          <p:nvPr/>
        </p:nvSpPr>
        <p:spPr>
          <a:xfrm>
            <a:off x="6172200" y="5669280"/>
            <a:ext cx="1371600" cy="475488"/>
          </a:xfrm>
          <a:prstGeom prst="rect">
            <a:avLst/>
          </a:prstGeom>
          <a:noFill/>
          <a:ln/>
        </p:spPr>
        <p:txBody>
          <a:bodyPr wrap="square" lIns="0" tIns="0" rIns="0" bIns="0" rtlCol="0" anchor="t"/>
          <a:lstStyle/>
          <a:p>
            <a:pPr algn="ctr" indent="0" marL="0">
              <a:buNone/>
            </a:pPr>
            <a:r>
              <a:rPr lang="en-US" sz="850" dirty="0">
                <a:solidFill>
                  <a:srgbClr val="4A5563"/>
                </a:solidFill>
                <a:latin typeface="Arial" pitchFamily="34" charset="0"/>
                <a:ea typeface="Arial" pitchFamily="34" charset="-122"/>
                <a:cs typeface="Arial" pitchFamily="34" charset="-120"/>
              </a:rPr>
              <a:t>fewer cells than uniform 5 cm at full 100 m (calculated)</a:t>
            </a:r>
            <a:endParaRPr lang="en-US" sz="850" dirty="0"/>
          </a:p>
        </p:txBody>
      </p:sp>
      <p:sp>
        <p:nvSpPr>
          <p:cNvPr id="63" name="Shape 56"/>
          <p:cNvSpPr/>
          <p:nvPr/>
        </p:nvSpPr>
        <p:spPr>
          <a:xfrm>
            <a:off x="7909560" y="1133856"/>
            <a:ext cx="3916375" cy="1463040"/>
          </a:xfrm>
          <a:prstGeom prst="roundRect">
            <a:avLst>
              <a:gd name="adj" fmla="val 7500"/>
            </a:avLst>
          </a:prstGeom>
          <a:solidFill>
            <a:srgbClr val="DDE8F7"/>
          </a:solidFill>
          <a:ln w="15875">
            <a:solidFill>
              <a:srgbClr val="243B53"/>
            </a:solidFill>
            <a:prstDash val="solid"/>
          </a:ln>
        </p:spPr>
      </p:sp>
      <p:pic>
        <p:nvPicPr>
          <p:cNvPr id="64" name="Image 5" descr="assets/icons/git-branch.png">    </p:cNvPr>
          <p:cNvPicPr>
            <a:picLocks noChangeAspect="1"/>
          </p:cNvPicPr>
          <p:nvPr/>
        </p:nvPicPr>
        <p:blipFill>
          <a:blip r:embed="rId6"/>
          <a:stretch>
            <a:fillRect/>
          </a:stretch>
        </p:blipFill>
        <p:spPr>
          <a:xfrm>
            <a:off x="8092440" y="1261872"/>
            <a:ext cx="292608" cy="292608"/>
          </a:xfrm>
          <a:prstGeom prst="rect">
            <a:avLst/>
          </a:prstGeom>
        </p:spPr>
      </p:pic>
      <p:sp>
        <p:nvSpPr>
          <p:cNvPr id="65" name="Text 57"/>
          <p:cNvSpPr/>
          <p:nvPr/>
        </p:nvSpPr>
        <p:spPr>
          <a:xfrm>
            <a:off x="8458200" y="1252728"/>
            <a:ext cx="3184855" cy="310896"/>
          </a:xfrm>
          <a:prstGeom prst="rect">
            <a:avLst/>
          </a:prstGeom>
          <a:noFill/>
          <a:ln/>
        </p:spPr>
        <p:txBody>
          <a:bodyPr wrap="square" lIns="0" tIns="0" rIns="0" bIns="0" rtlCol="0" anchor="ctr"/>
          <a:lstStyle/>
          <a:p>
            <a:pPr indent="0" marL="0">
              <a:buNone/>
            </a:pPr>
            <a:r>
              <a:rPr lang="en-US" sz="1400" b="1" dirty="0">
                <a:solidFill>
                  <a:srgbClr val="243B53"/>
                </a:solidFill>
                <a:latin typeface="Arial" pitchFamily="34" charset="0"/>
                <a:ea typeface="Arial" pitchFamily="34" charset="-122"/>
                <a:cs typeface="Arial" pitchFamily="34" charset="-120"/>
              </a:rPr>
              <a:t>Long-Term Viability</a:t>
            </a:r>
            <a:endParaRPr lang="en-US" sz="1400" dirty="0"/>
          </a:p>
        </p:txBody>
      </p:sp>
      <p:sp>
        <p:nvSpPr>
          <p:cNvPr id="66" name="Text 58"/>
          <p:cNvSpPr/>
          <p:nvPr/>
        </p:nvSpPr>
        <p:spPr>
          <a:xfrm>
            <a:off x="8092440" y="1609344"/>
            <a:ext cx="3550615" cy="219456"/>
          </a:xfrm>
          <a:prstGeom prst="rect">
            <a:avLst/>
          </a:prstGeom>
          <a:noFill/>
          <a:ln/>
        </p:spPr>
        <p:txBody>
          <a:bodyPr wrap="square" lIns="0" tIns="0" rIns="0" bIns="0" rtlCol="0" anchor="t"/>
          <a:lstStyle/>
          <a:p>
            <a:pPr indent="0" marL="0">
              <a:buNone/>
            </a:pPr>
            <a:r>
              <a:rPr lang="en-US" sz="1050" b="1" dirty="0">
                <a:solidFill>
                  <a:srgbClr val="2F5FA8"/>
                </a:solidFill>
                <a:latin typeface="Arial" pitchFamily="34" charset="0"/>
                <a:ea typeface="Arial" pitchFamily="34" charset="-122"/>
                <a:cs typeface="Arial" pitchFamily="34" charset="-120"/>
              </a:rPr>
              <a:t>Every result is pinned, hashed and repeatable.</a:t>
            </a:r>
            <a:endParaRPr lang="en-US" sz="1050" dirty="0"/>
          </a:p>
        </p:txBody>
      </p:sp>
      <p:sp>
        <p:nvSpPr>
          <p:cNvPr id="67" name="Shape 59"/>
          <p:cNvSpPr/>
          <p:nvPr/>
        </p:nvSpPr>
        <p:spPr>
          <a:xfrm>
            <a:off x="8092440" y="1901952"/>
            <a:ext cx="786384" cy="201168"/>
          </a:xfrm>
          <a:prstGeom prst="roundRect">
            <a:avLst>
              <a:gd name="adj" fmla="val 27273"/>
            </a:avLst>
          </a:prstGeom>
          <a:solidFill>
            <a:srgbClr val="2F6B52"/>
          </a:solidFill>
          <a:ln w="12700">
            <a:solidFill>
              <a:srgbClr val="2F6B52"/>
            </a:solidFill>
            <a:prstDash val="solid"/>
          </a:ln>
        </p:spPr>
      </p:sp>
      <p:sp>
        <p:nvSpPr>
          <p:cNvPr id="68" name="Text 60"/>
          <p:cNvSpPr/>
          <p:nvPr/>
        </p:nvSpPr>
        <p:spPr>
          <a:xfrm>
            <a:off x="8092440" y="1901952"/>
            <a:ext cx="786384" cy="20116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PROVEN</a:t>
            </a:r>
            <a:endParaRPr lang="en-US" sz="800" dirty="0"/>
          </a:p>
        </p:txBody>
      </p:sp>
      <p:sp>
        <p:nvSpPr>
          <p:cNvPr id="69" name="Text 61"/>
          <p:cNvSpPr/>
          <p:nvPr/>
        </p:nvSpPr>
        <p:spPr>
          <a:xfrm>
            <a:off x="8970264" y="1883664"/>
            <a:ext cx="2691079" cy="310896"/>
          </a:xfrm>
          <a:prstGeom prst="rect">
            <a:avLst/>
          </a:prstGeom>
          <a:noFill/>
          <a:ln/>
        </p:spPr>
        <p:txBody>
          <a:bodyPr wrap="square" lIns="0" tIns="0" rIns="0" bIns="0" rtlCol="0" anchor="ctr"/>
          <a:lstStyle/>
          <a:p>
            <a:pPr indent="0" marL="0">
              <a:buNone/>
            </a:pPr>
            <a:r>
              <a:rPr lang="en-US" sz="950" dirty="0">
                <a:solidFill>
                  <a:srgbClr val="2E3A48"/>
                </a:solidFill>
                <a:latin typeface="Arial" pitchFamily="34" charset="0"/>
                <a:ea typeface="Arial" pitchFamily="34" charset="-122"/>
                <a:cs typeface="Arial" pitchFamily="34" charset="-120"/>
              </a:rPr>
              <a:t>87 automated tests, locked dependencies, checkpoint SHA-256.</a:t>
            </a:r>
            <a:endParaRPr lang="en-US" sz="950" dirty="0"/>
          </a:p>
        </p:txBody>
      </p:sp>
      <p:sp>
        <p:nvSpPr>
          <p:cNvPr id="70" name="Shape 62"/>
          <p:cNvSpPr/>
          <p:nvPr/>
        </p:nvSpPr>
        <p:spPr>
          <a:xfrm>
            <a:off x="8092440" y="2231136"/>
            <a:ext cx="786384" cy="201168"/>
          </a:xfrm>
          <a:prstGeom prst="roundRect">
            <a:avLst>
              <a:gd name="adj" fmla="val 27273"/>
            </a:avLst>
          </a:prstGeom>
          <a:solidFill>
            <a:srgbClr val="2F5FA8"/>
          </a:solidFill>
          <a:ln w="12700">
            <a:solidFill>
              <a:srgbClr val="2F5FA8"/>
            </a:solidFill>
            <a:prstDash val="solid"/>
          </a:ln>
        </p:spPr>
      </p:sp>
      <p:sp>
        <p:nvSpPr>
          <p:cNvPr id="71" name="Text 63"/>
          <p:cNvSpPr/>
          <p:nvPr/>
        </p:nvSpPr>
        <p:spPr>
          <a:xfrm>
            <a:off x="8092440" y="2231136"/>
            <a:ext cx="786384" cy="20116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PROPOSED</a:t>
            </a:r>
            <a:endParaRPr lang="en-US" sz="800" dirty="0"/>
          </a:p>
        </p:txBody>
      </p:sp>
      <p:sp>
        <p:nvSpPr>
          <p:cNvPr id="72" name="Text 64"/>
          <p:cNvSpPr/>
          <p:nvPr/>
        </p:nvSpPr>
        <p:spPr>
          <a:xfrm>
            <a:off x="8970264" y="2212848"/>
            <a:ext cx="2691079" cy="310896"/>
          </a:xfrm>
          <a:prstGeom prst="rect">
            <a:avLst/>
          </a:prstGeom>
          <a:noFill/>
          <a:ln/>
        </p:spPr>
        <p:txBody>
          <a:bodyPr wrap="square" lIns="0" tIns="0" rIns="0" bIns="0" rtlCol="0" anchor="ctr"/>
          <a:lstStyle/>
          <a:p>
            <a:pPr indent="0" marL="0">
              <a:buNone/>
            </a:pPr>
            <a:r>
              <a:rPr lang="en-US" sz="950" dirty="0">
                <a:solidFill>
                  <a:srgbClr val="2E3A48"/>
                </a:solidFill>
                <a:latin typeface="Arial" pitchFamily="34" charset="0"/>
                <a:ea typeface="Arial" pitchFamily="34" charset="-122"/>
                <a:cs typeface="Arial" pitchFamily="34" charset="-120"/>
              </a:rPr>
              <a:t>Regression gates and named maintainers per release.</a:t>
            </a:r>
            <a:endParaRPr lang="en-US" sz="950" dirty="0"/>
          </a:p>
        </p:txBody>
      </p:sp>
      <p:sp>
        <p:nvSpPr>
          <p:cNvPr id="73" name="Shape 65"/>
          <p:cNvSpPr/>
          <p:nvPr/>
        </p:nvSpPr>
        <p:spPr>
          <a:xfrm>
            <a:off x="7909560" y="2724912"/>
            <a:ext cx="3916375" cy="2487168"/>
          </a:xfrm>
          <a:prstGeom prst="roundRect">
            <a:avLst>
              <a:gd name="adj" fmla="val 4412"/>
            </a:avLst>
          </a:prstGeom>
          <a:solidFill>
            <a:srgbClr val="DDE8F7"/>
          </a:solidFill>
          <a:ln w="15875">
            <a:solidFill>
              <a:srgbClr val="243B53"/>
            </a:solidFill>
            <a:prstDash val="solid"/>
          </a:ln>
        </p:spPr>
      </p:sp>
      <p:pic>
        <p:nvPicPr>
          <p:cNvPr id="74" name="Image 6" descr="assets/icons/route.png">    </p:cNvPr>
          <p:cNvPicPr>
            <a:picLocks noChangeAspect="1"/>
          </p:cNvPicPr>
          <p:nvPr/>
        </p:nvPicPr>
        <p:blipFill>
          <a:blip r:embed="rId7"/>
          <a:stretch>
            <a:fillRect/>
          </a:stretch>
        </p:blipFill>
        <p:spPr>
          <a:xfrm>
            <a:off x="8092440" y="2852928"/>
            <a:ext cx="292608" cy="292608"/>
          </a:xfrm>
          <a:prstGeom prst="rect">
            <a:avLst/>
          </a:prstGeom>
        </p:spPr>
      </p:pic>
      <p:sp>
        <p:nvSpPr>
          <p:cNvPr id="75" name="Text 66"/>
          <p:cNvSpPr/>
          <p:nvPr/>
        </p:nvSpPr>
        <p:spPr>
          <a:xfrm>
            <a:off x="8458200" y="2843784"/>
            <a:ext cx="3184855" cy="310896"/>
          </a:xfrm>
          <a:prstGeom prst="rect">
            <a:avLst/>
          </a:prstGeom>
          <a:noFill/>
          <a:ln/>
        </p:spPr>
        <p:txBody>
          <a:bodyPr wrap="square" lIns="0" tIns="0" rIns="0" bIns="0" rtlCol="0" anchor="ctr"/>
          <a:lstStyle/>
          <a:p>
            <a:pPr indent="0" marL="0">
              <a:buNone/>
            </a:pPr>
            <a:r>
              <a:rPr lang="en-US" sz="1400" b="1" dirty="0">
                <a:solidFill>
                  <a:srgbClr val="243B53"/>
                </a:solidFill>
                <a:latin typeface="Arial" pitchFamily="34" charset="0"/>
                <a:ea typeface="Arial" pitchFamily="34" charset="-122"/>
                <a:cs typeface="Arial" pitchFamily="34" charset="-120"/>
              </a:rPr>
              <a:t>Path to Field</a:t>
            </a:r>
            <a:endParaRPr lang="en-US" sz="1400" dirty="0"/>
          </a:p>
        </p:txBody>
      </p:sp>
      <p:sp>
        <p:nvSpPr>
          <p:cNvPr id="76" name="Shape 67"/>
          <p:cNvSpPr/>
          <p:nvPr/>
        </p:nvSpPr>
        <p:spPr>
          <a:xfrm>
            <a:off x="8293608" y="3493008"/>
            <a:ext cx="0" cy="457200"/>
          </a:xfrm>
          <a:prstGeom prst="line">
            <a:avLst/>
          </a:prstGeom>
          <a:noFill/>
          <a:ln w="15875">
            <a:solidFill>
              <a:srgbClr val="243B53"/>
            </a:solidFill>
            <a:prstDash val="solid"/>
          </a:ln>
        </p:spPr>
      </p:sp>
      <p:sp>
        <p:nvSpPr>
          <p:cNvPr id="77" name="Shape 68"/>
          <p:cNvSpPr/>
          <p:nvPr/>
        </p:nvSpPr>
        <p:spPr>
          <a:xfrm>
            <a:off x="8165592" y="3364992"/>
            <a:ext cx="256032" cy="256032"/>
          </a:xfrm>
          <a:prstGeom prst="ellipse">
            <a:avLst/>
          </a:prstGeom>
          <a:solidFill>
            <a:srgbClr val="2F6B52"/>
          </a:solidFill>
          <a:ln w="25400">
            <a:solidFill>
              <a:srgbClr val="2F6B52"/>
            </a:solidFill>
            <a:prstDash val="solid"/>
          </a:ln>
        </p:spPr>
      </p:sp>
      <p:sp>
        <p:nvSpPr>
          <p:cNvPr id="78" name="Text 69"/>
          <p:cNvSpPr/>
          <p:nvPr/>
        </p:nvSpPr>
        <p:spPr>
          <a:xfrm>
            <a:off x="8549640" y="3310128"/>
            <a:ext cx="2179015" cy="365760"/>
          </a:xfrm>
          <a:prstGeom prst="rect">
            <a:avLst/>
          </a:prstGeom>
          <a:noFill/>
          <a:ln/>
        </p:spPr>
        <p:txBody>
          <a:bodyPr wrap="square" lIns="0" tIns="0" rIns="0" bIns="0" rtlCol="0" anchor="ctr"/>
          <a:lstStyle/>
          <a:p>
            <a:pPr indent="0" marL="0">
              <a:buNone/>
            </a:pPr>
            <a:r>
              <a:rPr lang="en-US" sz="1000" b="1" dirty="0">
                <a:solidFill>
                  <a:srgbClr val="243B53"/>
                </a:solidFill>
                <a:latin typeface="Arial" pitchFamily="34" charset="0"/>
                <a:ea typeface="Arial" pitchFamily="34" charset="-122"/>
                <a:cs typeface="Arial" pitchFamily="34" charset="-120"/>
              </a:rPr>
              <a:t>Prototype  </a:t>
            </a:r>
            <a:pPr indent="0" marL="0">
              <a:buNone/>
            </a:pPr>
            <a:r>
              <a:rPr lang="en-US" sz="1000" dirty="0">
                <a:solidFill>
                  <a:srgbClr val="2E3A48"/>
                </a:solidFill>
                <a:latin typeface="Arial" pitchFamily="34" charset="0"/>
                <a:ea typeface="Arial" pitchFamily="34" charset="-122"/>
                <a:cs typeface="Arial" pitchFamily="34" charset="-120"/>
              </a:rPr>
              <a:t>Real-data replay, all stages</a:t>
            </a:r>
            <a:endParaRPr lang="en-US" sz="1000" dirty="0"/>
          </a:p>
        </p:txBody>
      </p:sp>
      <p:sp>
        <p:nvSpPr>
          <p:cNvPr id="79" name="Text 70"/>
          <p:cNvSpPr/>
          <p:nvPr/>
        </p:nvSpPr>
        <p:spPr>
          <a:xfrm>
            <a:off x="10801807" y="3374136"/>
            <a:ext cx="841248" cy="237744"/>
          </a:xfrm>
          <a:prstGeom prst="rect">
            <a:avLst/>
          </a:prstGeom>
          <a:noFill/>
          <a:ln/>
        </p:spPr>
        <p:txBody>
          <a:bodyPr wrap="square" lIns="0" tIns="0" rIns="0" bIns="0" rtlCol="0" anchor="ctr"/>
          <a:lstStyle/>
          <a:p>
            <a:pPr algn="r" indent="0" marL="0">
              <a:buNone/>
            </a:pPr>
            <a:r>
              <a:rPr lang="en-US" sz="800" b="1" spc="100" kern="0" dirty="0">
                <a:solidFill>
                  <a:srgbClr val="2F6B52"/>
                </a:solidFill>
                <a:latin typeface="Arial" pitchFamily="34" charset="0"/>
                <a:ea typeface="Arial" pitchFamily="34" charset="-122"/>
                <a:cs typeface="Arial" pitchFamily="34" charset="-120"/>
              </a:rPr>
              <a:t>DONE</a:t>
            </a:r>
            <a:endParaRPr lang="en-US" sz="800" dirty="0"/>
          </a:p>
        </p:txBody>
      </p:sp>
      <p:sp>
        <p:nvSpPr>
          <p:cNvPr id="80" name="Shape 71"/>
          <p:cNvSpPr/>
          <p:nvPr/>
        </p:nvSpPr>
        <p:spPr>
          <a:xfrm>
            <a:off x="8293608" y="3950208"/>
            <a:ext cx="0" cy="457200"/>
          </a:xfrm>
          <a:prstGeom prst="line">
            <a:avLst/>
          </a:prstGeom>
          <a:noFill/>
          <a:ln w="15875">
            <a:solidFill>
              <a:srgbClr val="243B53"/>
            </a:solidFill>
            <a:prstDash val="solid"/>
          </a:ln>
        </p:spPr>
      </p:sp>
      <p:sp>
        <p:nvSpPr>
          <p:cNvPr id="81" name="Shape 72"/>
          <p:cNvSpPr/>
          <p:nvPr/>
        </p:nvSpPr>
        <p:spPr>
          <a:xfrm>
            <a:off x="8165592" y="3822192"/>
            <a:ext cx="256032" cy="256032"/>
          </a:xfrm>
          <a:prstGeom prst="ellipse">
            <a:avLst/>
          </a:prstGeom>
          <a:solidFill>
            <a:srgbClr val="FFFFFF"/>
          </a:solidFill>
          <a:ln w="25400">
            <a:solidFill>
              <a:srgbClr val="2F5FA8"/>
            </a:solidFill>
            <a:prstDash val="solid"/>
          </a:ln>
        </p:spPr>
      </p:sp>
      <p:sp>
        <p:nvSpPr>
          <p:cNvPr id="82" name="Text 73"/>
          <p:cNvSpPr/>
          <p:nvPr/>
        </p:nvSpPr>
        <p:spPr>
          <a:xfrm>
            <a:off x="8549640" y="3767328"/>
            <a:ext cx="2179015" cy="365760"/>
          </a:xfrm>
          <a:prstGeom prst="rect">
            <a:avLst/>
          </a:prstGeom>
          <a:noFill/>
          <a:ln/>
        </p:spPr>
        <p:txBody>
          <a:bodyPr wrap="square" lIns="0" tIns="0" rIns="0" bIns="0" rtlCol="0" anchor="ctr"/>
          <a:lstStyle/>
          <a:p>
            <a:pPr indent="0" marL="0">
              <a:buNone/>
            </a:pPr>
            <a:r>
              <a:rPr lang="en-US" sz="1000" b="1" dirty="0">
                <a:solidFill>
                  <a:srgbClr val="243B53"/>
                </a:solidFill>
                <a:latin typeface="Arial" pitchFamily="34" charset="0"/>
                <a:ea typeface="Arial" pitchFamily="34" charset="-122"/>
                <a:cs typeface="Arial" pitchFamily="34" charset="-120"/>
              </a:rPr>
              <a:t>Validation  </a:t>
            </a:r>
            <a:pPr indent="0" marL="0">
              <a:buNone/>
            </a:pPr>
            <a:r>
              <a:rPr lang="en-US" sz="1000" dirty="0">
                <a:solidFill>
                  <a:srgbClr val="2E3A48"/>
                </a:solidFill>
                <a:latin typeface="Arial" pitchFamily="34" charset="0"/>
                <a:ea typeface="Arial" pitchFamily="34" charset="-122"/>
                <a:cs typeface="Arial" pitchFamily="34" charset="-120"/>
              </a:rPr>
              <a:t>Held-out metrics, GPU timing</a:t>
            </a:r>
            <a:endParaRPr lang="en-US" sz="1000" dirty="0"/>
          </a:p>
        </p:txBody>
      </p:sp>
      <p:sp>
        <p:nvSpPr>
          <p:cNvPr id="83" name="Shape 74"/>
          <p:cNvSpPr/>
          <p:nvPr/>
        </p:nvSpPr>
        <p:spPr>
          <a:xfrm>
            <a:off x="10801807" y="3831336"/>
            <a:ext cx="841248" cy="237744"/>
          </a:xfrm>
          <a:prstGeom prst="roundRect">
            <a:avLst>
              <a:gd name="adj" fmla="val 23077"/>
            </a:avLst>
          </a:prstGeom>
          <a:solidFill>
            <a:srgbClr val="2F5FA8"/>
          </a:solidFill>
          <a:ln w="15875">
            <a:solidFill>
              <a:srgbClr val="2F5FA8"/>
            </a:solidFill>
            <a:prstDash val="solid"/>
          </a:ln>
        </p:spPr>
      </p:sp>
      <p:sp>
        <p:nvSpPr>
          <p:cNvPr id="84" name="Text 75"/>
          <p:cNvSpPr/>
          <p:nvPr/>
        </p:nvSpPr>
        <p:spPr>
          <a:xfrm>
            <a:off x="10801807" y="3831336"/>
            <a:ext cx="841248" cy="237744"/>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Arial" pitchFamily="34" charset="0"/>
                <a:ea typeface="Arial" pitchFamily="34" charset="-122"/>
                <a:cs typeface="Arial" pitchFamily="34" charset="-120"/>
              </a:rPr>
              <a:t>WE ARE HERE</a:t>
            </a:r>
            <a:endParaRPr lang="en-US" sz="750" dirty="0"/>
          </a:p>
        </p:txBody>
      </p:sp>
      <p:sp>
        <p:nvSpPr>
          <p:cNvPr id="85" name="Shape 76"/>
          <p:cNvSpPr/>
          <p:nvPr/>
        </p:nvSpPr>
        <p:spPr>
          <a:xfrm>
            <a:off x="8293608" y="4407408"/>
            <a:ext cx="0" cy="457200"/>
          </a:xfrm>
          <a:prstGeom prst="line">
            <a:avLst/>
          </a:prstGeom>
          <a:noFill/>
          <a:ln w="15875">
            <a:solidFill>
              <a:srgbClr val="243B53"/>
            </a:solidFill>
            <a:prstDash val="solid"/>
          </a:ln>
        </p:spPr>
      </p:sp>
      <p:sp>
        <p:nvSpPr>
          <p:cNvPr id="86" name="Shape 77"/>
          <p:cNvSpPr/>
          <p:nvPr/>
        </p:nvSpPr>
        <p:spPr>
          <a:xfrm>
            <a:off x="8165592" y="4279392"/>
            <a:ext cx="256032" cy="256032"/>
          </a:xfrm>
          <a:prstGeom prst="ellipse">
            <a:avLst/>
          </a:prstGeom>
          <a:solidFill>
            <a:srgbClr val="FFFFFF"/>
          </a:solidFill>
          <a:ln w="25400">
            <a:solidFill>
              <a:srgbClr val="C8742F"/>
            </a:solidFill>
            <a:prstDash val="solid"/>
          </a:ln>
        </p:spPr>
      </p:sp>
      <p:sp>
        <p:nvSpPr>
          <p:cNvPr id="87" name="Text 78"/>
          <p:cNvSpPr/>
          <p:nvPr/>
        </p:nvSpPr>
        <p:spPr>
          <a:xfrm>
            <a:off x="8549640" y="4224528"/>
            <a:ext cx="2179015" cy="365760"/>
          </a:xfrm>
          <a:prstGeom prst="rect">
            <a:avLst/>
          </a:prstGeom>
          <a:noFill/>
          <a:ln/>
        </p:spPr>
        <p:txBody>
          <a:bodyPr wrap="square" lIns="0" tIns="0" rIns="0" bIns="0" rtlCol="0" anchor="ctr"/>
          <a:lstStyle/>
          <a:p>
            <a:pPr indent="0" marL="0">
              <a:buNone/>
            </a:pPr>
            <a:r>
              <a:rPr lang="en-US" sz="1000" b="1" dirty="0">
                <a:solidFill>
                  <a:srgbClr val="243B53"/>
                </a:solidFill>
                <a:latin typeface="Arial" pitchFamily="34" charset="0"/>
                <a:ea typeface="Arial" pitchFamily="34" charset="-122"/>
                <a:cs typeface="Arial" pitchFamily="34" charset="-120"/>
              </a:rPr>
              <a:t>Field Trial  </a:t>
            </a:r>
            <a:pPr indent="0" marL="0">
              <a:buNone/>
            </a:pPr>
            <a:r>
              <a:rPr lang="en-US" sz="1000" dirty="0">
                <a:solidFill>
                  <a:srgbClr val="2E3A48"/>
                </a:solidFill>
                <a:latin typeface="Arial" pitchFamily="34" charset="0"/>
                <a:ea typeface="Arial" pitchFamily="34" charset="-122"/>
                <a:cs typeface="Arial" pitchFamily="34" charset="-120"/>
              </a:rPr>
              <a:t>Live sensor, terrain, weather</a:t>
            </a:r>
            <a:endParaRPr lang="en-US" sz="1000" dirty="0"/>
          </a:p>
        </p:txBody>
      </p:sp>
      <p:sp>
        <p:nvSpPr>
          <p:cNvPr id="88" name="Text 79"/>
          <p:cNvSpPr/>
          <p:nvPr/>
        </p:nvSpPr>
        <p:spPr>
          <a:xfrm>
            <a:off x="10801807" y="4288536"/>
            <a:ext cx="841248" cy="237744"/>
          </a:xfrm>
          <a:prstGeom prst="rect">
            <a:avLst/>
          </a:prstGeom>
          <a:noFill/>
          <a:ln/>
        </p:spPr>
        <p:txBody>
          <a:bodyPr wrap="square" lIns="0" tIns="0" rIns="0" bIns="0" rtlCol="0" anchor="ctr"/>
          <a:lstStyle/>
          <a:p>
            <a:pPr algn="r" indent="0" marL="0">
              <a:buNone/>
            </a:pPr>
            <a:r>
              <a:rPr lang="en-US" sz="800" b="1" spc="100" kern="0" dirty="0">
                <a:solidFill>
                  <a:srgbClr val="C8742F"/>
                </a:solidFill>
                <a:latin typeface="Arial" pitchFamily="34" charset="0"/>
                <a:ea typeface="Arial" pitchFamily="34" charset="-122"/>
                <a:cs typeface="Arial" pitchFamily="34" charset="-120"/>
              </a:rPr>
              <a:t>NEXT</a:t>
            </a:r>
            <a:endParaRPr lang="en-US" sz="800" dirty="0"/>
          </a:p>
        </p:txBody>
      </p:sp>
      <p:sp>
        <p:nvSpPr>
          <p:cNvPr id="89" name="Shape 80"/>
          <p:cNvSpPr/>
          <p:nvPr/>
        </p:nvSpPr>
        <p:spPr>
          <a:xfrm>
            <a:off x="8165592" y="4736592"/>
            <a:ext cx="256032" cy="256032"/>
          </a:xfrm>
          <a:prstGeom prst="ellipse">
            <a:avLst/>
          </a:prstGeom>
          <a:solidFill>
            <a:srgbClr val="FFFFFF"/>
          </a:solidFill>
          <a:ln w="25400">
            <a:solidFill>
              <a:srgbClr val="9AA3AE"/>
            </a:solidFill>
            <a:prstDash val="solid"/>
          </a:ln>
        </p:spPr>
      </p:sp>
      <p:sp>
        <p:nvSpPr>
          <p:cNvPr id="90" name="Text 81"/>
          <p:cNvSpPr/>
          <p:nvPr/>
        </p:nvSpPr>
        <p:spPr>
          <a:xfrm>
            <a:off x="8549640" y="4681728"/>
            <a:ext cx="2179015" cy="365760"/>
          </a:xfrm>
          <a:prstGeom prst="rect">
            <a:avLst/>
          </a:prstGeom>
          <a:noFill/>
          <a:ln/>
        </p:spPr>
        <p:txBody>
          <a:bodyPr wrap="square" lIns="0" tIns="0" rIns="0" bIns="0" rtlCol="0" anchor="ctr"/>
          <a:lstStyle/>
          <a:p>
            <a:pPr indent="0" marL="0">
              <a:buNone/>
            </a:pPr>
            <a:r>
              <a:rPr lang="en-US" sz="1000" b="1" dirty="0">
                <a:solidFill>
                  <a:srgbClr val="243B53"/>
                </a:solidFill>
                <a:latin typeface="Arial" pitchFamily="34" charset="0"/>
                <a:ea typeface="Arial" pitchFamily="34" charset="-122"/>
                <a:cs typeface="Arial" pitchFamily="34" charset="-120"/>
              </a:rPr>
              <a:t>Deployment  </a:t>
            </a:r>
            <a:pPr indent="0" marL="0">
              <a:buNone/>
            </a:pPr>
            <a:r>
              <a:rPr lang="en-US" sz="1000" dirty="0">
                <a:solidFill>
                  <a:srgbClr val="2E3A48"/>
                </a:solidFill>
                <a:latin typeface="Arial" pitchFamily="34" charset="0"/>
                <a:ea typeface="Arial" pitchFamily="34" charset="-122"/>
                <a:cs typeface="Arial" pitchFamily="34" charset="-120"/>
              </a:rPr>
              <a:t>Vehicle integration via ROS 2</a:t>
            </a:r>
            <a:endParaRPr lang="en-US" sz="1000" dirty="0"/>
          </a:p>
        </p:txBody>
      </p:sp>
      <p:sp>
        <p:nvSpPr>
          <p:cNvPr id="91" name="Text 82"/>
          <p:cNvSpPr/>
          <p:nvPr/>
        </p:nvSpPr>
        <p:spPr>
          <a:xfrm>
            <a:off x="10801807" y="4745736"/>
            <a:ext cx="841248" cy="237744"/>
          </a:xfrm>
          <a:prstGeom prst="rect">
            <a:avLst/>
          </a:prstGeom>
          <a:noFill/>
          <a:ln/>
        </p:spPr>
        <p:txBody>
          <a:bodyPr wrap="square" lIns="0" tIns="0" rIns="0" bIns="0" rtlCol="0" anchor="ctr"/>
          <a:lstStyle/>
          <a:p>
            <a:pPr algn="r" indent="0" marL="0">
              <a:buNone/>
            </a:pPr>
            <a:r>
              <a:rPr lang="en-US" sz="800" b="1" spc="100" kern="0" dirty="0">
                <a:solidFill>
                  <a:srgbClr val="9AA3AE"/>
                </a:solidFill>
                <a:latin typeface="Arial" pitchFamily="34" charset="0"/>
                <a:ea typeface="Arial" pitchFamily="34" charset="-122"/>
                <a:cs typeface="Arial" pitchFamily="34" charset="-120"/>
              </a:rPr>
              <a:t>LATER</a:t>
            </a:r>
            <a:endParaRPr lang="en-US" sz="800" dirty="0"/>
          </a:p>
        </p:txBody>
      </p:sp>
      <p:sp>
        <p:nvSpPr>
          <p:cNvPr id="92" name="Shape 83"/>
          <p:cNvSpPr/>
          <p:nvPr/>
        </p:nvSpPr>
        <p:spPr>
          <a:xfrm>
            <a:off x="7909560" y="5340096"/>
            <a:ext cx="3916375" cy="987552"/>
          </a:xfrm>
          <a:prstGeom prst="roundRect">
            <a:avLst>
              <a:gd name="adj" fmla="val 11111"/>
            </a:avLst>
          </a:prstGeom>
          <a:solidFill>
            <a:srgbClr val="DDE8F7"/>
          </a:solidFill>
          <a:ln w="15875">
            <a:solidFill>
              <a:srgbClr val="243B53"/>
            </a:solidFill>
            <a:prstDash val="solid"/>
          </a:ln>
        </p:spPr>
      </p:sp>
      <p:pic>
        <p:nvPicPr>
          <p:cNvPr id="93" name="Image 7" descr="assets/icons/shield-check.png">    </p:cNvPr>
          <p:cNvPicPr>
            <a:picLocks noChangeAspect="1"/>
          </p:cNvPicPr>
          <p:nvPr/>
        </p:nvPicPr>
        <p:blipFill>
          <a:blip r:embed="rId8"/>
          <a:stretch>
            <a:fillRect/>
          </a:stretch>
        </p:blipFill>
        <p:spPr>
          <a:xfrm>
            <a:off x="8092440" y="5468112"/>
            <a:ext cx="292608" cy="292608"/>
          </a:xfrm>
          <a:prstGeom prst="rect">
            <a:avLst/>
          </a:prstGeom>
        </p:spPr>
      </p:pic>
      <p:sp>
        <p:nvSpPr>
          <p:cNvPr id="94" name="Text 84"/>
          <p:cNvSpPr/>
          <p:nvPr/>
        </p:nvSpPr>
        <p:spPr>
          <a:xfrm>
            <a:off x="8458200" y="5458968"/>
            <a:ext cx="3184855" cy="310896"/>
          </a:xfrm>
          <a:prstGeom prst="rect">
            <a:avLst/>
          </a:prstGeom>
          <a:noFill/>
          <a:ln/>
        </p:spPr>
        <p:txBody>
          <a:bodyPr wrap="square" lIns="0" tIns="0" rIns="0" bIns="0" rtlCol="0" anchor="ctr"/>
          <a:lstStyle/>
          <a:p>
            <a:pPr indent="0" marL="0">
              <a:buNone/>
            </a:pPr>
            <a:r>
              <a:rPr lang="en-US" sz="1400" b="1" dirty="0">
                <a:solidFill>
                  <a:srgbClr val="243B53"/>
                </a:solidFill>
                <a:latin typeface="Arial" pitchFamily="34" charset="0"/>
                <a:ea typeface="Arial" pitchFamily="34" charset="-122"/>
                <a:cs typeface="Arial" pitchFamily="34" charset="-120"/>
              </a:rPr>
              <a:t>Defence Fit</a:t>
            </a:r>
            <a:endParaRPr lang="en-US" sz="1400" dirty="0"/>
          </a:p>
        </p:txBody>
      </p:sp>
      <p:sp>
        <p:nvSpPr>
          <p:cNvPr id="95" name="Text 85"/>
          <p:cNvSpPr/>
          <p:nvPr/>
        </p:nvSpPr>
        <p:spPr>
          <a:xfrm>
            <a:off x="8092440" y="5797296"/>
            <a:ext cx="3550615" cy="475488"/>
          </a:xfrm>
          <a:prstGeom prst="rect">
            <a:avLst/>
          </a:prstGeom>
          <a:noFill/>
          <a:ln/>
        </p:spPr>
        <p:txBody>
          <a:bodyPr wrap="square" lIns="0" tIns="0" rIns="0" bIns="0" rtlCol="0" anchor="t"/>
          <a:lstStyle/>
          <a:p>
            <a:pPr indent="0" marL="0">
              <a:buNone/>
            </a:pPr>
            <a:r>
              <a:rPr lang="en-US" sz="1000" dirty="0">
                <a:solidFill>
                  <a:srgbClr val="2E3A48"/>
                </a:solidFill>
                <a:latin typeface="Arial" pitchFamily="34" charset="0"/>
                <a:ea typeface="Arial" pitchFamily="34" charset="-122"/>
                <a:cs typeface="Arial" pitchFamily="34" charset="-120"/>
              </a:rPr>
              <a:t>DRDO VRDE lists AI-based perception and AI-algorithm validation among UGV technology tasks.</a:t>
            </a:r>
            <a:endParaRPr lang="en-US" sz="1000" dirty="0"/>
          </a:p>
          <a:p>
            <a:pPr indent="0" marL="0">
              <a:buNone/>
            </a:pPr>
            <a:r>
              <a:rPr lang="en-US" sz="1000" i="1" dirty="0">
                <a:solidFill>
                  <a:srgbClr val="4A5563"/>
                </a:solidFill>
                <a:latin typeface="Arial" pitchFamily="34" charset="0"/>
                <a:ea typeface="Arial" pitchFamily="34" charset="-122"/>
                <a:cs typeface="Arial" pitchFamily="34" charset="-120"/>
              </a:rPr>
              <a:t>Relevance only, not endorsement.</a:t>
            </a:r>
            <a:endParaRPr lang="en-US" sz="1000" dirty="0"/>
          </a:p>
        </p:txBody>
      </p:sp>
      <p:sp>
        <p:nvSpPr>
          <p:cNvPr id="96" name="Shape 86"/>
          <p:cNvSpPr/>
          <p:nvPr/>
        </p:nvSpPr>
        <p:spPr>
          <a:xfrm>
            <a:off x="365760" y="6537960"/>
            <a:ext cx="146304" cy="146304"/>
          </a:xfrm>
          <a:prstGeom prst="roundRect">
            <a:avLst>
              <a:gd name="adj" fmla="val 18750"/>
            </a:avLst>
          </a:prstGeom>
          <a:solidFill>
            <a:srgbClr val="2F6B52"/>
          </a:solidFill>
          <a:ln w="12700">
            <a:solidFill>
              <a:srgbClr val="2F6B52"/>
            </a:solidFill>
            <a:prstDash val="solid"/>
          </a:ln>
        </p:spPr>
      </p:sp>
      <p:sp>
        <p:nvSpPr>
          <p:cNvPr id="97" name="Text 87"/>
          <p:cNvSpPr/>
          <p:nvPr/>
        </p:nvSpPr>
        <p:spPr>
          <a:xfrm>
            <a:off x="566928" y="6510528"/>
            <a:ext cx="1166774" cy="201168"/>
          </a:xfrm>
          <a:prstGeom prst="rect">
            <a:avLst/>
          </a:prstGeom>
          <a:noFill/>
          <a:ln/>
        </p:spPr>
        <p:txBody>
          <a:bodyPr wrap="square" lIns="0" tIns="0" rIns="0" bIns="0" rtlCol="0" anchor="ctr"/>
          <a:lstStyle/>
          <a:p>
            <a:pPr indent="0" marL="0">
              <a:buNone/>
            </a:pPr>
            <a:r>
              <a:rPr lang="en-US" sz="900" dirty="0">
                <a:solidFill>
                  <a:srgbClr val="4A5563"/>
                </a:solidFill>
                <a:latin typeface="Arial" pitchFamily="34" charset="0"/>
                <a:ea typeface="Arial" pitchFamily="34" charset="-122"/>
                <a:cs typeface="Arial" pitchFamily="34" charset="-120"/>
              </a:rPr>
              <a:t>Proven / Measured</a:t>
            </a:r>
            <a:endParaRPr lang="en-US" sz="900" dirty="0"/>
          </a:p>
        </p:txBody>
      </p:sp>
      <p:sp>
        <p:nvSpPr>
          <p:cNvPr id="98" name="Shape 88"/>
          <p:cNvSpPr/>
          <p:nvPr/>
        </p:nvSpPr>
        <p:spPr>
          <a:xfrm>
            <a:off x="1916582" y="6537960"/>
            <a:ext cx="146304" cy="146304"/>
          </a:xfrm>
          <a:prstGeom prst="roundRect">
            <a:avLst>
              <a:gd name="adj" fmla="val 18750"/>
            </a:avLst>
          </a:prstGeom>
          <a:solidFill>
            <a:srgbClr val="2F5FA8"/>
          </a:solidFill>
          <a:ln w="12700">
            <a:solidFill>
              <a:srgbClr val="2F5FA8"/>
            </a:solidFill>
            <a:prstDash val="solid"/>
          </a:ln>
        </p:spPr>
      </p:sp>
      <p:sp>
        <p:nvSpPr>
          <p:cNvPr id="99" name="Text 89"/>
          <p:cNvSpPr/>
          <p:nvPr/>
        </p:nvSpPr>
        <p:spPr>
          <a:xfrm>
            <a:off x="2117750" y="6510528"/>
            <a:ext cx="607162" cy="201168"/>
          </a:xfrm>
          <a:prstGeom prst="rect">
            <a:avLst/>
          </a:prstGeom>
          <a:noFill/>
          <a:ln/>
        </p:spPr>
        <p:txBody>
          <a:bodyPr wrap="square" lIns="0" tIns="0" rIns="0" bIns="0" rtlCol="0" anchor="ctr"/>
          <a:lstStyle/>
          <a:p>
            <a:pPr indent="0" marL="0">
              <a:buNone/>
            </a:pPr>
            <a:r>
              <a:rPr lang="en-US" sz="900" dirty="0">
                <a:solidFill>
                  <a:srgbClr val="4A5563"/>
                </a:solidFill>
                <a:latin typeface="Arial" pitchFamily="34" charset="0"/>
                <a:ea typeface="Arial" pitchFamily="34" charset="-122"/>
                <a:cs typeface="Arial" pitchFamily="34" charset="-120"/>
              </a:rPr>
              <a:t>Proposed</a:t>
            </a:r>
            <a:endParaRPr lang="en-US" sz="900" dirty="0"/>
          </a:p>
        </p:txBody>
      </p:sp>
      <p:sp>
        <p:nvSpPr>
          <p:cNvPr id="100" name="Shape 90"/>
          <p:cNvSpPr/>
          <p:nvPr/>
        </p:nvSpPr>
        <p:spPr>
          <a:xfrm>
            <a:off x="2907792" y="6537960"/>
            <a:ext cx="146304" cy="146304"/>
          </a:xfrm>
          <a:prstGeom prst="roundRect">
            <a:avLst>
              <a:gd name="adj" fmla="val 18750"/>
            </a:avLst>
          </a:prstGeom>
          <a:solidFill>
            <a:srgbClr val="FBE0C3"/>
          </a:solidFill>
          <a:ln w="12700">
            <a:solidFill>
              <a:srgbClr val="C8742F"/>
            </a:solidFill>
            <a:prstDash val="solid"/>
          </a:ln>
        </p:spPr>
      </p:sp>
      <p:sp>
        <p:nvSpPr>
          <p:cNvPr id="101" name="Text 91"/>
          <p:cNvSpPr/>
          <p:nvPr/>
        </p:nvSpPr>
        <p:spPr>
          <a:xfrm>
            <a:off x="3108960" y="6510528"/>
            <a:ext cx="1042416" cy="201168"/>
          </a:xfrm>
          <a:prstGeom prst="rect">
            <a:avLst/>
          </a:prstGeom>
          <a:noFill/>
          <a:ln/>
        </p:spPr>
        <p:txBody>
          <a:bodyPr wrap="square" lIns="0" tIns="0" rIns="0" bIns="0" rtlCol="0" anchor="ctr"/>
          <a:lstStyle/>
          <a:p>
            <a:pPr indent="0" marL="0">
              <a:buNone/>
            </a:pPr>
            <a:r>
              <a:rPr lang="en-US" sz="900" dirty="0">
                <a:solidFill>
                  <a:srgbClr val="4A5563"/>
                </a:solidFill>
                <a:latin typeface="Arial" pitchFamily="34" charset="0"/>
                <a:ea typeface="Arial" pitchFamily="34" charset="-122"/>
                <a:cs typeface="Arial" pitchFamily="34" charset="-120"/>
              </a:rPr>
              <a:t>Test / Validate</a:t>
            </a:r>
            <a:endParaRPr lang="en-US" sz="900" dirty="0"/>
          </a:p>
        </p:txBody>
      </p:sp>
      <p:sp>
        <p:nvSpPr>
          <p:cNvPr id="102" name="Text 92"/>
          <p:cNvSpPr/>
          <p:nvPr/>
        </p:nvSpPr>
        <p:spPr>
          <a:xfrm>
            <a:off x="3813048" y="6510528"/>
            <a:ext cx="4572000" cy="201168"/>
          </a:xfrm>
          <a:prstGeom prst="rect">
            <a:avLst/>
          </a:prstGeom>
          <a:noFill/>
          <a:ln/>
        </p:spPr>
        <p:txBody>
          <a:bodyPr wrap="square" lIns="0" tIns="0" rIns="0" bIns="0" rtlCol="0" anchor="ctr"/>
          <a:lstStyle/>
          <a:p>
            <a:pPr algn="ctr" indent="0" marL="0">
              <a:buNone/>
            </a:pPr>
            <a:r>
              <a:rPr lang="en-US" sz="900" spc="200" kern="0" dirty="0">
                <a:solidFill>
                  <a:srgbClr val="4A5563"/>
                </a:solidFill>
                <a:latin typeface="Arial" pitchFamily="34" charset="0"/>
                <a:ea typeface="Arial" pitchFamily="34" charset="-122"/>
                <a:cs typeface="Arial" pitchFamily="34" charset="-120"/>
              </a:rPr>
              <a:t>SMART INDIA HACKATHON 2026  ·  SIH26053</a:t>
            </a:r>
            <a:endParaRPr lang="en-US" sz="900" dirty="0"/>
          </a:p>
        </p:txBody>
      </p:sp>
      <p:sp>
        <p:nvSpPr>
          <p:cNvPr id="103" name="Text 93"/>
          <p:cNvSpPr/>
          <p:nvPr/>
        </p:nvSpPr>
        <p:spPr>
          <a:xfrm>
            <a:off x="11368735" y="6483096"/>
            <a:ext cx="457200" cy="237744"/>
          </a:xfrm>
          <a:prstGeom prst="rect">
            <a:avLst/>
          </a:prstGeom>
          <a:noFill/>
          <a:ln/>
        </p:spPr>
        <p:txBody>
          <a:bodyPr wrap="square" lIns="0" tIns="0" rIns="0" bIns="0" rtlCol="0" anchor="ctr"/>
          <a:lstStyle/>
          <a:p>
            <a:pPr algn="r" indent="0" marL="0">
              <a:buNone/>
            </a:pPr>
            <a:r>
              <a:rPr lang="en-US" sz="1200" dirty="0">
                <a:solidFill>
                  <a:srgbClr val="243B53"/>
                </a:solidFill>
                <a:latin typeface="Comic Sans MS" pitchFamily="34" charset="0"/>
                <a:ea typeface="Comic Sans MS" pitchFamily="34" charset="-122"/>
                <a:cs typeface="Comic Sans MS" pitchFamily="34" charset="-120"/>
              </a:rPr>
              <a:t>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2"/>
        </a:solidFill>
      </p:bgPr>
    </p:bg>
    <p:spTree>
      <p:nvGrpSpPr>
        <p:cNvPr id="1" name=""/>
        <p:cNvGrpSpPr/>
        <p:nvPr/>
      </p:nvGrpSpPr>
      <p:grpSpPr>
        <a:xfrm>
          <a:off x="0" y="0"/>
          <a:ext cx="0" cy="0"/>
          <a:chOff x="0" y="0"/>
          <a:chExt cx="0" cy="0"/>
        </a:xfrm>
      </p:grpSpPr>
      <p:sp>
        <p:nvSpPr>
          <p:cNvPr id="2" name="Text 0"/>
          <p:cNvSpPr/>
          <p:nvPr/>
        </p:nvSpPr>
        <p:spPr>
          <a:xfrm>
            <a:off x="365760" y="256032"/>
            <a:ext cx="1828800" cy="274320"/>
          </a:xfrm>
          <a:prstGeom prst="rect">
            <a:avLst/>
          </a:prstGeom>
          <a:noFill/>
          <a:ln/>
        </p:spPr>
        <p:txBody>
          <a:bodyPr wrap="square" lIns="0" tIns="0" rIns="0" bIns="0" rtlCol="0" anchor="t"/>
          <a:lstStyle/>
          <a:p>
            <a:pPr indent="0" marL="0">
              <a:buNone/>
            </a:pPr>
            <a:r>
              <a:rPr lang="en-US" sz="1300" dirty="0">
                <a:solidFill>
                  <a:srgbClr val="243B53"/>
                </a:solidFill>
                <a:latin typeface="Comic Sans MS" pitchFamily="34" charset="0"/>
                <a:ea typeface="Comic Sans MS" pitchFamily="34" charset="-122"/>
                <a:cs typeface="Comic Sans MS" pitchFamily="34" charset="-120"/>
              </a:rPr>
              <a:t>AstroNex</a:t>
            </a:r>
            <a:endParaRPr lang="en-US" sz="1300" dirty="0"/>
          </a:p>
        </p:txBody>
      </p:sp>
      <p:sp>
        <p:nvSpPr>
          <p:cNvPr id="3" name="Text 1"/>
          <p:cNvSpPr/>
          <p:nvPr/>
        </p:nvSpPr>
        <p:spPr>
          <a:xfrm>
            <a:off x="2194560" y="128016"/>
            <a:ext cx="7799832" cy="566928"/>
          </a:xfrm>
          <a:prstGeom prst="rect">
            <a:avLst/>
          </a:prstGeom>
          <a:noFill/>
          <a:ln/>
        </p:spPr>
        <p:txBody>
          <a:bodyPr wrap="square" lIns="0" tIns="0" rIns="0" bIns="0" rtlCol="0" anchor="ctr"/>
          <a:lstStyle/>
          <a:p>
            <a:pPr algn="ctr" indent="0" marL="0">
              <a:buNone/>
            </a:pPr>
            <a:r>
              <a:rPr lang="en-US" sz="3200" b="1" dirty="0">
                <a:solidFill>
                  <a:srgbClr val="243B53"/>
                </a:solidFill>
                <a:latin typeface="Comic Sans MS" pitchFamily="34" charset="0"/>
                <a:ea typeface="Comic Sans MS" pitchFamily="34" charset="-122"/>
                <a:cs typeface="Comic Sans MS" pitchFamily="34" charset="-120"/>
              </a:rPr>
              <a:t>IMPACT AND BENEFITS</a:t>
            </a:r>
            <a:endParaRPr lang="en-US" sz="3200" dirty="0"/>
          </a:p>
        </p:txBody>
      </p:sp>
      <p:pic>
        <p:nvPicPr>
          <p:cNvPr id="4" name="Image 0" descr="assets/sih-2026-logo.png">    </p:cNvPr>
          <p:cNvPicPr>
            <a:picLocks noChangeAspect="1"/>
          </p:cNvPicPr>
          <p:nvPr/>
        </p:nvPicPr>
        <p:blipFill>
          <a:blip r:embed="rId1"/>
          <a:stretch>
            <a:fillRect/>
          </a:stretch>
        </p:blipFill>
        <p:spPr>
          <a:xfrm>
            <a:off x="10451592" y="146304"/>
            <a:ext cx="1371600" cy="637337"/>
          </a:xfrm>
          <a:prstGeom prst="rect">
            <a:avLst/>
          </a:prstGeom>
        </p:spPr>
      </p:pic>
      <p:sp>
        <p:nvSpPr>
          <p:cNvPr id="5" name="Shape 2"/>
          <p:cNvSpPr/>
          <p:nvPr/>
        </p:nvSpPr>
        <p:spPr>
          <a:xfrm>
            <a:off x="365760" y="1060704"/>
            <a:ext cx="3600602" cy="2487168"/>
          </a:xfrm>
          <a:prstGeom prst="roundRect">
            <a:avLst>
              <a:gd name="adj" fmla="val 4412"/>
            </a:avLst>
          </a:prstGeom>
          <a:solidFill>
            <a:srgbClr val="FDF3F2"/>
          </a:solidFill>
          <a:ln w="19050">
            <a:solidFill>
              <a:srgbClr val="C0392B"/>
            </a:solidFill>
            <a:prstDash val="solid"/>
          </a:ln>
        </p:spPr>
      </p:sp>
      <p:sp>
        <p:nvSpPr>
          <p:cNvPr id="6" name="Shape 3"/>
          <p:cNvSpPr/>
          <p:nvPr/>
        </p:nvSpPr>
        <p:spPr>
          <a:xfrm>
            <a:off x="493776" y="1188720"/>
            <a:ext cx="3344570" cy="566928"/>
          </a:xfrm>
          <a:prstGeom prst="roundRect">
            <a:avLst>
              <a:gd name="adj" fmla="val 16129"/>
            </a:avLst>
          </a:prstGeom>
          <a:solidFill>
            <a:srgbClr val="F8DCD8"/>
          </a:solidFill>
          <a:ln w="6350">
            <a:solidFill>
              <a:srgbClr val="F8DCD8"/>
            </a:solidFill>
            <a:prstDash val="solid"/>
          </a:ln>
        </p:spPr>
      </p:sp>
      <p:sp>
        <p:nvSpPr>
          <p:cNvPr id="7" name="Shape 4"/>
          <p:cNvSpPr/>
          <p:nvPr/>
        </p:nvSpPr>
        <p:spPr>
          <a:xfrm>
            <a:off x="548640" y="1179576"/>
            <a:ext cx="585216" cy="585216"/>
          </a:xfrm>
          <a:prstGeom prst="ellipse">
            <a:avLst/>
          </a:prstGeom>
          <a:solidFill>
            <a:srgbClr val="FFFFFF"/>
          </a:solidFill>
          <a:ln w="22225">
            <a:solidFill>
              <a:srgbClr val="C0392B"/>
            </a:solidFill>
            <a:prstDash val="solid"/>
          </a:ln>
        </p:spPr>
      </p:sp>
      <p:pic>
        <p:nvPicPr>
          <p:cNvPr id="8" name="Image 1" descr="assets/icons/trending-up-C0392B.png">    </p:cNvPr>
          <p:cNvPicPr>
            <a:picLocks noChangeAspect="1"/>
          </p:cNvPicPr>
          <p:nvPr/>
        </p:nvPicPr>
        <p:blipFill>
          <a:blip r:embed="rId2"/>
          <a:stretch>
            <a:fillRect/>
          </a:stretch>
        </p:blipFill>
        <p:spPr>
          <a:xfrm>
            <a:off x="676656" y="1307592"/>
            <a:ext cx="329184" cy="329184"/>
          </a:xfrm>
          <a:prstGeom prst="rect">
            <a:avLst/>
          </a:prstGeom>
        </p:spPr>
      </p:pic>
      <p:sp>
        <p:nvSpPr>
          <p:cNvPr id="9" name="Text 5"/>
          <p:cNvSpPr/>
          <p:nvPr/>
        </p:nvSpPr>
        <p:spPr>
          <a:xfrm>
            <a:off x="1243584" y="1188720"/>
            <a:ext cx="2558186" cy="566928"/>
          </a:xfrm>
          <a:prstGeom prst="rect">
            <a:avLst/>
          </a:prstGeom>
          <a:noFill/>
          <a:ln/>
        </p:spPr>
        <p:txBody>
          <a:bodyPr wrap="square" lIns="0" tIns="0" rIns="0" bIns="0" rtlCol="0" anchor="ctr"/>
          <a:lstStyle/>
          <a:p>
            <a:pPr indent="0" marL="0">
              <a:buNone/>
            </a:pPr>
            <a:r>
              <a:rPr lang="en-US" sz="1500" b="1" dirty="0">
                <a:solidFill>
                  <a:srgbClr val="243B53"/>
                </a:solidFill>
                <a:latin typeface="Arial" pitchFamily="34" charset="0"/>
                <a:ea typeface="Arial" pitchFamily="34" charset="-122"/>
                <a:cs typeface="Arial" pitchFamily="34" charset="-120"/>
              </a:rPr>
              <a:t>Economic</a:t>
            </a:r>
            <a:endParaRPr lang="en-US" sz="1500" dirty="0"/>
          </a:p>
        </p:txBody>
      </p:sp>
      <p:sp>
        <p:nvSpPr>
          <p:cNvPr id="10" name="Shape 6"/>
          <p:cNvSpPr/>
          <p:nvPr/>
        </p:nvSpPr>
        <p:spPr>
          <a:xfrm>
            <a:off x="576072" y="1970532"/>
            <a:ext cx="82296" cy="82296"/>
          </a:xfrm>
          <a:prstGeom prst="ellipse">
            <a:avLst/>
          </a:prstGeom>
          <a:solidFill>
            <a:srgbClr val="C0392B"/>
          </a:solidFill>
          <a:ln w="12700">
            <a:solidFill>
              <a:srgbClr val="C0392B"/>
            </a:solidFill>
            <a:prstDash val="solid"/>
          </a:ln>
        </p:spPr>
      </p:sp>
      <p:sp>
        <p:nvSpPr>
          <p:cNvPr id="11" name="Text 7"/>
          <p:cNvSpPr/>
          <p:nvPr/>
        </p:nvSpPr>
        <p:spPr>
          <a:xfrm>
            <a:off x="768096" y="1920240"/>
            <a:ext cx="3033674" cy="332994"/>
          </a:xfrm>
          <a:prstGeom prst="rect">
            <a:avLst/>
          </a:prstGeom>
          <a:noFill/>
          <a:ln/>
        </p:spPr>
        <p:txBody>
          <a:bodyPr wrap="square" lIns="0" tIns="0" rIns="0" bIns="0" rtlCol="0" anchor="t"/>
          <a:lstStyle/>
          <a:p>
            <a:pPr indent="0" marL="0">
              <a:lnSpc>
                <a:spcPct val="100000"/>
              </a:lnSpc>
              <a:buNone/>
            </a:pPr>
            <a:r>
              <a:rPr lang="en-US" sz="1050" dirty="0">
                <a:solidFill>
                  <a:srgbClr val="2E3A48"/>
                </a:solidFill>
                <a:latin typeface="Arial" pitchFamily="34" charset="0"/>
                <a:ea typeface="Arial" pitchFamily="34" charset="-122"/>
                <a:cs typeface="Arial" pitchFamily="34" charset="-120"/>
              </a:rPr>
              <a:t>33.6% less map data per scan than a uniform 5 cm grid (measured).</a:t>
            </a:r>
            <a:endParaRPr lang="en-US" sz="1050" dirty="0"/>
          </a:p>
        </p:txBody>
      </p:sp>
      <p:sp>
        <p:nvSpPr>
          <p:cNvPr id="12" name="Shape 8"/>
          <p:cNvSpPr/>
          <p:nvPr/>
        </p:nvSpPr>
        <p:spPr>
          <a:xfrm>
            <a:off x="576072" y="2376678"/>
            <a:ext cx="82296" cy="82296"/>
          </a:xfrm>
          <a:prstGeom prst="ellipse">
            <a:avLst/>
          </a:prstGeom>
          <a:solidFill>
            <a:srgbClr val="C0392B"/>
          </a:solidFill>
          <a:ln w="12700">
            <a:solidFill>
              <a:srgbClr val="C0392B"/>
            </a:solidFill>
            <a:prstDash val="solid"/>
          </a:ln>
        </p:spPr>
      </p:sp>
      <p:sp>
        <p:nvSpPr>
          <p:cNvPr id="13" name="Text 9"/>
          <p:cNvSpPr/>
          <p:nvPr/>
        </p:nvSpPr>
        <p:spPr>
          <a:xfrm>
            <a:off x="768096" y="2326386"/>
            <a:ext cx="3033674" cy="332994"/>
          </a:xfrm>
          <a:prstGeom prst="rect">
            <a:avLst/>
          </a:prstGeom>
          <a:noFill/>
          <a:ln/>
        </p:spPr>
        <p:txBody>
          <a:bodyPr wrap="square" lIns="0" tIns="0" rIns="0" bIns="0" rtlCol="0" anchor="t"/>
          <a:lstStyle/>
          <a:p>
            <a:pPr indent="0" marL="0">
              <a:lnSpc>
                <a:spcPct val="100000"/>
              </a:lnSpc>
              <a:buNone/>
            </a:pPr>
            <a:r>
              <a:rPr lang="en-US" sz="1050" dirty="0">
                <a:solidFill>
                  <a:srgbClr val="2E3A48"/>
                </a:solidFill>
                <a:latin typeface="Arial" pitchFamily="34" charset="0"/>
                <a:ea typeface="Arial" pitchFamily="34" charset="-122"/>
                <a:cs typeface="Arial" pitchFamily="34" charset="-120"/>
              </a:rPr>
              <a:t>Smaller maps suit lower-cost embedded computers</a:t>
            </a:r>
            <a:pPr indent="0" marL="0">
              <a:lnSpc>
                <a:spcPct val="100000"/>
              </a:lnSpc>
              <a:buNone/>
            </a:pPr>
            <a:r>
              <a:rPr lang="en-US" sz="1050" i="1" dirty="0">
                <a:solidFill>
                  <a:srgbClr val="C0392B"/>
                </a:solidFill>
                <a:latin typeface="Arial" pitchFamily="34" charset="0"/>
                <a:ea typeface="Arial" pitchFamily="34" charset="-122"/>
                <a:cs typeface="Arial" pitchFamily="34" charset="-120"/>
              </a:rPr>
              <a:t> (hardware to validate).</a:t>
            </a:r>
            <a:endParaRPr lang="en-US" sz="1050" dirty="0"/>
          </a:p>
        </p:txBody>
      </p:sp>
      <p:sp>
        <p:nvSpPr>
          <p:cNvPr id="14" name="Shape 10"/>
          <p:cNvSpPr/>
          <p:nvPr/>
        </p:nvSpPr>
        <p:spPr>
          <a:xfrm>
            <a:off x="576072" y="2782824"/>
            <a:ext cx="82296" cy="82296"/>
          </a:xfrm>
          <a:prstGeom prst="ellipse">
            <a:avLst/>
          </a:prstGeom>
          <a:solidFill>
            <a:srgbClr val="C0392B"/>
          </a:solidFill>
          <a:ln w="12700">
            <a:solidFill>
              <a:srgbClr val="C0392B"/>
            </a:solidFill>
            <a:prstDash val="solid"/>
          </a:ln>
        </p:spPr>
      </p:sp>
      <p:sp>
        <p:nvSpPr>
          <p:cNvPr id="15" name="Text 11"/>
          <p:cNvSpPr/>
          <p:nvPr/>
        </p:nvSpPr>
        <p:spPr>
          <a:xfrm>
            <a:off x="768096" y="2732532"/>
            <a:ext cx="3033674" cy="332994"/>
          </a:xfrm>
          <a:prstGeom prst="rect">
            <a:avLst/>
          </a:prstGeom>
          <a:noFill/>
          <a:ln/>
        </p:spPr>
        <p:txBody>
          <a:bodyPr wrap="square" lIns="0" tIns="0" rIns="0" bIns="0" rtlCol="0" anchor="t"/>
          <a:lstStyle/>
          <a:p>
            <a:pPr indent="0" marL="0">
              <a:lnSpc>
                <a:spcPct val="100000"/>
              </a:lnSpc>
              <a:buNone/>
            </a:pPr>
            <a:r>
              <a:rPr lang="en-US" sz="1050" dirty="0">
                <a:solidFill>
                  <a:srgbClr val="2E3A48"/>
                </a:solidFill>
                <a:latin typeface="Arial" pitchFamily="34" charset="0"/>
                <a:ea typeface="Arial" pitchFamily="34" charset="-122"/>
                <a:cs typeface="Arial" pitchFamily="34" charset="-120"/>
              </a:rPr>
              <a:t>One reusable pipeline avoids rebuilding perception per platform.</a:t>
            </a:r>
            <a:endParaRPr lang="en-US" sz="1050" dirty="0"/>
          </a:p>
        </p:txBody>
      </p:sp>
      <p:sp>
        <p:nvSpPr>
          <p:cNvPr id="16" name="Shape 12"/>
          <p:cNvSpPr/>
          <p:nvPr/>
        </p:nvSpPr>
        <p:spPr>
          <a:xfrm>
            <a:off x="576072" y="3188970"/>
            <a:ext cx="82296" cy="82296"/>
          </a:xfrm>
          <a:prstGeom prst="ellipse">
            <a:avLst/>
          </a:prstGeom>
          <a:solidFill>
            <a:srgbClr val="C0392B"/>
          </a:solidFill>
          <a:ln w="12700">
            <a:solidFill>
              <a:srgbClr val="C0392B"/>
            </a:solidFill>
            <a:prstDash val="solid"/>
          </a:ln>
        </p:spPr>
      </p:sp>
      <p:sp>
        <p:nvSpPr>
          <p:cNvPr id="17" name="Text 13"/>
          <p:cNvSpPr/>
          <p:nvPr/>
        </p:nvSpPr>
        <p:spPr>
          <a:xfrm>
            <a:off x="768096" y="3138678"/>
            <a:ext cx="3033674" cy="332994"/>
          </a:xfrm>
          <a:prstGeom prst="rect">
            <a:avLst/>
          </a:prstGeom>
          <a:noFill/>
          <a:ln/>
        </p:spPr>
        <p:txBody>
          <a:bodyPr wrap="square" lIns="0" tIns="0" rIns="0" bIns="0" rtlCol="0" anchor="t"/>
          <a:lstStyle/>
          <a:p>
            <a:pPr indent="0" marL="0">
              <a:lnSpc>
                <a:spcPct val="100000"/>
              </a:lnSpc>
              <a:buNone/>
            </a:pPr>
            <a:r>
              <a:rPr lang="en-US" sz="1050" dirty="0">
                <a:solidFill>
                  <a:srgbClr val="2E3A48"/>
                </a:solidFill>
                <a:latin typeface="Arial" pitchFamily="34" charset="0"/>
                <a:ea typeface="Arial" pitchFamily="34" charset="-122"/>
                <a:cs typeface="Arial" pitchFamily="34" charset="-120"/>
              </a:rPr>
              <a:t>Height evidence may reduce terrain-related vehicle damage</a:t>
            </a:r>
            <a:pPr indent="0" marL="0">
              <a:lnSpc>
                <a:spcPct val="100000"/>
              </a:lnSpc>
              <a:buNone/>
            </a:pPr>
            <a:r>
              <a:rPr lang="en-US" sz="1050" i="1" dirty="0">
                <a:solidFill>
                  <a:srgbClr val="C0392B"/>
                </a:solidFill>
                <a:latin typeface="Arial" pitchFamily="34" charset="0"/>
                <a:ea typeface="Arial" pitchFamily="34" charset="-122"/>
                <a:cs typeface="Arial" pitchFamily="34" charset="-120"/>
              </a:rPr>
              <a:t> (field trials needed).</a:t>
            </a:r>
            <a:endParaRPr lang="en-US" sz="1050" dirty="0"/>
          </a:p>
        </p:txBody>
      </p:sp>
      <p:sp>
        <p:nvSpPr>
          <p:cNvPr id="18" name="Shape 14"/>
          <p:cNvSpPr/>
          <p:nvPr/>
        </p:nvSpPr>
        <p:spPr>
          <a:xfrm>
            <a:off x="4012082" y="2304288"/>
            <a:ext cx="237744" cy="0"/>
          </a:xfrm>
          <a:prstGeom prst="line">
            <a:avLst/>
          </a:prstGeom>
          <a:noFill/>
          <a:ln w="22225">
            <a:solidFill>
              <a:srgbClr val="243B53"/>
            </a:solidFill>
            <a:prstDash val="solid"/>
            <a:tailEnd type="triangle"/>
          </a:ln>
        </p:spPr>
      </p:sp>
      <p:sp>
        <p:nvSpPr>
          <p:cNvPr id="19" name="Shape 15"/>
          <p:cNvSpPr/>
          <p:nvPr/>
        </p:nvSpPr>
        <p:spPr>
          <a:xfrm>
            <a:off x="4295546" y="1060704"/>
            <a:ext cx="3600602" cy="2487168"/>
          </a:xfrm>
          <a:prstGeom prst="roundRect">
            <a:avLst>
              <a:gd name="adj" fmla="val 4412"/>
            </a:avLst>
          </a:prstGeom>
          <a:solidFill>
            <a:srgbClr val="F2F8F3"/>
          </a:solidFill>
          <a:ln w="19050">
            <a:solidFill>
              <a:srgbClr val="3F7D5A"/>
            </a:solidFill>
            <a:prstDash val="solid"/>
          </a:ln>
        </p:spPr>
      </p:sp>
      <p:sp>
        <p:nvSpPr>
          <p:cNvPr id="20" name="Shape 16"/>
          <p:cNvSpPr/>
          <p:nvPr/>
        </p:nvSpPr>
        <p:spPr>
          <a:xfrm>
            <a:off x="4423562" y="1188720"/>
            <a:ext cx="3344570" cy="566928"/>
          </a:xfrm>
          <a:prstGeom prst="roundRect">
            <a:avLst>
              <a:gd name="adj" fmla="val 16129"/>
            </a:avLst>
          </a:prstGeom>
          <a:solidFill>
            <a:srgbClr val="DCEEDB"/>
          </a:solidFill>
          <a:ln w="6350">
            <a:solidFill>
              <a:srgbClr val="DCEEDB"/>
            </a:solidFill>
            <a:prstDash val="solid"/>
          </a:ln>
        </p:spPr>
      </p:sp>
      <p:sp>
        <p:nvSpPr>
          <p:cNvPr id="21" name="Shape 17"/>
          <p:cNvSpPr/>
          <p:nvPr/>
        </p:nvSpPr>
        <p:spPr>
          <a:xfrm>
            <a:off x="4478426" y="1179576"/>
            <a:ext cx="585216" cy="585216"/>
          </a:xfrm>
          <a:prstGeom prst="ellipse">
            <a:avLst/>
          </a:prstGeom>
          <a:solidFill>
            <a:srgbClr val="FFFFFF"/>
          </a:solidFill>
          <a:ln w="22225">
            <a:solidFill>
              <a:srgbClr val="3F7D5A"/>
            </a:solidFill>
            <a:prstDash val="solid"/>
          </a:ln>
        </p:spPr>
      </p:sp>
      <p:pic>
        <p:nvPicPr>
          <p:cNvPr id="22" name="Image 2" descr="assets/icons/leaf-3F7D5A.png">    </p:cNvPr>
          <p:cNvPicPr>
            <a:picLocks noChangeAspect="1"/>
          </p:cNvPicPr>
          <p:nvPr/>
        </p:nvPicPr>
        <p:blipFill>
          <a:blip r:embed="rId3"/>
          <a:stretch>
            <a:fillRect/>
          </a:stretch>
        </p:blipFill>
        <p:spPr>
          <a:xfrm>
            <a:off x="4606442" y="1307592"/>
            <a:ext cx="329184" cy="329184"/>
          </a:xfrm>
          <a:prstGeom prst="rect">
            <a:avLst/>
          </a:prstGeom>
        </p:spPr>
      </p:pic>
      <p:sp>
        <p:nvSpPr>
          <p:cNvPr id="23" name="Text 18"/>
          <p:cNvSpPr/>
          <p:nvPr/>
        </p:nvSpPr>
        <p:spPr>
          <a:xfrm>
            <a:off x="5173370" y="1188720"/>
            <a:ext cx="2558186" cy="566928"/>
          </a:xfrm>
          <a:prstGeom prst="rect">
            <a:avLst/>
          </a:prstGeom>
          <a:noFill/>
          <a:ln/>
        </p:spPr>
        <p:txBody>
          <a:bodyPr wrap="square" lIns="0" tIns="0" rIns="0" bIns="0" rtlCol="0" anchor="ctr"/>
          <a:lstStyle/>
          <a:p>
            <a:pPr indent="0" marL="0">
              <a:buNone/>
            </a:pPr>
            <a:r>
              <a:rPr lang="en-US" sz="1500" b="1" dirty="0">
                <a:solidFill>
                  <a:srgbClr val="243B53"/>
                </a:solidFill>
                <a:latin typeface="Arial" pitchFamily="34" charset="0"/>
                <a:ea typeface="Arial" pitchFamily="34" charset="-122"/>
                <a:cs typeface="Arial" pitchFamily="34" charset="-120"/>
              </a:rPr>
              <a:t>Environmental</a:t>
            </a:r>
            <a:endParaRPr lang="en-US" sz="1500" dirty="0"/>
          </a:p>
        </p:txBody>
      </p:sp>
      <p:sp>
        <p:nvSpPr>
          <p:cNvPr id="24" name="Shape 19"/>
          <p:cNvSpPr/>
          <p:nvPr/>
        </p:nvSpPr>
        <p:spPr>
          <a:xfrm>
            <a:off x="4505858" y="1970532"/>
            <a:ext cx="82296" cy="82296"/>
          </a:xfrm>
          <a:prstGeom prst="ellipse">
            <a:avLst/>
          </a:prstGeom>
          <a:solidFill>
            <a:srgbClr val="3F7D5A"/>
          </a:solidFill>
          <a:ln w="12700">
            <a:solidFill>
              <a:srgbClr val="3F7D5A"/>
            </a:solidFill>
            <a:prstDash val="solid"/>
          </a:ln>
        </p:spPr>
      </p:sp>
      <p:sp>
        <p:nvSpPr>
          <p:cNvPr id="25" name="Text 20"/>
          <p:cNvSpPr/>
          <p:nvPr/>
        </p:nvSpPr>
        <p:spPr>
          <a:xfrm>
            <a:off x="4697882" y="1920240"/>
            <a:ext cx="3033674" cy="175641"/>
          </a:xfrm>
          <a:prstGeom prst="rect">
            <a:avLst/>
          </a:prstGeom>
          <a:noFill/>
          <a:ln/>
        </p:spPr>
        <p:txBody>
          <a:bodyPr wrap="square" lIns="0" tIns="0" rIns="0" bIns="0" rtlCol="0" anchor="t"/>
          <a:lstStyle/>
          <a:p>
            <a:pPr indent="0" marL="0">
              <a:lnSpc>
                <a:spcPct val="100000"/>
              </a:lnSpc>
              <a:buNone/>
            </a:pPr>
            <a:r>
              <a:rPr lang="en-US" sz="1050" dirty="0">
                <a:solidFill>
                  <a:srgbClr val="2E3A48"/>
                </a:solidFill>
                <a:latin typeface="Arial" pitchFamily="34" charset="0"/>
                <a:ea typeface="Arial" pitchFamily="34" charset="-122"/>
                <a:cs typeface="Arial" pitchFamily="34" charset="-120"/>
              </a:rPr>
              <a:t>Less map data to store and process for every scan.</a:t>
            </a:r>
            <a:endParaRPr lang="en-US" sz="1050" dirty="0"/>
          </a:p>
        </p:txBody>
      </p:sp>
      <p:sp>
        <p:nvSpPr>
          <p:cNvPr id="26" name="Shape 21"/>
          <p:cNvSpPr/>
          <p:nvPr/>
        </p:nvSpPr>
        <p:spPr>
          <a:xfrm>
            <a:off x="4505858" y="2219325"/>
            <a:ext cx="82296" cy="82296"/>
          </a:xfrm>
          <a:prstGeom prst="ellipse">
            <a:avLst/>
          </a:prstGeom>
          <a:solidFill>
            <a:srgbClr val="3F7D5A"/>
          </a:solidFill>
          <a:ln w="12700">
            <a:solidFill>
              <a:srgbClr val="3F7D5A"/>
            </a:solidFill>
            <a:prstDash val="solid"/>
          </a:ln>
        </p:spPr>
      </p:sp>
      <p:sp>
        <p:nvSpPr>
          <p:cNvPr id="27" name="Text 22"/>
          <p:cNvSpPr/>
          <p:nvPr/>
        </p:nvSpPr>
        <p:spPr>
          <a:xfrm>
            <a:off x="4697882" y="2169033"/>
            <a:ext cx="3033674" cy="332994"/>
          </a:xfrm>
          <a:prstGeom prst="rect">
            <a:avLst/>
          </a:prstGeom>
          <a:noFill/>
          <a:ln/>
        </p:spPr>
        <p:txBody>
          <a:bodyPr wrap="square" lIns="0" tIns="0" rIns="0" bIns="0" rtlCol="0" anchor="t"/>
          <a:lstStyle/>
          <a:p>
            <a:pPr indent="0" marL="0">
              <a:lnSpc>
                <a:spcPct val="100000"/>
              </a:lnSpc>
              <a:buNone/>
            </a:pPr>
            <a:r>
              <a:rPr lang="en-US" sz="1050" dirty="0">
                <a:solidFill>
                  <a:srgbClr val="2E3A48"/>
                </a:solidFill>
                <a:latin typeface="Arial" pitchFamily="34" charset="0"/>
                <a:ea typeface="Arial" pitchFamily="34" charset="-122"/>
                <a:cs typeface="Arial" pitchFamily="34" charset="-120"/>
              </a:rPr>
              <a:t>Lower compute load can reduce power draw</a:t>
            </a:r>
            <a:pPr indent="0" marL="0">
              <a:lnSpc>
                <a:spcPct val="100000"/>
              </a:lnSpc>
              <a:buNone/>
            </a:pPr>
            <a:r>
              <a:rPr lang="en-US" sz="1050" i="1" dirty="0">
                <a:solidFill>
                  <a:srgbClr val="3F7D5A"/>
                </a:solidFill>
                <a:latin typeface="Arial" pitchFamily="34" charset="0"/>
                <a:ea typeface="Arial" pitchFamily="34" charset="-122"/>
                <a:cs typeface="Arial" pitchFamily="34" charset="-120"/>
              </a:rPr>
              <a:t> (not yet measured).</a:t>
            </a:r>
            <a:endParaRPr lang="en-US" sz="1050" dirty="0"/>
          </a:p>
        </p:txBody>
      </p:sp>
      <p:sp>
        <p:nvSpPr>
          <p:cNvPr id="28" name="Shape 23"/>
          <p:cNvSpPr/>
          <p:nvPr/>
        </p:nvSpPr>
        <p:spPr>
          <a:xfrm>
            <a:off x="4505858" y="2625471"/>
            <a:ext cx="82296" cy="82296"/>
          </a:xfrm>
          <a:prstGeom prst="ellipse">
            <a:avLst/>
          </a:prstGeom>
          <a:solidFill>
            <a:srgbClr val="3F7D5A"/>
          </a:solidFill>
          <a:ln w="12700">
            <a:solidFill>
              <a:srgbClr val="3F7D5A"/>
            </a:solidFill>
            <a:prstDash val="solid"/>
          </a:ln>
        </p:spPr>
      </p:sp>
      <p:sp>
        <p:nvSpPr>
          <p:cNvPr id="29" name="Text 24"/>
          <p:cNvSpPr/>
          <p:nvPr/>
        </p:nvSpPr>
        <p:spPr>
          <a:xfrm>
            <a:off x="4697882" y="2575179"/>
            <a:ext cx="3033674" cy="332994"/>
          </a:xfrm>
          <a:prstGeom prst="rect">
            <a:avLst/>
          </a:prstGeom>
          <a:noFill/>
          <a:ln/>
        </p:spPr>
        <p:txBody>
          <a:bodyPr wrap="square" lIns="0" tIns="0" rIns="0" bIns="0" rtlCol="0" anchor="t"/>
          <a:lstStyle/>
          <a:p>
            <a:pPr indent="0" marL="0">
              <a:lnSpc>
                <a:spcPct val="100000"/>
              </a:lnSpc>
              <a:buNone/>
            </a:pPr>
            <a:r>
              <a:rPr lang="en-US" sz="1050" dirty="0">
                <a:solidFill>
                  <a:srgbClr val="2E3A48"/>
                </a:solidFill>
                <a:latin typeface="Arial" pitchFamily="34" charset="0"/>
                <a:ea typeface="Arial" pitchFamily="34" charset="-122"/>
                <a:cs typeface="Arial" pitchFamily="34" charset="-120"/>
              </a:rPr>
              <a:t>Could extend battery operating time</a:t>
            </a:r>
            <a:pPr indent="0" marL="0">
              <a:lnSpc>
                <a:spcPct val="100000"/>
              </a:lnSpc>
              <a:buNone/>
            </a:pPr>
            <a:r>
              <a:rPr lang="en-US" sz="1050" i="1" dirty="0">
                <a:solidFill>
                  <a:srgbClr val="3F7D5A"/>
                </a:solidFill>
                <a:latin typeface="Arial" pitchFamily="34" charset="0"/>
                <a:ea typeface="Arial" pitchFamily="34" charset="-122"/>
                <a:cs typeface="Arial" pitchFamily="34" charset="-120"/>
              </a:rPr>
              <a:t> (to validate on a vehicle).</a:t>
            </a:r>
            <a:endParaRPr lang="en-US" sz="1050" dirty="0"/>
          </a:p>
        </p:txBody>
      </p:sp>
      <p:sp>
        <p:nvSpPr>
          <p:cNvPr id="30" name="Shape 25"/>
          <p:cNvSpPr/>
          <p:nvPr/>
        </p:nvSpPr>
        <p:spPr>
          <a:xfrm>
            <a:off x="4505858" y="3031617"/>
            <a:ext cx="82296" cy="82296"/>
          </a:xfrm>
          <a:prstGeom prst="ellipse">
            <a:avLst/>
          </a:prstGeom>
          <a:solidFill>
            <a:srgbClr val="3F7D5A"/>
          </a:solidFill>
          <a:ln w="12700">
            <a:solidFill>
              <a:srgbClr val="3F7D5A"/>
            </a:solidFill>
            <a:prstDash val="solid"/>
          </a:ln>
        </p:spPr>
      </p:sp>
      <p:sp>
        <p:nvSpPr>
          <p:cNvPr id="31" name="Text 26"/>
          <p:cNvSpPr/>
          <p:nvPr/>
        </p:nvSpPr>
        <p:spPr>
          <a:xfrm>
            <a:off x="4697882" y="2981325"/>
            <a:ext cx="3033674" cy="175641"/>
          </a:xfrm>
          <a:prstGeom prst="rect">
            <a:avLst/>
          </a:prstGeom>
          <a:noFill/>
          <a:ln/>
        </p:spPr>
        <p:txBody>
          <a:bodyPr wrap="square" lIns="0" tIns="0" rIns="0" bIns="0" rtlCol="0" anchor="t"/>
          <a:lstStyle/>
          <a:p>
            <a:pPr indent="0" marL="0">
              <a:lnSpc>
                <a:spcPct val="100000"/>
              </a:lnSpc>
              <a:buNone/>
            </a:pPr>
            <a:r>
              <a:rPr lang="en-US" sz="1050" dirty="0">
                <a:solidFill>
                  <a:srgbClr val="2E3A48"/>
                </a:solidFill>
                <a:latin typeface="Arial" pitchFamily="34" charset="0"/>
                <a:ea typeface="Arial" pitchFamily="34" charset="-122"/>
                <a:cs typeface="Arial" pitchFamily="34" charset="-120"/>
              </a:rPr>
              <a:t>Runs offline: no cloud servers or data transfer.</a:t>
            </a:r>
            <a:endParaRPr lang="en-US" sz="1050" dirty="0"/>
          </a:p>
        </p:txBody>
      </p:sp>
      <p:sp>
        <p:nvSpPr>
          <p:cNvPr id="32" name="Shape 27"/>
          <p:cNvSpPr/>
          <p:nvPr/>
        </p:nvSpPr>
        <p:spPr>
          <a:xfrm>
            <a:off x="7941869" y="2304288"/>
            <a:ext cx="237744" cy="0"/>
          </a:xfrm>
          <a:prstGeom prst="line">
            <a:avLst/>
          </a:prstGeom>
          <a:noFill/>
          <a:ln w="22225">
            <a:solidFill>
              <a:srgbClr val="243B53"/>
            </a:solidFill>
            <a:prstDash val="solid"/>
            <a:tailEnd type="triangle"/>
          </a:ln>
        </p:spPr>
      </p:sp>
      <p:sp>
        <p:nvSpPr>
          <p:cNvPr id="33" name="Shape 28"/>
          <p:cNvSpPr/>
          <p:nvPr/>
        </p:nvSpPr>
        <p:spPr>
          <a:xfrm>
            <a:off x="8225333" y="1060704"/>
            <a:ext cx="3600602" cy="2487168"/>
          </a:xfrm>
          <a:prstGeom prst="roundRect">
            <a:avLst>
              <a:gd name="adj" fmla="val 4412"/>
            </a:avLst>
          </a:prstGeom>
          <a:solidFill>
            <a:srgbClr val="F1F5FC"/>
          </a:solidFill>
          <a:ln w="19050">
            <a:solidFill>
              <a:srgbClr val="2F5FA8"/>
            </a:solidFill>
            <a:prstDash val="solid"/>
          </a:ln>
        </p:spPr>
      </p:sp>
      <p:sp>
        <p:nvSpPr>
          <p:cNvPr id="34" name="Shape 29"/>
          <p:cNvSpPr/>
          <p:nvPr/>
        </p:nvSpPr>
        <p:spPr>
          <a:xfrm>
            <a:off x="8353349" y="1188720"/>
            <a:ext cx="3344570" cy="566928"/>
          </a:xfrm>
          <a:prstGeom prst="roundRect">
            <a:avLst>
              <a:gd name="adj" fmla="val 16129"/>
            </a:avLst>
          </a:prstGeom>
          <a:solidFill>
            <a:srgbClr val="DDE8F7"/>
          </a:solidFill>
          <a:ln w="6350">
            <a:solidFill>
              <a:srgbClr val="DDE8F7"/>
            </a:solidFill>
            <a:prstDash val="solid"/>
          </a:ln>
        </p:spPr>
      </p:sp>
      <p:sp>
        <p:nvSpPr>
          <p:cNvPr id="35" name="Shape 30"/>
          <p:cNvSpPr/>
          <p:nvPr/>
        </p:nvSpPr>
        <p:spPr>
          <a:xfrm>
            <a:off x="8408213" y="1179576"/>
            <a:ext cx="585216" cy="585216"/>
          </a:xfrm>
          <a:prstGeom prst="ellipse">
            <a:avLst/>
          </a:prstGeom>
          <a:solidFill>
            <a:srgbClr val="FFFFFF"/>
          </a:solidFill>
          <a:ln w="22225">
            <a:solidFill>
              <a:srgbClr val="2F5FA8"/>
            </a:solidFill>
            <a:prstDash val="solid"/>
          </a:ln>
        </p:spPr>
      </p:sp>
      <p:pic>
        <p:nvPicPr>
          <p:cNvPr id="36" name="Image 3" descr="assets/icons/cog-2F5FA8.png">    </p:cNvPr>
          <p:cNvPicPr>
            <a:picLocks noChangeAspect="1"/>
          </p:cNvPicPr>
          <p:nvPr/>
        </p:nvPicPr>
        <p:blipFill>
          <a:blip r:embed="rId4"/>
          <a:stretch>
            <a:fillRect/>
          </a:stretch>
        </p:blipFill>
        <p:spPr>
          <a:xfrm>
            <a:off x="8536229" y="1307592"/>
            <a:ext cx="329184" cy="329184"/>
          </a:xfrm>
          <a:prstGeom prst="rect">
            <a:avLst/>
          </a:prstGeom>
        </p:spPr>
      </p:pic>
      <p:sp>
        <p:nvSpPr>
          <p:cNvPr id="37" name="Text 31"/>
          <p:cNvSpPr/>
          <p:nvPr/>
        </p:nvSpPr>
        <p:spPr>
          <a:xfrm>
            <a:off x="9103157" y="1188720"/>
            <a:ext cx="2558186" cy="566928"/>
          </a:xfrm>
          <a:prstGeom prst="rect">
            <a:avLst/>
          </a:prstGeom>
          <a:noFill/>
          <a:ln/>
        </p:spPr>
        <p:txBody>
          <a:bodyPr wrap="square" lIns="0" tIns="0" rIns="0" bIns="0" rtlCol="0" anchor="ctr"/>
          <a:lstStyle/>
          <a:p>
            <a:pPr indent="0" marL="0">
              <a:buNone/>
            </a:pPr>
            <a:r>
              <a:rPr lang="en-US" sz="1500" b="1" dirty="0">
                <a:solidFill>
                  <a:srgbClr val="243B53"/>
                </a:solidFill>
                <a:latin typeface="Arial" pitchFamily="34" charset="0"/>
                <a:ea typeface="Arial" pitchFamily="34" charset="-122"/>
                <a:cs typeface="Arial" pitchFamily="34" charset="-120"/>
              </a:rPr>
              <a:t>Strategic / Indigenization</a:t>
            </a:r>
            <a:endParaRPr lang="en-US" sz="1500" dirty="0"/>
          </a:p>
        </p:txBody>
      </p:sp>
      <p:sp>
        <p:nvSpPr>
          <p:cNvPr id="38" name="Shape 32"/>
          <p:cNvSpPr/>
          <p:nvPr/>
        </p:nvSpPr>
        <p:spPr>
          <a:xfrm>
            <a:off x="8435645" y="1970532"/>
            <a:ext cx="82296" cy="82296"/>
          </a:xfrm>
          <a:prstGeom prst="ellipse">
            <a:avLst/>
          </a:prstGeom>
          <a:solidFill>
            <a:srgbClr val="2F5FA8"/>
          </a:solidFill>
          <a:ln w="12700">
            <a:solidFill>
              <a:srgbClr val="2F5FA8"/>
            </a:solidFill>
            <a:prstDash val="solid"/>
          </a:ln>
        </p:spPr>
      </p:sp>
      <p:sp>
        <p:nvSpPr>
          <p:cNvPr id="39" name="Text 33"/>
          <p:cNvSpPr/>
          <p:nvPr/>
        </p:nvSpPr>
        <p:spPr>
          <a:xfrm>
            <a:off x="8627669" y="1920240"/>
            <a:ext cx="3033674" cy="332994"/>
          </a:xfrm>
          <a:prstGeom prst="rect">
            <a:avLst/>
          </a:prstGeom>
          <a:noFill/>
          <a:ln/>
        </p:spPr>
        <p:txBody>
          <a:bodyPr wrap="square" lIns="0" tIns="0" rIns="0" bIns="0" rtlCol="0" anchor="t"/>
          <a:lstStyle/>
          <a:p>
            <a:pPr indent="0" marL="0">
              <a:lnSpc>
                <a:spcPct val="100000"/>
              </a:lnSpc>
              <a:buNone/>
            </a:pPr>
            <a:r>
              <a:rPr lang="en-US" sz="1050" dirty="0">
                <a:solidFill>
                  <a:srgbClr val="2E3A48"/>
                </a:solidFill>
                <a:latin typeface="Arial" pitchFamily="34" charset="0"/>
                <a:ea typeface="Arial" pitchFamily="34" charset="-122"/>
                <a:cs typeface="Arial" pitchFamily="34" charset="-120"/>
              </a:rPr>
              <a:t>Team-owned pipeline Indian engineers can audit, retrain and extend.</a:t>
            </a:r>
            <a:endParaRPr lang="en-US" sz="1050" dirty="0"/>
          </a:p>
        </p:txBody>
      </p:sp>
      <p:sp>
        <p:nvSpPr>
          <p:cNvPr id="40" name="Shape 34"/>
          <p:cNvSpPr/>
          <p:nvPr/>
        </p:nvSpPr>
        <p:spPr>
          <a:xfrm>
            <a:off x="8435645" y="2376678"/>
            <a:ext cx="82296" cy="82296"/>
          </a:xfrm>
          <a:prstGeom prst="ellipse">
            <a:avLst/>
          </a:prstGeom>
          <a:solidFill>
            <a:srgbClr val="2F5FA8"/>
          </a:solidFill>
          <a:ln w="12700">
            <a:solidFill>
              <a:srgbClr val="2F5FA8"/>
            </a:solidFill>
            <a:prstDash val="solid"/>
          </a:ln>
        </p:spPr>
      </p:sp>
      <p:sp>
        <p:nvSpPr>
          <p:cNvPr id="41" name="Text 35"/>
          <p:cNvSpPr/>
          <p:nvPr/>
        </p:nvSpPr>
        <p:spPr>
          <a:xfrm>
            <a:off x="8627669" y="2326386"/>
            <a:ext cx="3033674" cy="332994"/>
          </a:xfrm>
          <a:prstGeom prst="rect">
            <a:avLst/>
          </a:prstGeom>
          <a:noFill/>
          <a:ln/>
        </p:spPr>
        <p:txBody>
          <a:bodyPr wrap="square" lIns="0" tIns="0" rIns="0" bIns="0" rtlCol="0" anchor="t"/>
          <a:lstStyle/>
          <a:p>
            <a:pPr indent="0" marL="0">
              <a:lnSpc>
                <a:spcPct val="100000"/>
              </a:lnSpc>
              <a:buNone/>
            </a:pPr>
            <a:r>
              <a:rPr lang="en-US" sz="1050" dirty="0">
                <a:solidFill>
                  <a:srgbClr val="2E3A48"/>
                </a:solidFill>
                <a:latin typeface="Arial" pitchFamily="34" charset="0"/>
                <a:ea typeface="Arial" pitchFamily="34" charset="-122"/>
                <a:cs typeface="Arial" pitchFamily="34" charset="-120"/>
              </a:rPr>
              <a:t>Aligns with DRDO VRDE's listed AI perception and validation tasks.</a:t>
            </a:r>
            <a:endParaRPr lang="en-US" sz="1050" dirty="0"/>
          </a:p>
        </p:txBody>
      </p:sp>
      <p:sp>
        <p:nvSpPr>
          <p:cNvPr id="42" name="Shape 36"/>
          <p:cNvSpPr/>
          <p:nvPr/>
        </p:nvSpPr>
        <p:spPr>
          <a:xfrm>
            <a:off x="8435645" y="2782824"/>
            <a:ext cx="82296" cy="82296"/>
          </a:xfrm>
          <a:prstGeom prst="ellipse">
            <a:avLst/>
          </a:prstGeom>
          <a:solidFill>
            <a:srgbClr val="2F5FA8"/>
          </a:solidFill>
          <a:ln w="12700">
            <a:solidFill>
              <a:srgbClr val="2F5FA8"/>
            </a:solidFill>
            <a:prstDash val="solid"/>
          </a:ln>
        </p:spPr>
      </p:sp>
      <p:sp>
        <p:nvSpPr>
          <p:cNvPr id="43" name="Text 37"/>
          <p:cNvSpPr/>
          <p:nvPr/>
        </p:nvSpPr>
        <p:spPr>
          <a:xfrm>
            <a:off x="8627669" y="2732532"/>
            <a:ext cx="3033674" cy="332994"/>
          </a:xfrm>
          <a:prstGeom prst="rect">
            <a:avLst/>
          </a:prstGeom>
          <a:noFill/>
          <a:ln/>
        </p:spPr>
        <p:txBody>
          <a:bodyPr wrap="square" lIns="0" tIns="0" rIns="0" bIns="0" rtlCol="0" anchor="t"/>
          <a:lstStyle/>
          <a:p>
            <a:pPr indent="0" marL="0">
              <a:lnSpc>
                <a:spcPct val="100000"/>
              </a:lnSpc>
              <a:buNone/>
            </a:pPr>
            <a:r>
              <a:rPr lang="en-US" sz="1050" dirty="0">
                <a:solidFill>
                  <a:srgbClr val="2E3A48"/>
                </a:solidFill>
                <a:latin typeface="Arial" pitchFamily="34" charset="0"/>
                <a:ea typeface="Arial" pitchFamily="34" charset="-122"/>
                <a:cs typeface="Arial" pitchFamily="34" charset="-120"/>
              </a:rPr>
              <a:t>Config-driven grid fits many vehicle platforms</a:t>
            </a:r>
            <a:pPr indent="0" marL="0">
              <a:lnSpc>
                <a:spcPct val="100000"/>
              </a:lnSpc>
              <a:buNone/>
            </a:pPr>
            <a:r>
              <a:rPr lang="en-US" sz="1050" i="1" dirty="0">
                <a:solidFill>
                  <a:srgbClr val="2F5FA8"/>
                </a:solidFill>
                <a:latin typeface="Arial" pitchFamily="34" charset="0"/>
                <a:ea typeface="Arial" pitchFamily="34" charset="-122"/>
                <a:cs typeface="Arial" pitchFamily="34" charset="-120"/>
              </a:rPr>
              <a:t> (ROS 2 adapter proposed).</a:t>
            </a:r>
            <a:endParaRPr lang="en-US" sz="1050" dirty="0"/>
          </a:p>
        </p:txBody>
      </p:sp>
      <p:sp>
        <p:nvSpPr>
          <p:cNvPr id="44" name="Shape 38"/>
          <p:cNvSpPr/>
          <p:nvPr/>
        </p:nvSpPr>
        <p:spPr>
          <a:xfrm>
            <a:off x="8435645" y="3188970"/>
            <a:ext cx="82296" cy="82296"/>
          </a:xfrm>
          <a:prstGeom prst="ellipse">
            <a:avLst/>
          </a:prstGeom>
          <a:solidFill>
            <a:srgbClr val="2F5FA8"/>
          </a:solidFill>
          <a:ln w="12700">
            <a:solidFill>
              <a:srgbClr val="2F5FA8"/>
            </a:solidFill>
            <a:prstDash val="solid"/>
          </a:ln>
        </p:spPr>
      </p:sp>
      <p:sp>
        <p:nvSpPr>
          <p:cNvPr id="45" name="Text 39"/>
          <p:cNvSpPr/>
          <p:nvPr/>
        </p:nvSpPr>
        <p:spPr>
          <a:xfrm>
            <a:off x="8627669" y="3138678"/>
            <a:ext cx="3033674" cy="332994"/>
          </a:xfrm>
          <a:prstGeom prst="rect">
            <a:avLst/>
          </a:prstGeom>
          <a:noFill/>
          <a:ln/>
        </p:spPr>
        <p:txBody>
          <a:bodyPr wrap="square" lIns="0" tIns="0" rIns="0" bIns="0" rtlCol="0" anchor="t"/>
          <a:lstStyle/>
          <a:p>
            <a:pPr indent="0" marL="0">
              <a:lnSpc>
                <a:spcPct val="100000"/>
              </a:lnSpc>
              <a:buNone/>
            </a:pPr>
            <a:r>
              <a:rPr lang="en-US" sz="1050" dirty="0">
                <a:solidFill>
                  <a:srgbClr val="2E3A48"/>
                </a:solidFill>
                <a:latin typeface="Arial" pitchFamily="34" charset="0"/>
                <a:ea typeface="Arial" pitchFamily="34" charset="-122"/>
                <a:cs typeface="Arial" pitchFamily="34" charset="-120"/>
              </a:rPr>
              <a:t>Dual-use: defence UGVs and civilian autonomous mobility.</a:t>
            </a:r>
            <a:endParaRPr lang="en-US" sz="1050" dirty="0"/>
          </a:p>
        </p:txBody>
      </p:sp>
      <p:sp>
        <p:nvSpPr>
          <p:cNvPr id="46" name="Shape 40"/>
          <p:cNvSpPr/>
          <p:nvPr/>
        </p:nvSpPr>
        <p:spPr>
          <a:xfrm>
            <a:off x="365760" y="3712464"/>
            <a:ext cx="3600602" cy="2487168"/>
          </a:xfrm>
          <a:prstGeom prst="roundRect">
            <a:avLst>
              <a:gd name="adj" fmla="val 4412"/>
            </a:avLst>
          </a:prstGeom>
          <a:solidFill>
            <a:srgbClr val="FEF5EE"/>
          </a:solidFill>
          <a:ln w="19050">
            <a:solidFill>
              <a:srgbClr val="D0671F"/>
            </a:solidFill>
            <a:prstDash val="solid"/>
          </a:ln>
        </p:spPr>
      </p:sp>
      <p:sp>
        <p:nvSpPr>
          <p:cNvPr id="47" name="Shape 41"/>
          <p:cNvSpPr/>
          <p:nvPr/>
        </p:nvSpPr>
        <p:spPr>
          <a:xfrm>
            <a:off x="493776" y="3840480"/>
            <a:ext cx="3344570" cy="566928"/>
          </a:xfrm>
          <a:prstGeom prst="roundRect">
            <a:avLst>
              <a:gd name="adj" fmla="val 16129"/>
            </a:avLst>
          </a:prstGeom>
          <a:solidFill>
            <a:srgbClr val="FBE0C3"/>
          </a:solidFill>
          <a:ln w="6350">
            <a:solidFill>
              <a:srgbClr val="FBE0C3"/>
            </a:solidFill>
            <a:prstDash val="solid"/>
          </a:ln>
        </p:spPr>
      </p:sp>
      <p:sp>
        <p:nvSpPr>
          <p:cNvPr id="48" name="Shape 42"/>
          <p:cNvSpPr/>
          <p:nvPr/>
        </p:nvSpPr>
        <p:spPr>
          <a:xfrm>
            <a:off x="548640" y="3831336"/>
            <a:ext cx="585216" cy="585216"/>
          </a:xfrm>
          <a:prstGeom prst="ellipse">
            <a:avLst/>
          </a:prstGeom>
          <a:solidFill>
            <a:srgbClr val="FFFFFF"/>
          </a:solidFill>
          <a:ln w="22225">
            <a:solidFill>
              <a:srgbClr val="D0671F"/>
            </a:solidFill>
            <a:prstDash val="solid"/>
          </a:ln>
        </p:spPr>
      </p:sp>
      <p:pic>
        <p:nvPicPr>
          <p:cNvPr id="49" name="Image 4" descr="assets/icons/hard-hat-D0671F.png">    </p:cNvPr>
          <p:cNvPicPr>
            <a:picLocks noChangeAspect="1"/>
          </p:cNvPicPr>
          <p:nvPr/>
        </p:nvPicPr>
        <p:blipFill>
          <a:blip r:embed="rId5"/>
          <a:stretch>
            <a:fillRect/>
          </a:stretch>
        </p:blipFill>
        <p:spPr>
          <a:xfrm>
            <a:off x="676656" y="3959352"/>
            <a:ext cx="329184" cy="329184"/>
          </a:xfrm>
          <a:prstGeom prst="rect">
            <a:avLst/>
          </a:prstGeom>
        </p:spPr>
      </p:pic>
      <p:sp>
        <p:nvSpPr>
          <p:cNvPr id="50" name="Text 43"/>
          <p:cNvSpPr/>
          <p:nvPr/>
        </p:nvSpPr>
        <p:spPr>
          <a:xfrm>
            <a:off x="1243584" y="3840480"/>
            <a:ext cx="2558186" cy="566928"/>
          </a:xfrm>
          <a:prstGeom prst="rect">
            <a:avLst/>
          </a:prstGeom>
          <a:noFill/>
          <a:ln/>
        </p:spPr>
        <p:txBody>
          <a:bodyPr wrap="square" lIns="0" tIns="0" rIns="0" bIns="0" rtlCol="0" anchor="ctr"/>
          <a:lstStyle/>
          <a:p>
            <a:pPr indent="0" marL="0">
              <a:buNone/>
            </a:pPr>
            <a:r>
              <a:rPr lang="en-US" sz="1350" b="1" dirty="0">
                <a:solidFill>
                  <a:srgbClr val="243B53"/>
                </a:solidFill>
                <a:latin typeface="Arial" pitchFamily="34" charset="0"/>
                <a:ea typeface="Arial" pitchFamily="34" charset="-122"/>
                <a:cs typeface="Arial" pitchFamily="34" charset="-120"/>
              </a:rPr>
              <a:t>Field Operators &amp; Reconnaissance UGVs</a:t>
            </a:r>
            <a:endParaRPr lang="en-US" sz="1350" dirty="0"/>
          </a:p>
        </p:txBody>
      </p:sp>
      <p:sp>
        <p:nvSpPr>
          <p:cNvPr id="51" name="Shape 44"/>
          <p:cNvSpPr/>
          <p:nvPr/>
        </p:nvSpPr>
        <p:spPr>
          <a:xfrm>
            <a:off x="576072" y="4622292"/>
            <a:ext cx="82296" cy="82296"/>
          </a:xfrm>
          <a:prstGeom prst="ellipse">
            <a:avLst/>
          </a:prstGeom>
          <a:solidFill>
            <a:srgbClr val="D0671F"/>
          </a:solidFill>
          <a:ln w="12700">
            <a:solidFill>
              <a:srgbClr val="D0671F"/>
            </a:solidFill>
            <a:prstDash val="solid"/>
          </a:ln>
        </p:spPr>
      </p:sp>
      <p:sp>
        <p:nvSpPr>
          <p:cNvPr id="52" name="Text 45"/>
          <p:cNvSpPr/>
          <p:nvPr/>
        </p:nvSpPr>
        <p:spPr>
          <a:xfrm>
            <a:off x="768096" y="4572000"/>
            <a:ext cx="3033674" cy="332994"/>
          </a:xfrm>
          <a:prstGeom prst="rect">
            <a:avLst/>
          </a:prstGeom>
          <a:noFill/>
          <a:ln/>
        </p:spPr>
        <p:txBody>
          <a:bodyPr wrap="square" lIns="0" tIns="0" rIns="0" bIns="0" rtlCol="0" anchor="t"/>
          <a:lstStyle/>
          <a:p>
            <a:pPr indent="0" marL="0">
              <a:lnSpc>
                <a:spcPct val="100000"/>
              </a:lnSpc>
              <a:buNone/>
            </a:pPr>
            <a:r>
              <a:rPr lang="en-US" sz="1050" dirty="0">
                <a:solidFill>
                  <a:srgbClr val="2E3A48"/>
                </a:solidFill>
                <a:latin typeface="Arial" pitchFamily="34" charset="0"/>
                <a:ea typeface="Arial" pitchFamily="34" charset="-122"/>
                <a:cs typeface="Arial" pitchFamily="34" charset="-120"/>
              </a:rPr>
              <a:t>5 cm cells within 10 m keep near-field height detail where kerbs, mounds and trenches appear.</a:t>
            </a:r>
            <a:endParaRPr lang="en-US" sz="1050" dirty="0"/>
          </a:p>
        </p:txBody>
      </p:sp>
      <p:sp>
        <p:nvSpPr>
          <p:cNvPr id="53" name="Shape 46"/>
          <p:cNvSpPr/>
          <p:nvPr/>
        </p:nvSpPr>
        <p:spPr>
          <a:xfrm>
            <a:off x="576072" y="5028438"/>
            <a:ext cx="82296" cy="82296"/>
          </a:xfrm>
          <a:prstGeom prst="ellipse">
            <a:avLst/>
          </a:prstGeom>
          <a:solidFill>
            <a:srgbClr val="D0671F"/>
          </a:solidFill>
          <a:ln w="12700">
            <a:solidFill>
              <a:srgbClr val="D0671F"/>
            </a:solidFill>
            <a:prstDash val="solid"/>
          </a:ln>
        </p:spPr>
      </p:sp>
      <p:sp>
        <p:nvSpPr>
          <p:cNvPr id="54" name="Text 47"/>
          <p:cNvSpPr/>
          <p:nvPr/>
        </p:nvSpPr>
        <p:spPr>
          <a:xfrm>
            <a:off x="768096" y="4978146"/>
            <a:ext cx="3033674" cy="490347"/>
          </a:xfrm>
          <a:prstGeom prst="rect">
            <a:avLst/>
          </a:prstGeom>
          <a:noFill/>
          <a:ln/>
        </p:spPr>
        <p:txBody>
          <a:bodyPr wrap="square" lIns="0" tIns="0" rIns="0" bIns="0" rtlCol="0" anchor="t"/>
          <a:lstStyle/>
          <a:p>
            <a:pPr indent="0" marL="0">
              <a:lnSpc>
                <a:spcPct val="100000"/>
              </a:lnSpc>
              <a:buNone/>
            </a:pPr>
            <a:r>
              <a:rPr lang="en-US" sz="1050" dirty="0">
                <a:solidFill>
                  <a:srgbClr val="2E3A48"/>
                </a:solidFill>
                <a:latin typeface="Arial" pitchFamily="34" charset="0"/>
                <a:ea typeface="Arial" pitchFamily="34" charset="-122"/>
                <a:cs typeface="Arial" pitchFamily="34" charset="-120"/>
              </a:rPr>
              <a:t>Colour-coded map with flagged uncertain cells supports operator awareness in rough terrain</a:t>
            </a:r>
            <a:pPr indent="0" marL="0">
              <a:lnSpc>
                <a:spcPct val="100000"/>
              </a:lnSpc>
              <a:buNone/>
            </a:pPr>
            <a:r>
              <a:rPr lang="en-US" sz="1050" i="1" dirty="0">
                <a:solidFill>
                  <a:srgbClr val="D0671F"/>
                </a:solidFill>
                <a:latin typeface="Arial" pitchFamily="34" charset="0"/>
                <a:ea typeface="Arial" pitchFamily="34" charset="-122"/>
                <a:cs typeface="Arial" pitchFamily="34" charset="-120"/>
              </a:rPr>
              <a:t> (field trials needed).</a:t>
            </a:r>
            <a:endParaRPr lang="en-US" sz="1050" dirty="0"/>
          </a:p>
        </p:txBody>
      </p:sp>
      <p:sp>
        <p:nvSpPr>
          <p:cNvPr id="55" name="Shape 48"/>
          <p:cNvSpPr/>
          <p:nvPr/>
        </p:nvSpPr>
        <p:spPr>
          <a:xfrm>
            <a:off x="4295546" y="3712464"/>
            <a:ext cx="3600602" cy="2487168"/>
          </a:xfrm>
          <a:prstGeom prst="roundRect">
            <a:avLst>
              <a:gd name="adj" fmla="val 4412"/>
            </a:avLst>
          </a:prstGeom>
          <a:solidFill>
            <a:srgbClr val="F6F3FB"/>
          </a:solidFill>
          <a:ln w="19050">
            <a:solidFill>
              <a:srgbClr val="6A4FA0"/>
            </a:solidFill>
            <a:prstDash val="solid"/>
          </a:ln>
        </p:spPr>
      </p:sp>
      <p:sp>
        <p:nvSpPr>
          <p:cNvPr id="56" name="Shape 49"/>
          <p:cNvSpPr/>
          <p:nvPr/>
        </p:nvSpPr>
        <p:spPr>
          <a:xfrm>
            <a:off x="4423562" y="3840480"/>
            <a:ext cx="3344570" cy="566928"/>
          </a:xfrm>
          <a:prstGeom prst="roundRect">
            <a:avLst>
              <a:gd name="adj" fmla="val 16129"/>
            </a:avLst>
          </a:prstGeom>
          <a:solidFill>
            <a:srgbClr val="E6DEF5"/>
          </a:solidFill>
          <a:ln w="6350">
            <a:solidFill>
              <a:srgbClr val="E6DEF5"/>
            </a:solidFill>
            <a:prstDash val="solid"/>
          </a:ln>
        </p:spPr>
      </p:sp>
      <p:sp>
        <p:nvSpPr>
          <p:cNvPr id="57" name="Shape 50"/>
          <p:cNvSpPr/>
          <p:nvPr/>
        </p:nvSpPr>
        <p:spPr>
          <a:xfrm>
            <a:off x="4478426" y="3831336"/>
            <a:ext cx="585216" cy="585216"/>
          </a:xfrm>
          <a:prstGeom prst="ellipse">
            <a:avLst/>
          </a:prstGeom>
          <a:solidFill>
            <a:srgbClr val="FFFFFF"/>
          </a:solidFill>
          <a:ln w="22225">
            <a:solidFill>
              <a:srgbClr val="6A4FA0"/>
            </a:solidFill>
            <a:prstDash val="solid"/>
          </a:ln>
        </p:spPr>
      </p:sp>
      <p:pic>
        <p:nvPicPr>
          <p:cNvPr id="58" name="Image 5" descr="assets/icons/graduation-cap-6A4FA0.png">    </p:cNvPr>
          <p:cNvPicPr>
            <a:picLocks noChangeAspect="1"/>
          </p:cNvPicPr>
          <p:nvPr/>
        </p:nvPicPr>
        <p:blipFill>
          <a:blip r:embed="rId6"/>
          <a:stretch>
            <a:fillRect/>
          </a:stretch>
        </p:blipFill>
        <p:spPr>
          <a:xfrm>
            <a:off x="4606442" y="3959352"/>
            <a:ext cx="329184" cy="329184"/>
          </a:xfrm>
          <a:prstGeom prst="rect">
            <a:avLst/>
          </a:prstGeom>
        </p:spPr>
      </p:pic>
      <p:sp>
        <p:nvSpPr>
          <p:cNvPr id="59" name="Text 51"/>
          <p:cNvSpPr/>
          <p:nvPr/>
        </p:nvSpPr>
        <p:spPr>
          <a:xfrm>
            <a:off x="5173370" y="3840480"/>
            <a:ext cx="2558186" cy="566928"/>
          </a:xfrm>
          <a:prstGeom prst="rect">
            <a:avLst/>
          </a:prstGeom>
          <a:noFill/>
          <a:ln/>
        </p:spPr>
        <p:txBody>
          <a:bodyPr wrap="square" lIns="0" tIns="0" rIns="0" bIns="0" rtlCol="0" anchor="ctr"/>
          <a:lstStyle/>
          <a:p>
            <a:pPr indent="0" marL="0">
              <a:buNone/>
            </a:pPr>
            <a:r>
              <a:rPr lang="en-US" sz="1350" b="1" dirty="0">
                <a:solidFill>
                  <a:srgbClr val="243B53"/>
                </a:solidFill>
                <a:latin typeface="Arial" pitchFamily="34" charset="0"/>
                <a:ea typeface="Arial" pitchFamily="34" charset="-122"/>
                <a:cs typeface="Arial" pitchFamily="34" charset="-120"/>
              </a:rPr>
              <a:t>Robotics Researchers &amp; Students</a:t>
            </a:r>
            <a:endParaRPr lang="en-US" sz="1350" dirty="0"/>
          </a:p>
        </p:txBody>
      </p:sp>
      <p:sp>
        <p:nvSpPr>
          <p:cNvPr id="60" name="Shape 52"/>
          <p:cNvSpPr/>
          <p:nvPr/>
        </p:nvSpPr>
        <p:spPr>
          <a:xfrm>
            <a:off x="4505858" y="4622292"/>
            <a:ext cx="82296" cy="82296"/>
          </a:xfrm>
          <a:prstGeom prst="ellipse">
            <a:avLst/>
          </a:prstGeom>
          <a:solidFill>
            <a:srgbClr val="6A4FA0"/>
          </a:solidFill>
          <a:ln w="12700">
            <a:solidFill>
              <a:srgbClr val="6A4FA0"/>
            </a:solidFill>
            <a:prstDash val="solid"/>
          </a:ln>
        </p:spPr>
      </p:sp>
      <p:sp>
        <p:nvSpPr>
          <p:cNvPr id="61" name="Text 53"/>
          <p:cNvSpPr/>
          <p:nvPr/>
        </p:nvSpPr>
        <p:spPr>
          <a:xfrm>
            <a:off x="4697882" y="4572000"/>
            <a:ext cx="3033674" cy="332994"/>
          </a:xfrm>
          <a:prstGeom prst="rect">
            <a:avLst/>
          </a:prstGeom>
          <a:noFill/>
          <a:ln/>
        </p:spPr>
        <p:txBody>
          <a:bodyPr wrap="square" lIns="0" tIns="0" rIns="0" bIns="0" rtlCol="0" anchor="t"/>
          <a:lstStyle/>
          <a:p>
            <a:pPr indent="0" marL="0">
              <a:lnSpc>
                <a:spcPct val="100000"/>
              </a:lnSpc>
              <a:buNone/>
            </a:pPr>
            <a:r>
              <a:rPr lang="en-US" sz="1050" dirty="0">
                <a:solidFill>
                  <a:srgbClr val="2E3A48"/>
                </a:solidFill>
                <a:latin typeface="Arial" pitchFamily="34" charset="0"/>
                <a:ea typeface="Arial" pitchFamily="34" charset="-122"/>
                <a:cs typeface="Arial" pitchFamily="34" charset="-120"/>
              </a:rPr>
              <a:t>No need to rebuild mapping and evaluation code for each experiment.</a:t>
            </a:r>
            <a:endParaRPr lang="en-US" sz="1050" dirty="0"/>
          </a:p>
        </p:txBody>
      </p:sp>
      <p:sp>
        <p:nvSpPr>
          <p:cNvPr id="62" name="Shape 54"/>
          <p:cNvSpPr/>
          <p:nvPr/>
        </p:nvSpPr>
        <p:spPr>
          <a:xfrm>
            <a:off x="4505858" y="5028438"/>
            <a:ext cx="82296" cy="82296"/>
          </a:xfrm>
          <a:prstGeom prst="ellipse">
            <a:avLst/>
          </a:prstGeom>
          <a:solidFill>
            <a:srgbClr val="6A4FA0"/>
          </a:solidFill>
          <a:ln w="12700">
            <a:solidFill>
              <a:srgbClr val="6A4FA0"/>
            </a:solidFill>
            <a:prstDash val="solid"/>
          </a:ln>
        </p:spPr>
      </p:sp>
      <p:sp>
        <p:nvSpPr>
          <p:cNvPr id="63" name="Text 55"/>
          <p:cNvSpPr/>
          <p:nvPr/>
        </p:nvSpPr>
        <p:spPr>
          <a:xfrm>
            <a:off x="4697882" y="4978146"/>
            <a:ext cx="3033674" cy="490347"/>
          </a:xfrm>
          <a:prstGeom prst="rect">
            <a:avLst/>
          </a:prstGeom>
          <a:noFill/>
          <a:ln/>
        </p:spPr>
        <p:txBody>
          <a:bodyPr wrap="square" lIns="0" tIns="0" rIns="0" bIns="0" rtlCol="0" anchor="t"/>
          <a:lstStyle/>
          <a:p>
            <a:pPr indent="0" marL="0">
              <a:lnSpc>
                <a:spcPct val="100000"/>
              </a:lnSpc>
              <a:buNone/>
            </a:pPr>
            <a:r>
              <a:rPr lang="en-US" sz="1050" dirty="0">
                <a:solidFill>
                  <a:srgbClr val="2E3A48"/>
                </a:solidFill>
                <a:latin typeface="Arial" pitchFamily="34" charset="0"/>
                <a:ea typeface="Arial" pitchFamily="34" charset="-122"/>
                <a:cs typeface="Arial" pitchFamily="34" charset="-120"/>
              </a:rPr>
              <a:t>Reusable mapping core with hashed runs and official scoring supports adaptive perception, semantic mapping and navigation research.</a:t>
            </a:r>
            <a:endParaRPr lang="en-US" sz="1050" dirty="0"/>
          </a:p>
        </p:txBody>
      </p:sp>
      <p:sp>
        <p:nvSpPr>
          <p:cNvPr id="64" name="Shape 56"/>
          <p:cNvSpPr/>
          <p:nvPr/>
        </p:nvSpPr>
        <p:spPr>
          <a:xfrm>
            <a:off x="8225333" y="3712464"/>
            <a:ext cx="3600602" cy="2487168"/>
          </a:xfrm>
          <a:prstGeom prst="roundRect">
            <a:avLst>
              <a:gd name="adj" fmla="val 4412"/>
            </a:avLst>
          </a:prstGeom>
          <a:solidFill>
            <a:srgbClr val="EFF7F7"/>
          </a:solidFill>
          <a:ln w="19050">
            <a:solidFill>
              <a:srgbClr val="2A8C8C"/>
            </a:solidFill>
            <a:prstDash val="solid"/>
          </a:ln>
        </p:spPr>
      </p:sp>
      <p:sp>
        <p:nvSpPr>
          <p:cNvPr id="65" name="Shape 57"/>
          <p:cNvSpPr/>
          <p:nvPr/>
        </p:nvSpPr>
        <p:spPr>
          <a:xfrm>
            <a:off x="8353349" y="3840480"/>
            <a:ext cx="3344570" cy="566928"/>
          </a:xfrm>
          <a:prstGeom prst="roundRect">
            <a:avLst>
              <a:gd name="adj" fmla="val 16129"/>
            </a:avLst>
          </a:prstGeom>
          <a:solidFill>
            <a:srgbClr val="D5ECEC"/>
          </a:solidFill>
          <a:ln w="6350">
            <a:solidFill>
              <a:srgbClr val="D5ECEC"/>
            </a:solidFill>
            <a:prstDash val="solid"/>
          </a:ln>
        </p:spPr>
      </p:sp>
      <p:sp>
        <p:nvSpPr>
          <p:cNvPr id="66" name="Shape 58"/>
          <p:cNvSpPr/>
          <p:nvPr/>
        </p:nvSpPr>
        <p:spPr>
          <a:xfrm>
            <a:off x="8408213" y="3831336"/>
            <a:ext cx="585216" cy="585216"/>
          </a:xfrm>
          <a:prstGeom prst="ellipse">
            <a:avLst/>
          </a:prstGeom>
          <a:solidFill>
            <a:srgbClr val="FFFFFF"/>
          </a:solidFill>
          <a:ln w="22225">
            <a:solidFill>
              <a:srgbClr val="2A8C8C"/>
            </a:solidFill>
            <a:prstDash val="solid"/>
          </a:ln>
        </p:spPr>
      </p:sp>
      <p:pic>
        <p:nvPicPr>
          <p:cNvPr id="67" name="Image 6" descr="assets/icons/users-2A8C8C.png">    </p:cNvPr>
          <p:cNvPicPr>
            <a:picLocks noChangeAspect="1"/>
          </p:cNvPicPr>
          <p:nvPr/>
        </p:nvPicPr>
        <p:blipFill>
          <a:blip r:embed="rId7"/>
          <a:stretch>
            <a:fillRect/>
          </a:stretch>
        </p:blipFill>
        <p:spPr>
          <a:xfrm>
            <a:off x="8536229" y="3959352"/>
            <a:ext cx="329184" cy="329184"/>
          </a:xfrm>
          <a:prstGeom prst="rect">
            <a:avLst/>
          </a:prstGeom>
        </p:spPr>
      </p:pic>
      <p:sp>
        <p:nvSpPr>
          <p:cNvPr id="68" name="Text 59"/>
          <p:cNvSpPr/>
          <p:nvPr/>
        </p:nvSpPr>
        <p:spPr>
          <a:xfrm>
            <a:off x="9103157" y="3840480"/>
            <a:ext cx="2558186" cy="566928"/>
          </a:xfrm>
          <a:prstGeom prst="rect">
            <a:avLst/>
          </a:prstGeom>
          <a:noFill/>
          <a:ln/>
        </p:spPr>
        <p:txBody>
          <a:bodyPr wrap="square" lIns="0" tIns="0" rIns="0" bIns="0" rtlCol="0" anchor="ctr"/>
          <a:lstStyle/>
          <a:p>
            <a:pPr indent="0" marL="0">
              <a:buNone/>
            </a:pPr>
            <a:r>
              <a:rPr lang="en-US" sz="1350" b="1" dirty="0">
                <a:solidFill>
                  <a:srgbClr val="243B53"/>
                </a:solidFill>
                <a:latin typeface="Arial" pitchFamily="34" charset="0"/>
                <a:ea typeface="Arial" pitchFamily="34" charset="-122"/>
                <a:cs typeface="Arial" pitchFamily="34" charset="-120"/>
              </a:rPr>
              <a:t>Civilian Autonomous Mobility</a:t>
            </a:r>
            <a:endParaRPr lang="en-US" sz="1350" dirty="0"/>
          </a:p>
        </p:txBody>
      </p:sp>
      <p:sp>
        <p:nvSpPr>
          <p:cNvPr id="69" name="Shape 60"/>
          <p:cNvSpPr/>
          <p:nvPr/>
        </p:nvSpPr>
        <p:spPr>
          <a:xfrm>
            <a:off x="8435645" y="4622292"/>
            <a:ext cx="82296" cy="82296"/>
          </a:xfrm>
          <a:prstGeom prst="ellipse">
            <a:avLst/>
          </a:prstGeom>
          <a:solidFill>
            <a:srgbClr val="2A8C8C"/>
          </a:solidFill>
          <a:ln w="12700">
            <a:solidFill>
              <a:srgbClr val="2A8C8C"/>
            </a:solidFill>
            <a:prstDash val="solid"/>
          </a:ln>
        </p:spPr>
      </p:sp>
      <p:sp>
        <p:nvSpPr>
          <p:cNvPr id="70" name="Text 61"/>
          <p:cNvSpPr/>
          <p:nvPr/>
        </p:nvSpPr>
        <p:spPr>
          <a:xfrm>
            <a:off x="8627669" y="4572000"/>
            <a:ext cx="3033674" cy="332994"/>
          </a:xfrm>
          <a:prstGeom prst="rect">
            <a:avLst/>
          </a:prstGeom>
          <a:noFill/>
          <a:ln/>
        </p:spPr>
        <p:txBody>
          <a:bodyPr wrap="square" lIns="0" tIns="0" rIns="0" bIns="0" rtlCol="0" anchor="t"/>
          <a:lstStyle/>
          <a:p>
            <a:pPr indent="0" marL="0">
              <a:lnSpc>
                <a:spcPct val="100000"/>
              </a:lnSpc>
              <a:buNone/>
            </a:pPr>
            <a:r>
              <a:rPr lang="en-US" sz="1050" dirty="0">
                <a:solidFill>
                  <a:srgbClr val="2E3A48"/>
                </a:solidFill>
                <a:latin typeface="Arial" pitchFamily="34" charset="0"/>
                <a:ea typeface="Arial" pitchFamily="34" charset="-122"/>
                <a:cs typeface="Arial" pitchFamily="34" charset="-120"/>
              </a:rPr>
              <a:t>Road vehicles meet potholes, pedestrians and unexpected obstacles.</a:t>
            </a:r>
            <a:endParaRPr lang="en-US" sz="1050" dirty="0"/>
          </a:p>
        </p:txBody>
      </p:sp>
      <p:sp>
        <p:nvSpPr>
          <p:cNvPr id="71" name="Shape 62"/>
          <p:cNvSpPr/>
          <p:nvPr/>
        </p:nvSpPr>
        <p:spPr>
          <a:xfrm>
            <a:off x="8435645" y="5028438"/>
            <a:ext cx="82296" cy="82296"/>
          </a:xfrm>
          <a:prstGeom prst="ellipse">
            <a:avLst/>
          </a:prstGeom>
          <a:solidFill>
            <a:srgbClr val="2A8C8C"/>
          </a:solidFill>
          <a:ln w="12700">
            <a:solidFill>
              <a:srgbClr val="2A8C8C"/>
            </a:solidFill>
            <a:prstDash val="solid"/>
          </a:ln>
        </p:spPr>
      </p:sp>
      <p:sp>
        <p:nvSpPr>
          <p:cNvPr id="72" name="Text 63"/>
          <p:cNvSpPr/>
          <p:nvPr/>
        </p:nvSpPr>
        <p:spPr>
          <a:xfrm>
            <a:off x="8627669" y="4978146"/>
            <a:ext cx="3033674" cy="332994"/>
          </a:xfrm>
          <a:prstGeom prst="rect">
            <a:avLst/>
          </a:prstGeom>
          <a:noFill/>
          <a:ln/>
        </p:spPr>
        <p:txBody>
          <a:bodyPr wrap="square" lIns="0" tIns="0" rIns="0" bIns="0" rtlCol="0" anchor="t"/>
          <a:lstStyle/>
          <a:p>
            <a:pPr indent="0" marL="0">
              <a:lnSpc>
                <a:spcPct val="100000"/>
              </a:lnSpc>
              <a:buNone/>
            </a:pPr>
            <a:r>
              <a:rPr lang="en-US" sz="1050" dirty="0">
                <a:solidFill>
                  <a:srgbClr val="2E3A48"/>
                </a:solidFill>
                <a:latin typeface="Arial" pitchFamily="34" charset="0"/>
                <a:ea typeface="Arial" pitchFamily="34" charset="-122"/>
                <a:cs typeface="Arial" pitchFamily="34" charset="-120"/>
              </a:rPr>
              <a:t>Tested on real urban driving scans: labels people, vehicles and poles, with height per cell.</a:t>
            </a:r>
            <a:endParaRPr lang="en-US" sz="1050" dirty="0"/>
          </a:p>
        </p:txBody>
      </p:sp>
      <p:sp>
        <p:nvSpPr>
          <p:cNvPr id="73" name="Shape 64"/>
          <p:cNvSpPr/>
          <p:nvPr/>
        </p:nvSpPr>
        <p:spPr>
          <a:xfrm>
            <a:off x="8435645" y="5434584"/>
            <a:ext cx="82296" cy="82296"/>
          </a:xfrm>
          <a:prstGeom prst="ellipse">
            <a:avLst/>
          </a:prstGeom>
          <a:solidFill>
            <a:srgbClr val="2A8C8C"/>
          </a:solidFill>
          <a:ln w="12700">
            <a:solidFill>
              <a:srgbClr val="2A8C8C"/>
            </a:solidFill>
            <a:prstDash val="solid"/>
          </a:ln>
        </p:spPr>
      </p:sp>
      <p:sp>
        <p:nvSpPr>
          <p:cNvPr id="74" name="Text 65"/>
          <p:cNvSpPr/>
          <p:nvPr/>
        </p:nvSpPr>
        <p:spPr>
          <a:xfrm>
            <a:off x="8627669" y="5384292"/>
            <a:ext cx="3033674" cy="332994"/>
          </a:xfrm>
          <a:prstGeom prst="rect">
            <a:avLst/>
          </a:prstGeom>
          <a:noFill/>
          <a:ln/>
        </p:spPr>
        <p:txBody>
          <a:bodyPr wrap="square" lIns="0" tIns="0" rIns="0" bIns="0" rtlCol="0" anchor="t"/>
          <a:lstStyle/>
          <a:p>
            <a:pPr indent="0" marL="0">
              <a:lnSpc>
                <a:spcPct val="100000"/>
              </a:lnSpc>
              <a:buNone/>
            </a:pPr>
            <a:r>
              <a:rPr lang="en-US" sz="1050" dirty="0">
                <a:solidFill>
                  <a:srgbClr val="2E3A48"/>
                </a:solidFill>
                <a:latin typeface="Arial" pitchFamily="34" charset="0"/>
                <a:ea typeface="Arial" pitchFamily="34" charset="-122"/>
                <a:cs typeface="Arial" pitchFamily="34" charset="-120"/>
              </a:rPr>
              <a:t>Adaptive detail lowers map data, which may make perception more affordable</a:t>
            </a:r>
            <a:pPr indent="0" marL="0">
              <a:lnSpc>
                <a:spcPct val="100000"/>
              </a:lnSpc>
              <a:buNone/>
            </a:pPr>
            <a:r>
              <a:rPr lang="en-US" sz="1050" i="1" dirty="0">
                <a:solidFill>
                  <a:srgbClr val="2A8C8C"/>
                </a:solidFill>
                <a:latin typeface="Arial" pitchFamily="34" charset="0"/>
                <a:ea typeface="Arial" pitchFamily="34" charset="-122"/>
                <a:cs typeface="Arial" pitchFamily="34" charset="-120"/>
              </a:rPr>
              <a:t> (cost not estimated).</a:t>
            </a:r>
            <a:endParaRPr lang="en-US" sz="1050" dirty="0"/>
          </a:p>
        </p:txBody>
      </p:sp>
      <p:sp>
        <p:nvSpPr>
          <p:cNvPr id="75" name="Text 66"/>
          <p:cNvSpPr/>
          <p:nvPr/>
        </p:nvSpPr>
        <p:spPr>
          <a:xfrm>
            <a:off x="365760" y="6272784"/>
            <a:ext cx="11460175" cy="201168"/>
          </a:xfrm>
          <a:prstGeom prst="rect">
            <a:avLst/>
          </a:prstGeom>
          <a:noFill/>
          <a:ln/>
        </p:spPr>
        <p:txBody>
          <a:bodyPr wrap="square" lIns="0" tIns="0" rIns="0" bIns="0" rtlCol="0" anchor="t"/>
          <a:lstStyle/>
          <a:p>
            <a:pPr algn="ctr" indent="0" marL="0">
              <a:buNone/>
            </a:pPr>
            <a:r>
              <a:rPr lang="en-US" sz="950" i="1" dirty="0">
                <a:solidFill>
                  <a:srgbClr val="4A5563"/>
                </a:solidFill>
                <a:latin typeface="Arial" pitchFamily="34" charset="0"/>
                <a:ea typeface="Arial" pitchFamily="34" charset="-122"/>
                <a:cs typeface="Arial" pitchFamily="34" charset="-120"/>
              </a:rPr>
              <a:t>Benefits describe mechanisms already built. Items in italics, and field outcomes such as safety and mission time, still need validation.</a:t>
            </a:r>
            <a:endParaRPr lang="en-US" sz="950" dirty="0"/>
          </a:p>
        </p:txBody>
      </p:sp>
      <p:sp>
        <p:nvSpPr>
          <p:cNvPr id="76" name="Text 67"/>
          <p:cNvSpPr/>
          <p:nvPr/>
        </p:nvSpPr>
        <p:spPr>
          <a:xfrm>
            <a:off x="3813048" y="6510528"/>
            <a:ext cx="4572000" cy="201168"/>
          </a:xfrm>
          <a:prstGeom prst="rect">
            <a:avLst/>
          </a:prstGeom>
          <a:noFill/>
          <a:ln/>
        </p:spPr>
        <p:txBody>
          <a:bodyPr wrap="square" lIns="0" tIns="0" rIns="0" bIns="0" rtlCol="0" anchor="ctr"/>
          <a:lstStyle/>
          <a:p>
            <a:pPr algn="ctr" indent="0" marL="0">
              <a:buNone/>
            </a:pPr>
            <a:r>
              <a:rPr lang="en-US" sz="900" spc="200" kern="0" dirty="0">
                <a:solidFill>
                  <a:srgbClr val="4A5563"/>
                </a:solidFill>
                <a:latin typeface="Arial" pitchFamily="34" charset="0"/>
                <a:ea typeface="Arial" pitchFamily="34" charset="-122"/>
                <a:cs typeface="Arial" pitchFamily="34" charset="-120"/>
              </a:rPr>
              <a:t>SMART INDIA HACKATHON 2026  ·  SIH26053</a:t>
            </a:r>
            <a:endParaRPr lang="en-US" sz="900" dirty="0"/>
          </a:p>
        </p:txBody>
      </p:sp>
      <p:sp>
        <p:nvSpPr>
          <p:cNvPr id="77" name="Text 68"/>
          <p:cNvSpPr/>
          <p:nvPr/>
        </p:nvSpPr>
        <p:spPr>
          <a:xfrm>
            <a:off x="11368735" y="6483096"/>
            <a:ext cx="457200" cy="237744"/>
          </a:xfrm>
          <a:prstGeom prst="rect">
            <a:avLst/>
          </a:prstGeom>
          <a:noFill/>
          <a:ln/>
        </p:spPr>
        <p:txBody>
          <a:bodyPr wrap="square" lIns="0" tIns="0" rIns="0" bIns="0" rtlCol="0" anchor="ctr"/>
          <a:lstStyle/>
          <a:p>
            <a:pPr algn="r" indent="0" marL="0">
              <a:buNone/>
            </a:pPr>
            <a:r>
              <a:rPr lang="en-US" sz="1200" dirty="0">
                <a:solidFill>
                  <a:srgbClr val="243B53"/>
                </a:solidFill>
                <a:latin typeface="Comic Sans MS" pitchFamily="34" charset="0"/>
                <a:ea typeface="Comic Sans MS" pitchFamily="34" charset="-122"/>
                <a:cs typeface="Comic Sans MS" pitchFamily="34" charset="-120"/>
              </a:rPr>
              <a:t>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Drishti-2.5 - SIH26053</dc:title>
  <dc:subject>Adaptive variable-resolution 2.5D LiDAR mapping</dc:subject>
  <dc:creator>AstroNex</dc:creator>
  <cp:lastModifiedBy>AstroNex</cp:lastModifiedBy>
  <cp:revision>1</cp:revision>
  <dcterms:created xsi:type="dcterms:W3CDTF">2026-09-29T12:43:38Z</dcterms:created>
  <dcterms:modified xsi:type="dcterms:W3CDTF">2026-09-29T12:43:38Z</dcterms:modified>
</cp:coreProperties>
</file>